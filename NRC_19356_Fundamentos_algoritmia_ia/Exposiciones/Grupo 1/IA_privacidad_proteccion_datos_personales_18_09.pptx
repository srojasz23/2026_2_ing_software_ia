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8" d="100"/>
          <a:sy n="108" d="100"/>
        </p:scale>
        <p:origin x="7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1451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263876"/>
          </a:solidFill>
          <a:ln/>
        </p:spPr>
      </p:sp>
      <p:sp>
        <p:nvSpPr>
          <p:cNvPr id="3" name="Shape 1"/>
          <p:cNvSpPr/>
          <p:nvPr/>
        </p:nvSpPr>
        <p:spPr>
          <a:xfrm>
            <a:off x="10881360" y="4206240"/>
            <a:ext cx="2926080" cy="2926080"/>
          </a:xfrm>
          <a:prstGeom prst="ellipse">
            <a:avLst/>
          </a:prstGeom>
          <a:solidFill>
            <a:srgbClr val="263876"/>
          </a:solidFill>
          <a:ln/>
        </p:spPr>
      </p:sp>
      <p:sp>
        <p:nvSpPr>
          <p:cNvPr id="4" name="Shape 2"/>
          <p:cNvSpPr/>
          <p:nvPr/>
        </p:nvSpPr>
        <p:spPr>
          <a:xfrm>
            <a:off x="548640" y="502920"/>
            <a:ext cx="640080" cy="640080"/>
          </a:xfrm>
          <a:prstGeom prst="ellipse">
            <a:avLst/>
          </a:prstGeom>
          <a:solidFill>
            <a:srgbClr val="2A3A7A"/>
          </a:solidFill>
          <a:ln/>
        </p:spPr>
      </p:sp>
      <p:pic>
        <p:nvPicPr>
          <p:cNvPr id="5" name="Image 0" descr="icon_cpu_FFFFFF.png"/>
          <p:cNvPicPr>
            <a:picLocks noChangeAspect="1"/>
          </p:cNvPicPr>
          <p:nvPr/>
        </p:nvPicPr>
        <p:blipFill>
          <a:blip r:embed="rId3"/>
          <a:stretch>
            <a:fillRect/>
          </a:stretch>
        </p:blipFill>
        <p:spPr>
          <a:xfrm>
            <a:off x="670255" y="624535"/>
            <a:ext cx="396850" cy="396850"/>
          </a:xfrm>
          <a:prstGeom prst="rect">
            <a:avLst/>
          </a:prstGeom>
        </p:spPr>
      </p:pic>
      <p:sp>
        <p:nvSpPr>
          <p:cNvPr id="6" name="Text 3"/>
          <p:cNvSpPr/>
          <p:nvPr/>
        </p:nvSpPr>
        <p:spPr>
          <a:xfrm>
            <a:off x="548640" y="2331720"/>
            <a:ext cx="9144000" cy="365760"/>
          </a:xfrm>
          <a:prstGeom prst="rect">
            <a:avLst/>
          </a:prstGeom>
          <a:noFill/>
          <a:ln/>
        </p:spPr>
        <p:txBody>
          <a:bodyPr wrap="square" rtlCol="0" anchor="ctr"/>
          <a:lstStyle/>
          <a:p>
            <a:pPr marL="0" indent="0">
              <a:buNone/>
            </a:pPr>
            <a:r>
              <a:rPr lang="en-US" sz="1400" b="1" kern="0" spc="300" dirty="0">
                <a:solidFill>
                  <a:srgbClr val="CADCFC"/>
                </a:solidFill>
                <a:latin typeface="Calibri" pitchFamily="34" charset="0"/>
                <a:ea typeface="Calibri" pitchFamily="34" charset="-122"/>
                <a:cs typeface="Calibri" pitchFamily="34" charset="-120"/>
              </a:rPr>
              <a:t>TEMA DE INVESTIGACIÓN</a:t>
            </a:r>
            <a:endParaRPr lang="en-US" sz="1400" dirty="0"/>
          </a:p>
        </p:txBody>
      </p:sp>
      <p:sp>
        <p:nvSpPr>
          <p:cNvPr id="7" name="Text 4"/>
          <p:cNvSpPr/>
          <p:nvPr/>
        </p:nvSpPr>
        <p:spPr>
          <a:xfrm>
            <a:off x="548640" y="2697480"/>
            <a:ext cx="10607040" cy="1737360"/>
          </a:xfrm>
          <a:prstGeom prst="rect">
            <a:avLst/>
          </a:prstGeom>
          <a:noFill/>
          <a:ln/>
        </p:spPr>
        <p:txBody>
          <a:bodyPr wrap="square" rtlCol="0" anchor="ctr"/>
          <a:lstStyle/>
          <a:p>
            <a:pPr marL="0" indent="0">
              <a:lnSpc>
                <a:spcPts val="4400"/>
              </a:lnSpc>
              <a:buNone/>
            </a:pPr>
            <a:r>
              <a:rPr lang="en-US" sz="4000" b="1" dirty="0">
                <a:solidFill>
                  <a:srgbClr val="FFFFFF"/>
                </a:solidFill>
                <a:latin typeface="Cambria" pitchFamily="34" charset="0"/>
                <a:ea typeface="Cambria" pitchFamily="34" charset="-122"/>
                <a:cs typeface="Cambria" pitchFamily="34" charset="-120"/>
              </a:rPr>
              <a:t>Inteligencia Artificial, Privacidad y</a:t>
            </a:r>
            <a:endParaRPr lang="en-US" sz="4000" dirty="0"/>
          </a:p>
          <a:p>
            <a:pPr marL="0" indent="0">
              <a:lnSpc>
                <a:spcPts val="4400"/>
              </a:lnSpc>
              <a:buNone/>
            </a:pPr>
            <a:r>
              <a:rPr lang="en-US" sz="4000" b="1" dirty="0">
                <a:solidFill>
                  <a:srgbClr val="FFFFFF"/>
                </a:solidFill>
                <a:latin typeface="Cambria" pitchFamily="34" charset="0"/>
                <a:ea typeface="Cambria" pitchFamily="34" charset="-122"/>
                <a:cs typeface="Cambria" pitchFamily="34" charset="-120"/>
              </a:rPr>
              <a:t>Protección de Datos Personales</a:t>
            </a:r>
            <a:endParaRPr lang="en-US" sz="4000" dirty="0"/>
          </a:p>
        </p:txBody>
      </p:sp>
      <p:sp>
        <p:nvSpPr>
          <p:cNvPr id="8" name="Text 5"/>
          <p:cNvSpPr/>
          <p:nvPr/>
        </p:nvSpPr>
        <p:spPr>
          <a:xfrm>
            <a:off x="548640" y="4343400"/>
            <a:ext cx="9326880" cy="640080"/>
          </a:xfrm>
          <a:prstGeom prst="rect">
            <a:avLst/>
          </a:prstGeom>
          <a:noFill/>
          <a:ln/>
        </p:spPr>
        <p:txBody>
          <a:bodyPr wrap="square"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Riesgos relacionados con la recopilación, el procesamiento y la utilización de datos personales mediante sistemas de inteligencia artificial</a:t>
            </a:r>
            <a:endParaRPr lang="en-US" sz="1500" dirty="0"/>
          </a:p>
        </p:txBody>
      </p:sp>
      <p:sp>
        <p:nvSpPr>
          <p:cNvPr id="9" name="Shape 6"/>
          <p:cNvSpPr/>
          <p:nvPr/>
        </p:nvSpPr>
        <p:spPr>
          <a:xfrm>
            <a:off x="548640" y="5257800"/>
            <a:ext cx="4937760" cy="0"/>
          </a:xfrm>
          <a:prstGeom prst="line">
            <a:avLst/>
          </a:prstGeom>
          <a:noFill/>
          <a:ln w="12700">
            <a:solidFill>
              <a:srgbClr val="445190"/>
            </a:solidFill>
            <a:prstDash val="solid"/>
          </a:ln>
        </p:spPr>
      </p:sp>
      <p:sp>
        <p:nvSpPr>
          <p:cNvPr id="10" name="Text 7"/>
          <p:cNvSpPr/>
          <p:nvPr/>
        </p:nvSpPr>
        <p:spPr>
          <a:xfrm>
            <a:off x="548640" y="5440680"/>
            <a:ext cx="54864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Curso: </a:t>
            </a:r>
            <a:r>
              <a:rPr lang="en-US" sz="1300" b="1" dirty="0" err="1">
                <a:solidFill>
                  <a:srgbClr val="CADCFC"/>
                </a:solidFill>
                <a:latin typeface="Calibri" pitchFamily="34" charset="0"/>
                <a:ea typeface="Calibri" pitchFamily="34" charset="-122"/>
                <a:cs typeface="Calibri" pitchFamily="34" charset="-120"/>
              </a:rPr>
              <a:t>Fundamentos</a:t>
            </a:r>
            <a:r>
              <a:rPr lang="en-US" sz="1300" b="1" dirty="0">
                <a:solidFill>
                  <a:srgbClr val="CADCFC"/>
                </a:solidFill>
                <a:latin typeface="Calibri" pitchFamily="34" charset="0"/>
                <a:ea typeface="Calibri" pitchFamily="34" charset="-122"/>
                <a:cs typeface="Calibri" pitchFamily="34" charset="-120"/>
              </a:rPr>
              <a:t> y </a:t>
            </a:r>
            <a:r>
              <a:rPr lang="en-US" sz="1300" b="1" dirty="0" err="1">
                <a:solidFill>
                  <a:srgbClr val="CADCFC"/>
                </a:solidFill>
                <a:latin typeface="Calibri" pitchFamily="34" charset="0"/>
                <a:ea typeface="Calibri" pitchFamily="34" charset="-122"/>
                <a:cs typeface="Calibri" pitchFamily="34" charset="-120"/>
              </a:rPr>
              <a:t>Algoritmia</a:t>
            </a:r>
            <a:r>
              <a:rPr lang="en-US" sz="1300" b="1" dirty="0">
                <a:solidFill>
                  <a:srgbClr val="CADCFC"/>
                </a:solidFill>
                <a:latin typeface="Calibri" pitchFamily="34" charset="0"/>
                <a:ea typeface="Calibri" pitchFamily="34" charset="-122"/>
                <a:cs typeface="Calibri" pitchFamily="34" charset="-120"/>
              </a:rPr>
              <a:t> para </a:t>
            </a:r>
            <a:r>
              <a:rPr lang="en-US" sz="1300" b="1" dirty="0" err="1">
                <a:solidFill>
                  <a:srgbClr val="CADCFC"/>
                </a:solidFill>
                <a:latin typeface="Calibri" pitchFamily="34" charset="0"/>
                <a:ea typeface="Calibri" pitchFamily="34" charset="-122"/>
                <a:cs typeface="Calibri" pitchFamily="34" charset="-120"/>
              </a:rPr>
              <a:t>Inteligencia</a:t>
            </a:r>
            <a:r>
              <a:rPr lang="en-US" sz="1300" b="1" dirty="0">
                <a:solidFill>
                  <a:srgbClr val="CADCFC"/>
                </a:solidFill>
                <a:latin typeface="Calibri" pitchFamily="34" charset="0"/>
                <a:ea typeface="Calibri" pitchFamily="34" charset="-122"/>
                <a:cs typeface="Calibri" pitchFamily="34" charset="-120"/>
              </a:rPr>
              <a:t> Artificial</a:t>
            </a:r>
            <a:endParaRPr lang="en-US" sz="1300" dirty="0"/>
          </a:p>
        </p:txBody>
      </p:sp>
      <p:sp>
        <p:nvSpPr>
          <p:cNvPr id="11" name="Text 8"/>
          <p:cNvSpPr/>
          <p:nvPr/>
        </p:nvSpPr>
        <p:spPr>
          <a:xfrm>
            <a:off x="548640" y="5760720"/>
            <a:ext cx="73152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Grupo 1 </a:t>
            </a:r>
            <a:endParaRPr lang="en-US" sz="1300" dirty="0"/>
          </a:p>
        </p:txBody>
      </p:sp>
      <p:sp>
        <p:nvSpPr>
          <p:cNvPr id="12" name="Text 9"/>
          <p:cNvSpPr/>
          <p:nvPr/>
        </p:nvSpPr>
        <p:spPr>
          <a:xfrm>
            <a:off x="548640" y="6080760"/>
            <a:ext cx="54864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Fecha: </a:t>
            </a:r>
            <a:r>
              <a:rPr lang="en-US" sz="1300" dirty="0">
                <a:solidFill>
                  <a:srgbClr val="CADCFC"/>
                </a:solidFill>
                <a:latin typeface="Calibri" pitchFamily="34" charset="0"/>
                <a:ea typeface="Calibri" pitchFamily="34" charset="-122"/>
                <a:cs typeface="Calibri" pitchFamily="34" charset="-120"/>
              </a:rPr>
              <a:t>18 de septiembre de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9144000" cy="320040"/>
          </a:xfrm>
          <a:prstGeom prst="rect">
            <a:avLst/>
          </a:prstGeom>
          <a:noFill/>
          <a:ln/>
        </p:spPr>
        <p:txBody>
          <a:bodyPr wrap="square" rtlCol="0" anchor="ctr"/>
          <a:lstStyle/>
          <a:p>
            <a:pPr marL="0" indent="0">
              <a:buNone/>
            </a:pPr>
            <a:r>
              <a:rPr lang="en-US" sz="1300" b="1" kern="0" spc="200" dirty="0">
                <a:solidFill>
                  <a:srgbClr val="C68A1B"/>
                </a:solidFill>
                <a:latin typeface="Calibri" pitchFamily="34" charset="0"/>
                <a:ea typeface="Calibri" pitchFamily="34" charset="-122"/>
                <a:cs typeface="Calibri" pitchFamily="34" charset="-120"/>
              </a:rPr>
              <a:t>01 · INTRODUCCIÓN</a:t>
            </a:r>
            <a:endParaRPr lang="en-US" sz="1300" dirty="0"/>
          </a:p>
        </p:txBody>
      </p:sp>
      <p:sp>
        <p:nvSpPr>
          <p:cNvPr id="3" name="Text 1"/>
          <p:cNvSpPr/>
          <p:nvPr/>
        </p:nvSpPr>
        <p:spPr>
          <a:xfrm>
            <a:off x="457200" y="658368"/>
            <a:ext cx="1124712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Un tema urgente en la era de la IA generativa</a:t>
            </a:r>
            <a:endParaRPr lang="en-US" sz="3000" dirty="0"/>
          </a:p>
        </p:txBody>
      </p:sp>
      <p:sp>
        <p:nvSpPr>
          <p:cNvPr id="4" name="Text 2"/>
          <p:cNvSpPr/>
          <p:nvPr/>
        </p:nvSpPr>
        <p:spPr>
          <a:xfrm>
            <a:off x="457200" y="1508760"/>
            <a:ext cx="6492240" cy="1737360"/>
          </a:xfrm>
          <a:prstGeom prst="rect">
            <a:avLst/>
          </a:prstGeom>
          <a:noFill/>
          <a:ln/>
        </p:spPr>
        <p:txBody>
          <a:bodyPr wrap="square" rtlCol="0" anchor="ctr"/>
          <a:lstStyle/>
          <a:p>
            <a:pPr marL="0" indent="0">
              <a:lnSpc>
                <a:spcPts val="2200"/>
              </a:lnSpc>
              <a:buNone/>
            </a:pPr>
            <a:r>
              <a:rPr lang="en-US" sz="1450" dirty="0">
                <a:solidFill>
                  <a:srgbClr val="2B2F3A"/>
                </a:solidFill>
                <a:latin typeface="Calibri" pitchFamily="34" charset="0"/>
                <a:ea typeface="Calibri" pitchFamily="34" charset="-122"/>
                <a:cs typeface="Calibri" pitchFamily="34" charset="-120"/>
              </a:rPr>
              <a:t>Los sistemas de inteligencia artificial dependen de enormes volúmenes de datos personales —imágenes, voces, historiales, ubicaciones— para funcionar. Esa dependencia convierte la privacidad en una de las discusiones más urgentes de la tecnología actual: cada nuevo uso de la IA multiplica el valor del dato, pero también su exposición.</a:t>
            </a:r>
            <a:endParaRPr lang="en-US" sz="1450" dirty="0"/>
          </a:p>
        </p:txBody>
      </p:sp>
      <p:sp>
        <p:nvSpPr>
          <p:cNvPr id="5" name="Text 3"/>
          <p:cNvSpPr/>
          <p:nvPr/>
        </p:nvSpPr>
        <p:spPr>
          <a:xfrm>
            <a:off x="457200" y="3429000"/>
            <a:ext cx="6492240" cy="1005840"/>
          </a:xfrm>
          <a:prstGeom prst="rect">
            <a:avLst/>
          </a:prstGeom>
          <a:noFill/>
          <a:ln/>
        </p:spPr>
        <p:txBody>
          <a:bodyPr wrap="square" rtlCol="0" anchor="ctr"/>
          <a:lstStyle/>
          <a:p>
            <a:pPr marL="0" indent="0">
              <a:lnSpc>
                <a:spcPts val="2200"/>
              </a:lnSpc>
              <a:buNone/>
            </a:pPr>
            <a:r>
              <a:rPr lang="en-US" sz="1450" b="1" dirty="0">
                <a:solidFill>
                  <a:srgbClr val="1E2761"/>
                </a:solidFill>
                <a:latin typeface="Calibri" pitchFamily="34" charset="0"/>
                <a:ea typeface="Calibri" pitchFamily="34" charset="-122"/>
                <a:cs typeface="Calibri" pitchFamily="34" charset="-120"/>
              </a:rPr>
              <a:t>En 2026, gobiernos y empresas enfrentan un doble reto: aprovechar el potencial de la IA sin vulnerar los derechos fundamentales de las personas sobre su propia información.</a:t>
            </a:r>
            <a:endParaRPr lang="en-US" sz="1450" dirty="0"/>
          </a:p>
        </p:txBody>
      </p:sp>
      <p:sp>
        <p:nvSpPr>
          <p:cNvPr id="6" name="Shape 4"/>
          <p:cNvSpPr/>
          <p:nvPr/>
        </p:nvSpPr>
        <p:spPr>
          <a:xfrm>
            <a:off x="7360920" y="1508760"/>
            <a:ext cx="4343400" cy="2926080"/>
          </a:xfrm>
          <a:prstGeom prst="roundRect">
            <a:avLst>
              <a:gd name="adj" fmla="val 3750"/>
            </a:avLst>
          </a:prstGeom>
          <a:solidFill>
            <a:srgbClr val="F3F6FC"/>
          </a:solidFill>
          <a:ln/>
        </p:spPr>
      </p:sp>
      <p:sp>
        <p:nvSpPr>
          <p:cNvPr id="7" name="Shape 5"/>
          <p:cNvSpPr/>
          <p:nvPr/>
        </p:nvSpPr>
        <p:spPr>
          <a:xfrm>
            <a:off x="7680960" y="1810512"/>
            <a:ext cx="502920" cy="502920"/>
          </a:xfrm>
          <a:prstGeom prst="ellipse">
            <a:avLst/>
          </a:prstGeom>
          <a:solidFill>
            <a:srgbClr val="1E2761"/>
          </a:solidFill>
          <a:ln/>
        </p:spPr>
      </p:sp>
      <p:pic>
        <p:nvPicPr>
          <p:cNvPr id="8" name="Image 0" descr="icon_globe_FFFFFF.png"/>
          <p:cNvPicPr>
            <a:picLocks noChangeAspect="1"/>
          </p:cNvPicPr>
          <p:nvPr/>
        </p:nvPicPr>
        <p:blipFill>
          <a:blip r:embed="rId3"/>
          <a:stretch>
            <a:fillRect/>
          </a:stretch>
        </p:blipFill>
        <p:spPr>
          <a:xfrm>
            <a:off x="7776515" y="1906067"/>
            <a:ext cx="311810" cy="311810"/>
          </a:xfrm>
          <a:prstGeom prst="rect">
            <a:avLst/>
          </a:prstGeom>
        </p:spPr>
      </p:pic>
      <p:sp>
        <p:nvSpPr>
          <p:cNvPr id="9" name="Text 6"/>
          <p:cNvSpPr/>
          <p:nvPr/>
        </p:nvSpPr>
        <p:spPr>
          <a:xfrm>
            <a:off x="8321040" y="1783080"/>
            <a:ext cx="3200400" cy="502920"/>
          </a:xfrm>
          <a:prstGeom prst="rect">
            <a:avLst/>
          </a:prstGeom>
          <a:noFill/>
          <a:ln/>
        </p:spPr>
        <p:txBody>
          <a:bodyPr wrap="square" rtlCol="0" anchor="ctr"/>
          <a:lstStyle/>
          <a:p>
            <a:pPr marL="0" indent="0">
              <a:buNone/>
            </a:pPr>
            <a:r>
              <a:rPr lang="en-US" sz="2500" b="1" dirty="0">
                <a:solidFill>
                  <a:srgbClr val="1E2761"/>
                </a:solidFill>
                <a:latin typeface="Cambria" pitchFamily="34" charset="0"/>
                <a:ea typeface="Cambria" pitchFamily="34" charset="-122"/>
                <a:cs typeface="Cambria" pitchFamily="34" charset="-120"/>
              </a:rPr>
              <a:t>US$ 3,500 millones</a:t>
            </a:r>
            <a:endParaRPr lang="en-US" sz="2500" dirty="0"/>
          </a:p>
        </p:txBody>
      </p:sp>
      <p:sp>
        <p:nvSpPr>
          <p:cNvPr id="10" name="Text 7"/>
          <p:cNvSpPr/>
          <p:nvPr/>
        </p:nvSpPr>
        <p:spPr>
          <a:xfrm>
            <a:off x="7680960" y="2377440"/>
            <a:ext cx="3749040" cy="868680"/>
          </a:xfrm>
          <a:prstGeom prst="rect">
            <a:avLst/>
          </a:prstGeom>
          <a:noFill/>
          <a:ln/>
        </p:spPr>
        <p:txBody>
          <a:bodyPr wrap="square" rtlCol="0" anchor="ctr"/>
          <a:lstStyle/>
          <a:p>
            <a:pPr marL="0" indent="0">
              <a:lnSpc>
                <a:spcPts val="1600"/>
              </a:lnSpc>
              <a:buNone/>
            </a:pPr>
            <a:r>
              <a:rPr lang="en-US" sz="1250" dirty="0">
                <a:solidFill>
                  <a:srgbClr val="2B2F3A"/>
                </a:solidFill>
                <a:latin typeface="Calibri" pitchFamily="34" charset="0"/>
                <a:ea typeface="Calibri" pitchFamily="34" charset="-122"/>
                <a:cs typeface="Calibri" pitchFamily="34" charset="-120"/>
              </a:rPr>
              <a:t>en multas y acuerdos relacionados con IA pagados o adeudados por grandes tecnológicas entre 2022 y 2026</a:t>
            </a:r>
            <a:endParaRPr lang="en-US" sz="1250" dirty="0"/>
          </a:p>
        </p:txBody>
      </p:sp>
      <p:sp>
        <p:nvSpPr>
          <p:cNvPr id="11" name="Shape 8"/>
          <p:cNvSpPr/>
          <p:nvPr/>
        </p:nvSpPr>
        <p:spPr>
          <a:xfrm>
            <a:off x="7680960" y="3364992"/>
            <a:ext cx="3703320" cy="0"/>
          </a:xfrm>
          <a:prstGeom prst="line">
            <a:avLst/>
          </a:prstGeom>
          <a:noFill/>
          <a:ln w="12700">
            <a:solidFill>
              <a:srgbClr val="CADCFC"/>
            </a:solidFill>
            <a:prstDash val="solid"/>
          </a:ln>
        </p:spPr>
      </p:sp>
      <p:sp>
        <p:nvSpPr>
          <p:cNvPr id="12" name="Text 9"/>
          <p:cNvSpPr/>
          <p:nvPr/>
        </p:nvSpPr>
        <p:spPr>
          <a:xfrm>
            <a:off x="7680960" y="3520440"/>
            <a:ext cx="3749040" cy="822960"/>
          </a:xfrm>
          <a:prstGeom prst="rect">
            <a:avLst/>
          </a:prstGeom>
          <a:noFill/>
          <a:ln/>
        </p:spPr>
        <p:txBody>
          <a:bodyPr wrap="square" rtlCol="0" anchor="ctr"/>
          <a:lstStyle/>
          <a:p>
            <a:pPr marL="0" indent="0">
              <a:lnSpc>
                <a:spcPts val="1600"/>
              </a:lnSpc>
              <a:buNone/>
            </a:pPr>
            <a:r>
              <a:rPr lang="en-US" sz="1250" i="1" dirty="0">
                <a:solidFill>
                  <a:srgbClr val="6B7280"/>
                </a:solidFill>
                <a:latin typeface="Calibri" pitchFamily="34" charset="0"/>
                <a:ea typeface="Calibri" pitchFamily="34" charset="-122"/>
                <a:cs typeface="Calibri" pitchFamily="34" charset="-120"/>
              </a:rPr>
              <a:t>9 de cada 10 casos analizados implicaron el uso de datos personales sin consentimiento para entrenar modelos de IA.</a:t>
            </a:r>
            <a:endParaRPr lang="en-US" sz="1250" dirty="0"/>
          </a:p>
        </p:txBody>
      </p:sp>
      <p:sp>
        <p:nvSpPr>
          <p:cNvPr id="13" name="Shape 10"/>
          <p:cNvSpPr/>
          <p:nvPr/>
        </p:nvSpPr>
        <p:spPr>
          <a:xfrm>
            <a:off x="457200" y="4709160"/>
            <a:ext cx="11247120" cy="1371600"/>
          </a:xfrm>
          <a:prstGeom prst="roundRect">
            <a:avLst>
              <a:gd name="adj" fmla="val 6667"/>
            </a:avLst>
          </a:prstGeom>
          <a:solidFill>
            <a:srgbClr val="1E2761"/>
          </a:solidFill>
          <a:ln/>
        </p:spPr>
      </p:sp>
      <p:sp>
        <p:nvSpPr>
          <p:cNvPr id="14" name="Shape 11"/>
          <p:cNvSpPr/>
          <p:nvPr/>
        </p:nvSpPr>
        <p:spPr>
          <a:xfrm>
            <a:off x="731520" y="5010912"/>
            <a:ext cx="502920" cy="502920"/>
          </a:xfrm>
          <a:prstGeom prst="ellipse">
            <a:avLst/>
          </a:prstGeom>
          <a:solidFill>
            <a:srgbClr val="2A3A7A"/>
          </a:solidFill>
          <a:ln/>
        </p:spPr>
      </p:sp>
      <p:pic>
        <p:nvPicPr>
          <p:cNvPr id="15" name="Image 1" descr="icon_eye_FFFFFF.png"/>
          <p:cNvPicPr>
            <a:picLocks noChangeAspect="1"/>
          </p:cNvPicPr>
          <p:nvPr/>
        </p:nvPicPr>
        <p:blipFill>
          <a:blip r:embed="rId4"/>
          <a:stretch>
            <a:fillRect/>
          </a:stretch>
        </p:blipFill>
        <p:spPr>
          <a:xfrm>
            <a:off x="827075" y="5106467"/>
            <a:ext cx="311810" cy="311810"/>
          </a:xfrm>
          <a:prstGeom prst="rect">
            <a:avLst/>
          </a:prstGeom>
        </p:spPr>
      </p:pic>
      <p:sp>
        <p:nvSpPr>
          <p:cNvPr id="16" name="Text 12"/>
          <p:cNvSpPr/>
          <p:nvPr/>
        </p:nvSpPr>
        <p:spPr>
          <a:xfrm>
            <a:off x="1417320" y="4864608"/>
            <a:ext cx="3657600" cy="36576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¿Por qué importa hoy?</a:t>
            </a:r>
            <a:endParaRPr lang="en-US" sz="1500" dirty="0"/>
          </a:p>
        </p:txBody>
      </p:sp>
      <p:sp>
        <p:nvSpPr>
          <p:cNvPr id="17" name="Text 13"/>
          <p:cNvSpPr/>
          <p:nvPr/>
        </p:nvSpPr>
        <p:spPr>
          <a:xfrm>
            <a:off x="1417320" y="5193792"/>
            <a:ext cx="10058400" cy="777240"/>
          </a:xfrm>
          <a:prstGeom prst="rect">
            <a:avLst/>
          </a:prstGeom>
          <a:noFill/>
          <a:ln/>
        </p:spPr>
        <p:txBody>
          <a:bodyPr wrap="square" rtlCol="0" anchor="ctr"/>
          <a:lstStyle/>
          <a:p>
            <a:pPr marL="0" indent="0">
              <a:lnSpc>
                <a:spcPts val="1600"/>
              </a:lnSpc>
              <a:buNone/>
            </a:pPr>
            <a:r>
              <a:rPr lang="en-US" sz="1250" dirty="0">
                <a:solidFill>
                  <a:srgbClr val="CADCFC"/>
                </a:solidFill>
                <a:latin typeface="Calibri" pitchFamily="34" charset="0"/>
                <a:ea typeface="Calibri" pitchFamily="34" charset="-122"/>
                <a:cs typeface="Calibri" pitchFamily="34" charset="-120"/>
              </a:rPr>
              <a:t>Porque la IA ya no solo analiza datos: los genera (deepfakes, voces sintéticas) y toma decisiones sobre personas reales —créditos, empleos, atención médica— a partir de esa información.</a:t>
            </a:r>
            <a:endParaRPr lang="en-US" sz="1250" dirty="0"/>
          </a:p>
        </p:txBody>
      </p:sp>
      <p:sp>
        <p:nvSpPr>
          <p:cNvPr id="18" name="Text 14"/>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IA, privacidad y protección de datos personales</a:t>
            </a:r>
            <a:endParaRPr lang="en-US" sz="900" dirty="0"/>
          </a:p>
        </p:txBody>
      </p:sp>
      <p:sp>
        <p:nvSpPr>
          <p:cNvPr id="19" name="Text 15"/>
          <p:cNvSpPr/>
          <p:nvPr/>
        </p:nvSpPr>
        <p:spPr>
          <a:xfrm>
            <a:off x="10972800" y="6519672"/>
            <a:ext cx="73152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9144000" cy="320040"/>
          </a:xfrm>
          <a:prstGeom prst="rect">
            <a:avLst/>
          </a:prstGeom>
          <a:noFill/>
          <a:ln/>
        </p:spPr>
        <p:txBody>
          <a:bodyPr wrap="square" rtlCol="0" anchor="ctr"/>
          <a:lstStyle/>
          <a:p>
            <a:pPr marL="0" indent="0">
              <a:buNone/>
            </a:pPr>
            <a:r>
              <a:rPr lang="en-US" sz="1300" b="1" kern="0" spc="200" dirty="0">
                <a:solidFill>
                  <a:srgbClr val="C68A1B"/>
                </a:solidFill>
                <a:latin typeface="Calibri" pitchFamily="34" charset="0"/>
                <a:ea typeface="Calibri" pitchFamily="34" charset="-122"/>
                <a:cs typeface="Calibri" pitchFamily="34" charset="-120"/>
              </a:rPr>
              <a:t>02 · CONTEXTO</a:t>
            </a:r>
            <a:endParaRPr lang="en-US" sz="1300" dirty="0"/>
          </a:p>
        </p:txBody>
      </p:sp>
      <p:sp>
        <p:nvSpPr>
          <p:cNvPr id="3" name="Text 1"/>
          <p:cNvSpPr/>
          <p:nvPr/>
        </p:nvSpPr>
        <p:spPr>
          <a:xfrm>
            <a:off x="457200" y="658368"/>
            <a:ext cx="1124712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Conceptos y marco normativo de partida</a:t>
            </a:r>
            <a:endParaRPr lang="en-US" sz="3000" dirty="0"/>
          </a:p>
        </p:txBody>
      </p:sp>
      <p:sp>
        <p:nvSpPr>
          <p:cNvPr id="4" name="Shape 2"/>
          <p:cNvSpPr/>
          <p:nvPr/>
        </p:nvSpPr>
        <p:spPr>
          <a:xfrm>
            <a:off x="457200" y="1600200"/>
            <a:ext cx="2697480" cy="3246120"/>
          </a:xfrm>
          <a:prstGeom prst="roundRect">
            <a:avLst>
              <a:gd name="adj" fmla="val 3390"/>
            </a:avLst>
          </a:prstGeom>
          <a:solidFill>
            <a:srgbClr val="F3F6FC"/>
          </a:solidFill>
          <a:ln/>
        </p:spPr>
      </p:sp>
      <p:sp>
        <p:nvSpPr>
          <p:cNvPr id="5" name="Shape 3"/>
          <p:cNvSpPr/>
          <p:nvPr/>
        </p:nvSpPr>
        <p:spPr>
          <a:xfrm>
            <a:off x="685800" y="1874520"/>
            <a:ext cx="548640" cy="548640"/>
          </a:xfrm>
          <a:prstGeom prst="ellipse">
            <a:avLst/>
          </a:prstGeom>
          <a:solidFill>
            <a:srgbClr val="FFFFFF"/>
          </a:solidFill>
          <a:ln/>
        </p:spPr>
      </p:sp>
      <p:pic>
        <p:nvPicPr>
          <p:cNvPr id="6" name="Image 0" descr="icon_database_1E2761.png"/>
          <p:cNvPicPr>
            <a:picLocks noChangeAspect="1"/>
          </p:cNvPicPr>
          <p:nvPr/>
        </p:nvPicPr>
        <p:blipFill>
          <a:blip r:embed="rId3"/>
          <a:stretch>
            <a:fillRect/>
          </a:stretch>
        </p:blipFill>
        <p:spPr>
          <a:xfrm>
            <a:off x="795528" y="1984248"/>
            <a:ext cx="329184" cy="329184"/>
          </a:xfrm>
          <a:prstGeom prst="rect">
            <a:avLst/>
          </a:prstGeom>
        </p:spPr>
      </p:pic>
      <p:sp>
        <p:nvSpPr>
          <p:cNvPr id="7" name="Text 4"/>
          <p:cNvSpPr/>
          <p:nvPr/>
        </p:nvSpPr>
        <p:spPr>
          <a:xfrm>
            <a:off x="658368" y="2560320"/>
            <a:ext cx="2295144" cy="50292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Dato personal</a:t>
            </a:r>
            <a:endParaRPr lang="en-US" sz="1500" dirty="0"/>
          </a:p>
        </p:txBody>
      </p:sp>
      <p:sp>
        <p:nvSpPr>
          <p:cNvPr id="8" name="Text 5"/>
          <p:cNvSpPr/>
          <p:nvPr/>
        </p:nvSpPr>
        <p:spPr>
          <a:xfrm>
            <a:off x="658368" y="3017520"/>
            <a:ext cx="2295144" cy="1691640"/>
          </a:xfrm>
          <a:prstGeom prst="rect">
            <a:avLst/>
          </a:prstGeom>
          <a:noFill/>
          <a:ln/>
        </p:spPr>
        <p:txBody>
          <a:bodyPr wrap="square" rtlCol="0" anchor="ctr"/>
          <a:lstStyle/>
          <a:p>
            <a:pPr marL="0" indent="0">
              <a:lnSpc>
                <a:spcPts val="1550"/>
              </a:lnSpc>
              <a:buNone/>
            </a:pPr>
            <a:r>
              <a:rPr lang="en-US" sz="1150" dirty="0">
                <a:solidFill>
                  <a:srgbClr val="2B2F3A"/>
                </a:solidFill>
                <a:latin typeface="Calibri" pitchFamily="34" charset="0"/>
                <a:ea typeface="Calibri" pitchFamily="34" charset="-122"/>
                <a:cs typeface="Calibri" pitchFamily="34" charset="-120"/>
              </a:rPr>
              <a:t>Toda información que identifica o hace identificable a una persona: nombre, imagen, voz, ubicación, datos biométricos.</a:t>
            </a:r>
            <a:endParaRPr lang="en-US" sz="1150" dirty="0"/>
          </a:p>
        </p:txBody>
      </p:sp>
      <p:sp>
        <p:nvSpPr>
          <p:cNvPr id="9" name="Shape 6"/>
          <p:cNvSpPr/>
          <p:nvPr/>
        </p:nvSpPr>
        <p:spPr>
          <a:xfrm>
            <a:off x="3319272" y="1600200"/>
            <a:ext cx="2697480" cy="3246120"/>
          </a:xfrm>
          <a:prstGeom prst="roundRect">
            <a:avLst>
              <a:gd name="adj" fmla="val 3390"/>
            </a:avLst>
          </a:prstGeom>
          <a:solidFill>
            <a:srgbClr val="F3F6FC"/>
          </a:solidFill>
          <a:ln/>
        </p:spPr>
      </p:sp>
      <p:sp>
        <p:nvSpPr>
          <p:cNvPr id="10" name="Shape 7"/>
          <p:cNvSpPr/>
          <p:nvPr/>
        </p:nvSpPr>
        <p:spPr>
          <a:xfrm>
            <a:off x="3547872" y="1874520"/>
            <a:ext cx="548640" cy="548640"/>
          </a:xfrm>
          <a:prstGeom prst="ellipse">
            <a:avLst/>
          </a:prstGeom>
          <a:solidFill>
            <a:srgbClr val="FFFFFF"/>
          </a:solidFill>
          <a:ln/>
        </p:spPr>
      </p:sp>
      <p:pic>
        <p:nvPicPr>
          <p:cNvPr id="11" name="Image 1" descr="icon_cpu_1E2761.png"/>
          <p:cNvPicPr>
            <a:picLocks noChangeAspect="1"/>
          </p:cNvPicPr>
          <p:nvPr/>
        </p:nvPicPr>
        <p:blipFill>
          <a:blip r:embed="rId4"/>
          <a:stretch>
            <a:fillRect/>
          </a:stretch>
        </p:blipFill>
        <p:spPr>
          <a:xfrm>
            <a:off x="3657600" y="1984248"/>
            <a:ext cx="329184" cy="329184"/>
          </a:xfrm>
          <a:prstGeom prst="rect">
            <a:avLst/>
          </a:prstGeom>
        </p:spPr>
      </p:pic>
      <p:sp>
        <p:nvSpPr>
          <p:cNvPr id="12" name="Text 8"/>
          <p:cNvSpPr/>
          <p:nvPr/>
        </p:nvSpPr>
        <p:spPr>
          <a:xfrm>
            <a:off x="3520440" y="2560320"/>
            <a:ext cx="2295144" cy="50292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IA y datos</a:t>
            </a:r>
            <a:endParaRPr lang="en-US" sz="1500" dirty="0"/>
          </a:p>
        </p:txBody>
      </p:sp>
      <p:sp>
        <p:nvSpPr>
          <p:cNvPr id="13" name="Text 9"/>
          <p:cNvSpPr/>
          <p:nvPr/>
        </p:nvSpPr>
        <p:spPr>
          <a:xfrm>
            <a:off x="3520440" y="3017520"/>
            <a:ext cx="2295144" cy="1691640"/>
          </a:xfrm>
          <a:prstGeom prst="rect">
            <a:avLst/>
          </a:prstGeom>
          <a:noFill/>
          <a:ln/>
        </p:spPr>
        <p:txBody>
          <a:bodyPr wrap="square" rtlCol="0" anchor="ctr"/>
          <a:lstStyle/>
          <a:p>
            <a:pPr marL="0" indent="0">
              <a:lnSpc>
                <a:spcPts val="1550"/>
              </a:lnSpc>
              <a:buNone/>
            </a:pPr>
            <a:r>
              <a:rPr lang="en-US" sz="1150" dirty="0">
                <a:solidFill>
                  <a:srgbClr val="2B2F3A"/>
                </a:solidFill>
                <a:latin typeface="Calibri" pitchFamily="34" charset="0"/>
                <a:ea typeface="Calibri" pitchFamily="34" charset="-122"/>
                <a:cs typeface="Calibri" pitchFamily="34" charset="-120"/>
              </a:rPr>
              <a:t>Los modelos de IA se entrenan e infieren a partir de datos; a mayor volumen y detalle, mejor rendimiento, pero mayor riesgo.</a:t>
            </a:r>
            <a:endParaRPr lang="en-US" sz="1150" dirty="0"/>
          </a:p>
        </p:txBody>
      </p:sp>
      <p:sp>
        <p:nvSpPr>
          <p:cNvPr id="14" name="Shape 10"/>
          <p:cNvSpPr/>
          <p:nvPr/>
        </p:nvSpPr>
        <p:spPr>
          <a:xfrm>
            <a:off x="6181344" y="1600200"/>
            <a:ext cx="2697480" cy="3246120"/>
          </a:xfrm>
          <a:prstGeom prst="roundRect">
            <a:avLst>
              <a:gd name="adj" fmla="val 3390"/>
            </a:avLst>
          </a:prstGeom>
          <a:solidFill>
            <a:srgbClr val="F3F6FC"/>
          </a:solidFill>
          <a:ln/>
        </p:spPr>
      </p:sp>
      <p:sp>
        <p:nvSpPr>
          <p:cNvPr id="15" name="Shape 11"/>
          <p:cNvSpPr/>
          <p:nvPr/>
        </p:nvSpPr>
        <p:spPr>
          <a:xfrm>
            <a:off x="6409944" y="1874520"/>
            <a:ext cx="548640" cy="548640"/>
          </a:xfrm>
          <a:prstGeom prst="ellipse">
            <a:avLst/>
          </a:prstGeom>
          <a:solidFill>
            <a:srgbClr val="FFFFFF"/>
          </a:solidFill>
          <a:ln/>
        </p:spPr>
      </p:sp>
      <p:pic>
        <p:nvPicPr>
          <p:cNvPr id="16" name="Image 2" descr="icon_gavel_1E2761.png"/>
          <p:cNvPicPr>
            <a:picLocks noChangeAspect="1"/>
          </p:cNvPicPr>
          <p:nvPr/>
        </p:nvPicPr>
        <p:blipFill>
          <a:blip r:embed="rId5"/>
          <a:stretch>
            <a:fillRect/>
          </a:stretch>
        </p:blipFill>
        <p:spPr>
          <a:xfrm>
            <a:off x="6519672" y="1984248"/>
            <a:ext cx="329184" cy="329184"/>
          </a:xfrm>
          <a:prstGeom prst="rect">
            <a:avLst/>
          </a:prstGeom>
        </p:spPr>
      </p:pic>
      <p:sp>
        <p:nvSpPr>
          <p:cNvPr id="17" name="Text 12"/>
          <p:cNvSpPr/>
          <p:nvPr/>
        </p:nvSpPr>
        <p:spPr>
          <a:xfrm>
            <a:off x="6382512" y="2560320"/>
            <a:ext cx="2295144" cy="50292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Marco legal previo</a:t>
            </a:r>
            <a:endParaRPr lang="en-US" sz="1500" dirty="0"/>
          </a:p>
        </p:txBody>
      </p:sp>
      <p:sp>
        <p:nvSpPr>
          <p:cNvPr id="18" name="Text 13"/>
          <p:cNvSpPr/>
          <p:nvPr/>
        </p:nvSpPr>
        <p:spPr>
          <a:xfrm>
            <a:off x="6382512" y="3017520"/>
            <a:ext cx="2295144" cy="1691640"/>
          </a:xfrm>
          <a:prstGeom prst="rect">
            <a:avLst/>
          </a:prstGeom>
          <a:noFill/>
          <a:ln/>
        </p:spPr>
        <p:txBody>
          <a:bodyPr wrap="square" rtlCol="0" anchor="ctr"/>
          <a:lstStyle/>
          <a:p>
            <a:pPr marL="0" indent="0">
              <a:lnSpc>
                <a:spcPts val="1550"/>
              </a:lnSpc>
              <a:buNone/>
            </a:pPr>
            <a:r>
              <a:rPr lang="en-US" sz="1150" dirty="0">
                <a:solidFill>
                  <a:srgbClr val="2B2F3A"/>
                </a:solidFill>
                <a:latin typeface="Calibri" pitchFamily="34" charset="0"/>
                <a:ea typeface="Calibri" pitchFamily="34" charset="-122"/>
                <a:cs typeface="Calibri" pitchFamily="34" charset="-120"/>
              </a:rPr>
              <a:t>RGPD (UE, 2018) y, en Perú, la Ley N.º 29733 de Protección de Datos Personales, vigentes antes del auge de la IA generativa.</a:t>
            </a:r>
            <a:endParaRPr lang="en-US" sz="1150" dirty="0"/>
          </a:p>
        </p:txBody>
      </p:sp>
      <p:sp>
        <p:nvSpPr>
          <p:cNvPr id="19" name="Shape 14"/>
          <p:cNvSpPr/>
          <p:nvPr/>
        </p:nvSpPr>
        <p:spPr>
          <a:xfrm>
            <a:off x="9043416" y="1600200"/>
            <a:ext cx="2697480" cy="3246120"/>
          </a:xfrm>
          <a:prstGeom prst="roundRect">
            <a:avLst>
              <a:gd name="adj" fmla="val 3390"/>
            </a:avLst>
          </a:prstGeom>
          <a:solidFill>
            <a:srgbClr val="F3F6FC"/>
          </a:solidFill>
          <a:ln/>
        </p:spPr>
      </p:sp>
      <p:sp>
        <p:nvSpPr>
          <p:cNvPr id="20" name="Shape 15"/>
          <p:cNvSpPr/>
          <p:nvPr/>
        </p:nvSpPr>
        <p:spPr>
          <a:xfrm>
            <a:off x="9272016" y="1874520"/>
            <a:ext cx="548640" cy="548640"/>
          </a:xfrm>
          <a:prstGeom prst="ellipse">
            <a:avLst/>
          </a:prstGeom>
          <a:solidFill>
            <a:srgbClr val="FFFFFF"/>
          </a:solidFill>
          <a:ln/>
        </p:spPr>
      </p:sp>
      <p:pic>
        <p:nvPicPr>
          <p:cNvPr id="21" name="Image 3" descr="icon_flag_1E2761.png"/>
          <p:cNvPicPr>
            <a:picLocks noChangeAspect="1"/>
          </p:cNvPicPr>
          <p:nvPr/>
        </p:nvPicPr>
        <p:blipFill>
          <a:blip r:embed="rId6"/>
          <a:stretch>
            <a:fillRect/>
          </a:stretch>
        </p:blipFill>
        <p:spPr>
          <a:xfrm>
            <a:off x="9381744" y="1984248"/>
            <a:ext cx="329184" cy="329184"/>
          </a:xfrm>
          <a:prstGeom prst="rect">
            <a:avLst/>
          </a:prstGeom>
        </p:spPr>
      </p:pic>
      <p:sp>
        <p:nvSpPr>
          <p:cNvPr id="22" name="Text 16"/>
          <p:cNvSpPr/>
          <p:nvPr/>
        </p:nvSpPr>
        <p:spPr>
          <a:xfrm>
            <a:off x="9244584" y="2560320"/>
            <a:ext cx="2295144" cy="50292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Nuevo marco IA</a:t>
            </a:r>
            <a:endParaRPr lang="en-US" sz="1500" dirty="0"/>
          </a:p>
        </p:txBody>
      </p:sp>
      <p:sp>
        <p:nvSpPr>
          <p:cNvPr id="23" name="Text 17"/>
          <p:cNvSpPr/>
          <p:nvPr/>
        </p:nvSpPr>
        <p:spPr>
          <a:xfrm>
            <a:off x="9244584" y="3017520"/>
            <a:ext cx="2295144" cy="1691640"/>
          </a:xfrm>
          <a:prstGeom prst="rect">
            <a:avLst/>
          </a:prstGeom>
          <a:noFill/>
          <a:ln/>
        </p:spPr>
        <p:txBody>
          <a:bodyPr wrap="square" rtlCol="0" anchor="ctr"/>
          <a:lstStyle/>
          <a:p>
            <a:pPr marL="0" indent="0">
              <a:lnSpc>
                <a:spcPts val="1550"/>
              </a:lnSpc>
              <a:buNone/>
            </a:pPr>
            <a:r>
              <a:rPr lang="en-US" sz="1150" dirty="0">
                <a:solidFill>
                  <a:srgbClr val="2B2F3A"/>
                </a:solidFill>
                <a:latin typeface="Calibri" pitchFamily="34" charset="0"/>
                <a:ea typeface="Calibri" pitchFamily="34" charset="-122"/>
                <a:cs typeface="Calibri" pitchFamily="34" charset="-120"/>
              </a:rPr>
              <a:t>Desde 2025-2026: el AI Act europeo y, en Perú, la Ley N.º 31814 y su Reglamento, que exigen protección de datos dentro del diseño de los sistemas de IA.</a:t>
            </a:r>
            <a:endParaRPr lang="en-US" sz="1150" dirty="0"/>
          </a:p>
        </p:txBody>
      </p:sp>
      <p:sp>
        <p:nvSpPr>
          <p:cNvPr id="24" name="Text 18"/>
          <p:cNvSpPr/>
          <p:nvPr/>
        </p:nvSpPr>
        <p:spPr>
          <a:xfrm>
            <a:off x="457200" y="5074920"/>
            <a:ext cx="11247120" cy="822960"/>
          </a:xfrm>
          <a:prstGeom prst="rect">
            <a:avLst/>
          </a:prstGeom>
          <a:noFill/>
          <a:ln/>
        </p:spPr>
        <p:txBody>
          <a:bodyPr wrap="square" rtlCol="0" anchor="ctr"/>
          <a:lstStyle/>
          <a:p>
            <a:pPr marL="0" indent="0">
              <a:lnSpc>
                <a:spcPts val="1700"/>
              </a:lnSpc>
              <a:buNone/>
            </a:pPr>
            <a:r>
              <a:rPr lang="en-US" sz="1300" i="1" dirty="0">
                <a:solidFill>
                  <a:srgbClr val="6B7280"/>
                </a:solidFill>
                <a:latin typeface="Calibri" pitchFamily="34" charset="0"/>
                <a:ea typeface="Calibri" pitchFamily="34" charset="-122"/>
                <a:cs typeface="Calibri" pitchFamily="34" charset="-120"/>
              </a:rPr>
              <a:t>En Perú, la Autoridad Nacional de Protección de Datos Personales (ANPD) —del Ministerio de Justicia y Derechos Humanos— es la entidad encargada de vigilar el cumplimiento de estas normas, incluido su uso por sistemas de IA.</a:t>
            </a:r>
            <a:endParaRPr lang="en-US" sz="1300" dirty="0"/>
          </a:p>
        </p:txBody>
      </p:sp>
      <p:sp>
        <p:nvSpPr>
          <p:cNvPr id="25" name="Text 19"/>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IA, privacidad y protección de datos personales</a:t>
            </a:r>
            <a:endParaRPr lang="en-US" sz="900" dirty="0"/>
          </a:p>
        </p:txBody>
      </p:sp>
      <p:sp>
        <p:nvSpPr>
          <p:cNvPr id="26" name="Text 20"/>
          <p:cNvSpPr/>
          <p:nvPr/>
        </p:nvSpPr>
        <p:spPr>
          <a:xfrm>
            <a:off x="10972800" y="6519672"/>
            <a:ext cx="73152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9144000" cy="320040"/>
          </a:xfrm>
          <a:prstGeom prst="rect">
            <a:avLst/>
          </a:prstGeom>
          <a:noFill/>
          <a:ln/>
        </p:spPr>
        <p:txBody>
          <a:bodyPr wrap="square" rtlCol="0" anchor="ctr"/>
          <a:lstStyle/>
          <a:p>
            <a:pPr marL="0" indent="0">
              <a:buNone/>
            </a:pPr>
            <a:r>
              <a:rPr lang="en-US" sz="1300" b="1" kern="0" spc="200" dirty="0">
                <a:solidFill>
                  <a:srgbClr val="C68A1B"/>
                </a:solidFill>
                <a:latin typeface="Calibri" pitchFamily="34" charset="0"/>
                <a:ea typeface="Calibri" pitchFamily="34" charset="-122"/>
                <a:cs typeface="Calibri" pitchFamily="34" charset="-120"/>
              </a:rPr>
              <a:t>03 · DESARROLLO I</a:t>
            </a:r>
            <a:endParaRPr lang="en-US" sz="1300" dirty="0"/>
          </a:p>
        </p:txBody>
      </p:sp>
      <p:sp>
        <p:nvSpPr>
          <p:cNvPr id="3" name="Text 1"/>
          <p:cNvSpPr/>
          <p:nvPr/>
        </p:nvSpPr>
        <p:spPr>
          <a:xfrm>
            <a:off x="457200" y="658368"/>
            <a:ext cx="1124712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Cómo la IA recopila y procesa datos personales</a:t>
            </a:r>
            <a:endParaRPr lang="en-US" sz="3000" dirty="0"/>
          </a:p>
        </p:txBody>
      </p:sp>
      <p:sp>
        <p:nvSpPr>
          <p:cNvPr id="4" name="Shape 2"/>
          <p:cNvSpPr/>
          <p:nvPr/>
        </p:nvSpPr>
        <p:spPr>
          <a:xfrm>
            <a:off x="457200" y="1600200"/>
            <a:ext cx="11247120" cy="1417320"/>
          </a:xfrm>
          <a:prstGeom prst="roundRect">
            <a:avLst>
              <a:gd name="adj" fmla="val 6452"/>
            </a:avLst>
          </a:prstGeom>
          <a:solidFill>
            <a:srgbClr val="F3F6FC"/>
          </a:solidFill>
          <a:ln/>
        </p:spPr>
      </p:sp>
      <p:sp>
        <p:nvSpPr>
          <p:cNvPr id="5" name="Shape 3"/>
          <p:cNvSpPr/>
          <p:nvPr/>
        </p:nvSpPr>
        <p:spPr>
          <a:xfrm>
            <a:off x="731520" y="1892808"/>
            <a:ext cx="822960" cy="822960"/>
          </a:xfrm>
          <a:prstGeom prst="ellipse">
            <a:avLst/>
          </a:prstGeom>
          <a:solidFill>
            <a:srgbClr val="1E2761"/>
          </a:solidFill>
          <a:ln/>
        </p:spPr>
      </p:sp>
      <p:pic>
        <p:nvPicPr>
          <p:cNvPr id="6" name="Image 0" descr="icon_database_FFFFFF.png"/>
          <p:cNvPicPr>
            <a:picLocks noChangeAspect="1"/>
          </p:cNvPicPr>
          <p:nvPr/>
        </p:nvPicPr>
        <p:blipFill>
          <a:blip r:embed="rId3"/>
          <a:stretch>
            <a:fillRect/>
          </a:stretch>
        </p:blipFill>
        <p:spPr>
          <a:xfrm>
            <a:off x="916686" y="2077974"/>
            <a:ext cx="452628" cy="452628"/>
          </a:xfrm>
          <a:prstGeom prst="rect">
            <a:avLst/>
          </a:prstGeom>
        </p:spPr>
      </p:pic>
      <p:sp>
        <p:nvSpPr>
          <p:cNvPr id="7" name="Text 4"/>
          <p:cNvSpPr/>
          <p:nvPr/>
        </p:nvSpPr>
        <p:spPr>
          <a:xfrm>
            <a:off x="1828800" y="1764792"/>
            <a:ext cx="4023360" cy="1097280"/>
          </a:xfrm>
          <a:prstGeom prst="rect">
            <a:avLst/>
          </a:prstGeom>
          <a:noFill/>
          <a:ln/>
        </p:spPr>
        <p:txBody>
          <a:bodyPr wrap="square" rtlCol="0" anchor="ctr"/>
          <a:lstStyle/>
          <a:p>
            <a:pPr marL="0" indent="0">
              <a:buNone/>
            </a:pPr>
            <a:r>
              <a:rPr lang="en-US" sz="1650" b="1" dirty="0">
                <a:solidFill>
                  <a:srgbClr val="1E2761"/>
                </a:solidFill>
                <a:latin typeface="Cambria" pitchFamily="34" charset="0"/>
                <a:ea typeface="Cambria" pitchFamily="34" charset="-122"/>
                <a:cs typeface="Cambria" pitchFamily="34" charset="-120"/>
              </a:rPr>
              <a:t>Recopilación masiva</a:t>
            </a:r>
            <a:endParaRPr lang="en-US" sz="1650" dirty="0"/>
          </a:p>
        </p:txBody>
      </p:sp>
      <p:sp>
        <p:nvSpPr>
          <p:cNvPr id="8" name="Text 5"/>
          <p:cNvSpPr/>
          <p:nvPr/>
        </p:nvSpPr>
        <p:spPr>
          <a:xfrm>
            <a:off x="5943600" y="1746504"/>
            <a:ext cx="5577840" cy="1143000"/>
          </a:xfrm>
          <a:prstGeom prst="rect">
            <a:avLst/>
          </a:prstGeom>
          <a:noFill/>
          <a:ln/>
        </p:spPr>
        <p:txBody>
          <a:bodyPr wrap="square" rtlCol="0" anchor="ctr"/>
          <a:lstStyle/>
          <a:p>
            <a:pPr marL="0" indent="0">
              <a:lnSpc>
                <a:spcPts val="1650"/>
              </a:lnSpc>
              <a:buNone/>
            </a:pPr>
            <a:r>
              <a:rPr lang="en-US" sz="1250" dirty="0">
                <a:solidFill>
                  <a:srgbClr val="2B2F3A"/>
                </a:solidFill>
                <a:latin typeface="Calibri" pitchFamily="34" charset="0"/>
                <a:ea typeface="Calibri" pitchFamily="34" charset="-122"/>
                <a:cs typeface="Calibri" pitchFamily="34" charset="-120"/>
              </a:rPr>
              <a:t>Web scraping, sensores IoT, cámaras y datos biométricos alimentan modelos que procesan volúmenes de información muy superiores a los sistemas tradicionales.</a:t>
            </a:r>
            <a:endParaRPr lang="en-US" sz="1250" dirty="0"/>
          </a:p>
        </p:txBody>
      </p:sp>
      <p:sp>
        <p:nvSpPr>
          <p:cNvPr id="9" name="Shape 6"/>
          <p:cNvSpPr/>
          <p:nvPr/>
        </p:nvSpPr>
        <p:spPr>
          <a:xfrm>
            <a:off x="457200" y="3200400"/>
            <a:ext cx="11247120" cy="1417320"/>
          </a:xfrm>
          <a:prstGeom prst="roundRect">
            <a:avLst>
              <a:gd name="adj" fmla="val 6452"/>
            </a:avLst>
          </a:prstGeom>
          <a:solidFill>
            <a:srgbClr val="F3F6FC"/>
          </a:solidFill>
          <a:ln/>
        </p:spPr>
      </p:sp>
      <p:sp>
        <p:nvSpPr>
          <p:cNvPr id="10" name="Shape 7"/>
          <p:cNvSpPr/>
          <p:nvPr/>
        </p:nvSpPr>
        <p:spPr>
          <a:xfrm>
            <a:off x="731520" y="3493008"/>
            <a:ext cx="822960" cy="822960"/>
          </a:xfrm>
          <a:prstGeom prst="ellipse">
            <a:avLst/>
          </a:prstGeom>
          <a:solidFill>
            <a:srgbClr val="1E2761"/>
          </a:solidFill>
          <a:ln/>
        </p:spPr>
      </p:sp>
      <p:pic>
        <p:nvPicPr>
          <p:cNvPr id="11" name="Image 1" descr="icon_cpu_FFFFFF.png"/>
          <p:cNvPicPr>
            <a:picLocks noChangeAspect="1"/>
          </p:cNvPicPr>
          <p:nvPr/>
        </p:nvPicPr>
        <p:blipFill>
          <a:blip r:embed="rId4"/>
          <a:stretch>
            <a:fillRect/>
          </a:stretch>
        </p:blipFill>
        <p:spPr>
          <a:xfrm>
            <a:off x="916686" y="3678174"/>
            <a:ext cx="452628" cy="452628"/>
          </a:xfrm>
          <a:prstGeom prst="rect">
            <a:avLst/>
          </a:prstGeom>
        </p:spPr>
      </p:pic>
      <p:sp>
        <p:nvSpPr>
          <p:cNvPr id="12" name="Text 8"/>
          <p:cNvSpPr/>
          <p:nvPr/>
        </p:nvSpPr>
        <p:spPr>
          <a:xfrm>
            <a:off x="1828800" y="3364992"/>
            <a:ext cx="4023360" cy="1097280"/>
          </a:xfrm>
          <a:prstGeom prst="rect">
            <a:avLst/>
          </a:prstGeom>
          <a:noFill/>
          <a:ln/>
        </p:spPr>
        <p:txBody>
          <a:bodyPr wrap="square" rtlCol="0" anchor="ctr"/>
          <a:lstStyle/>
          <a:p>
            <a:pPr marL="0" indent="0">
              <a:buNone/>
            </a:pPr>
            <a:r>
              <a:rPr lang="en-US" sz="1650" b="1" dirty="0">
                <a:solidFill>
                  <a:srgbClr val="1E2761"/>
                </a:solidFill>
                <a:latin typeface="Cambria" pitchFamily="34" charset="0"/>
                <a:ea typeface="Cambria" pitchFamily="34" charset="-122"/>
                <a:cs typeface="Cambria" pitchFamily="34" charset="-120"/>
              </a:rPr>
              <a:t>Entrenamiento e inferencia</a:t>
            </a:r>
            <a:endParaRPr lang="en-US" sz="1650" dirty="0"/>
          </a:p>
        </p:txBody>
      </p:sp>
      <p:sp>
        <p:nvSpPr>
          <p:cNvPr id="13" name="Text 9"/>
          <p:cNvSpPr/>
          <p:nvPr/>
        </p:nvSpPr>
        <p:spPr>
          <a:xfrm>
            <a:off x="5943600" y="3346704"/>
            <a:ext cx="5577840" cy="1143000"/>
          </a:xfrm>
          <a:prstGeom prst="rect">
            <a:avLst/>
          </a:prstGeom>
          <a:noFill/>
          <a:ln/>
        </p:spPr>
        <p:txBody>
          <a:bodyPr wrap="square" rtlCol="0" anchor="ctr"/>
          <a:lstStyle/>
          <a:p>
            <a:pPr marL="0" indent="0">
              <a:lnSpc>
                <a:spcPts val="1650"/>
              </a:lnSpc>
              <a:buNone/>
            </a:pPr>
            <a:r>
              <a:rPr lang="en-US" sz="1250" dirty="0">
                <a:solidFill>
                  <a:srgbClr val="2B2F3A"/>
                </a:solidFill>
                <a:latin typeface="Calibri" pitchFamily="34" charset="0"/>
                <a:ea typeface="Calibri" pitchFamily="34" charset="-122"/>
                <a:cs typeface="Calibri" pitchFamily="34" charset="-120"/>
              </a:rPr>
              <a:t>Los modelos aprenden patrones a partir de datos personales, muchas veces sin que el titular sepa que su información fue usada para entrenar el sistema.</a:t>
            </a:r>
            <a:endParaRPr lang="en-US" sz="1250" dirty="0"/>
          </a:p>
        </p:txBody>
      </p:sp>
      <p:sp>
        <p:nvSpPr>
          <p:cNvPr id="14" name="Shape 10"/>
          <p:cNvSpPr/>
          <p:nvPr/>
        </p:nvSpPr>
        <p:spPr>
          <a:xfrm>
            <a:off x="457200" y="4800600"/>
            <a:ext cx="11247120" cy="1417320"/>
          </a:xfrm>
          <a:prstGeom prst="roundRect">
            <a:avLst>
              <a:gd name="adj" fmla="val 6452"/>
            </a:avLst>
          </a:prstGeom>
          <a:solidFill>
            <a:srgbClr val="F3F6FC"/>
          </a:solidFill>
          <a:ln/>
        </p:spPr>
      </p:sp>
      <p:sp>
        <p:nvSpPr>
          <p:cNvPr id="15" name="Shape 11"/>
          <p:cNvSpPr/>
          <p:nvPr/>
        </p:nvSpPr>
        <p:spPr>
          <a:xfrm>
            <a:off x="731520" y="5093208"/>
            <a:ext cx="822960" cy="822960"/>
          </a:xfrm>
          <a:prstGeom prst="ellipse">
            <a:avLst/>
          </a:prstGeom>
          <a:solidFill>
            <a:srgbClr val="1E2761"/>
          </a:solidFill>
          <a:ln/>
        </p:spPr>
      </p:sp>
      <p:pic>
        <p:nvPicPr>
          <p:cNvPr id="16" name="Image 2" descr="icon_eye_FFFFFF.png"/>
          <p:cNvPicPr>
            <a:picLocks noChangeAspect="1"/>
          </p:cNvPicPr>
          <p:nvPr/>
        </p:nvPicPr>
        <p:blipFill>
          <a:blip r:embed="rId5"/>
          <a:stretch>
            <a:fillRect/>
          </a:stretch>
        </p:blipFill>
        <p:spPr>
          <a:xfrm>
            <a:off x="916686" y="5278374"/>
            <a:ext cx="452628" cy="452628"/>
          </a:xfrm>
          <a:prstGeom prst="rect">
            <a:avLst/>
          </a:prstGeom>
        </p:spPr>
      </p:pic>
      <p:sp>
        <p:nvSpPr>
          <p:cNvPr id="17" name="Text 12"/>
          <p:cNvSpPr/>
          <p:nvPr/>
        </p:nvSpPr>
        <p:spPr>
          <a:xfrm>
            <a:off x="1828800" y="4965192"/>
            <a:ext cx="4023360" cy="1097280"/>
          </a:xfrm>
          <a:prstGeom prst="rect">
            <a:avLst/>
          </a:prstGeom>
          <a:noFill/>
          <a:ln/>
        </p:spPr>
        <p:txBody>
          <a:bodyPr wrap="square" rtlCol="0" anchor="ctr"/>
          <a:lstStyle/>
          <a:p>
            <a:pPr marL="0" indent="0">
              <a:buNone/>
            </a:pPr>
            <a:r>
              <a:rPr lang="en-US" sz="1650" b="1" dirty="0">
                <a:solidFill>
                  <a:srgbClr val="1E2761"/>
                </a:solidFill>
                <a:latin typeface="Cambria" pitchFamily="34" charset="0"/>
                <a:ea typeface="Cambria" pitchFamily="34" charset="-122"/>
                <a:cs typeface="Cambria" pitchFamily="34" charset="-120"/>
              </a:rPr>
              <a:t>Vigilancia y perfilamiento</a:t>
            </a:r>
            <a:endParaRPr lang="en-US" sz="1650" dirty="0"/>
          </a:p>
        </p:txBody>
      </p:sp>
      <p:sp>
        <p:nvSpPr>
          <p:cNvPr id="18" name="Text 13"/>
          <p:cNvSpPr/>
          <p:nvPr/>
        </p:nvSpPr>
        <p:spPr>
          <a:xfrm>
            <a:off x="5943600" y="4946904"/>
            <a:ext cx="5577840" cy="1143000"/>
          </a:xfrm>
          <a:prstGeom prst="rect">
            <a:avLst/>
          </a:prstGeom>
          <a:noFill/>
          <a:ln/>
        </p:spPr>
        <p:txBody>
          <a:bodyPr wrap="square" rtlCol="0" anchor="ctr"/>
          <a:lstStyle/>
          <a:p>
            <a:pPr marL="0" indent="0">
              <a:lnSpc>
                <a:spcPts val="1650"/>
              </a:lnSpc>
              <a:buNone/>
            </a:pPr>
            <a:r>
              <a:rPr lang="en-US" sz="1250" dirty="0">
                <a:solidFill>
                  <a:srgbClr val="2B2F3A"/>
                </a:solidFill>
                <a:latin typeface="Calibri" pitchFamily="34" charset="0"/>
                <a:ea typeface="Calibri" pitchFamily="34" charset="-122"/>
                <a:cs typeface="Calibri" pitchFamily="34" charset="-120"/>
              </a:rPr>
              <a:t>El cruce de datos permite inferir información sensible no declarada —salud, orientación, ideología— a partir de datos aparentemente neutros.</a:t>
            </a:r>
            <a:endParaRPr lang="en-US" sz="1250" dirty="0"/>
          </a:p>
        </p:txBody>
      </p:sp>
      <p:sp>
        <p:nvSpPr>
          <p:cNvPr id="19" name="Text 14"/>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IA, privacidad y protección de datos personales</a:t>
            </a:r>
            <a:endParaRPr lang="en-US" sz="900" dirty="0"/>
          </a:p>
        </p:txBody>
      </p:sp>
      <p:sp>
        <p:nvSpPr>
          <p:cNvPr id="20" name="Text 15"/>
          <p:cNvSpPr/>
          <p:nvPr/>
        </p:nvSpPr>
        <p:spPr>
          <a:xfrm>
            <a:off x="10972800" y="6519672"/>
            <a:ext cx="73152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9144000" cy="320040"/>
          </a:xfrm>
          <a:prstGeom prst="rect">
            <a:avLst/>
          </a:prstGeom>
          <a:noFill/>
          <a:ln/>
        </p:spPr>
        <p:txBody>
          <a:bodyPr wrap="square" rtlCol="0" anchor="ctr"/>
          <a:lstStyle/>
          <a:p>
            <a:pPr marL="0" indent="0">
              <a:buNone/>
            </a:pPr>
            <a:r>
              <a:rPr lang="en-US" sz="1300" b="1" kern="0" spc="200" dirty="0">
                <a:solidFill>
                  <a:srgbClr val="C68A1B"/>
                </a:solidFill>
                <a:latin typeface="Calibri" pitchFamily="34" charset="0"/>
                <a:ea typeface="Calibri" pitchFamily="34" charset="-122"/>
                <a:cs typeface="Calibri" pitchFamily="34" charset="-120"/>
              </a:rPr>
              <a:t>03 · DESARROLLO II</a:t>
            </a:r>
            <a:endParaRPr lang="en-US" sz="1300" dirty="0"/>
          </a:p>
        </p:txBody>
      </p:sp>
      <p:sp>
        <p:nvSpPr>
          <p:cNvPr id="3" name="Text 1"/>
          <p:cNvSpPr/>
          <p:nvPr/>
        </p:nvSpPr>
        <p:spPr>
          <a:xfrm>
            <a:off x="457200" y="658368"/>
            <a:ext cx="1124712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Aplicaciones, niveles de riesgo y nuevas obligaciones</a:t>
            </a:r>
            <a:endParaRPr lang="en-US" sz="3000" dirty="0"/>
          </a:p>
        </p:txBody>
      </p:sp>
      <p:sp>
        <p:nvSpPr>
          <p:cNvPr id="4" name="Text 2"/>
          <p:cNvSpPr/>
          <p:nvPr/>
        </p:nvSpPr>
        <p:spPr>
          <a:xfrm>
            <a:off x="457200" y="1554480"/>
            <a:ext cx="5486400" cy="45720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Clasificación de riesgo (Reglamento de la Ley N.º 31814, Perú)</a:t>
            </a:r>
            <a:endParaRPr lang="en-US" sz="1450" dirty="0"/>
          </a:p>
        </p:txBody>
      </p:sp>
      <p:sp>
        <p:nvSpPr>
          <p:cNvPr id="5" name="Shape 3"/>
          <p:cNvSpPr/>
          <p:nvPr/>
        </p:nvSpPr>
        <p:spPr>
          <a:xfrm>
            <a:off x="457200" y="2103120"/>
            <a:ext cx="109728" cy="960120"/>
          </a:xfrm>
          <a:prstGeom prst="rect">
            <a:avLst/>
          </a:prstGeom>
          <a:solidFill>
            <a:srgbClr val="A63A3A"/>
          </a:solidFill>
          <a:ln/>
        </p:spPr>
      </p:sp>
      <p:sp>
        <p:nvSpPr>
          <p:cNvPr id="6" name="Text 4"/>
          <p:cNvSpPr/>
          <p:nvPr/>
        </p:nvSpPr>
        <p:spPr>
          <a:xfrm>
            <a:off x="685800" y="2057400"/>
            <a:ext cx="5212080" cy="365760"/>
          </a:xfrm>
          <a:prstGeom prst="rect">
            <a:avLst/>
          </a:prstGeom>
          <a:noFill/>
          <a:ln/>
        </p:spPr>
        <p:txBody>
          <a:bodyPr wrap="square" rtlCol="0" anchor="ctr"/>
          <a:lstStyle/>
          <a:p>
            <a:pPr marL="0" indent="0">
              <a:buNone/>
            </a:pPr>
            <a:r>
              <a:rPr lang="en-US" sz="1350" b="1" dirty="0">
                <a:solidFill>
                  <a:srgbClr val="2B2F3A"/>
                </a:solidFill>
                <a:latin typeface="Calibri" pitchFamily="34" charset="0"/>
                <a:ea typeface="Calibri" pitchFamily="34" charset="-122"/>
                <a:cs typeface="Calibri" pitchFamily="34" charset="-120"/>
              </a:rPr>
              <a:t>Uso indebido (prohibido)</a:t>
            </a:r>
            <a:endParaRPr lang="en-US" sz="1350" dirty="0"/>
          </a:p>
        </p:txBody>
      </p:sp>
      <p:sp>
        <p:nvSpPr>
          <p:cNvPr id="7" name="Text 5"/>
          <p:cNvSpPr/>
          <p:nvPr/>
        </p:nvSpPr>
        <p:spPr>
          <a:xfrm>
            <a:off x="685800" y="2395728"/>
            <a:ext cx="5212080" cy="594360"/>
          </a:xfrm>
          <a:prstGeom prst="rect">
            <a:avLst/>
          </a:prstGeom>
          <a:noFill/>
          <a:ln/>
        </p:spPr>
        <p:txBody>
          <a:bodyPr wrap="square" rtlCol="0" anchor="ctr"/>
          <a:lstStyle/>
          <a:p>
            <a:pPr marL="0" indent="0">
              <a:lnSpc>
                <a:spcPts val="1450"/>
              </a:lnSpc>
              <a:buNone/>
            </a:pPr>
            <a:r>
              <a:rPr lang="en-US" sz="1150" dirty="0">
                <a:solidFill>
                  <a:srgbClr val="6B7280"/>
                </a:solidFill>
                <a:latin typeface="Calibri" pitchFamily="34" charset="0"/>
                <a:ea typeface="Calibri" pitchFamily="34" charset="-122"/>
                <a:cs typeface="Calibri" pitchFamily="34" charset="-120"/>
              </a:rPr>
              <a:t>Ej.: inferir origen racial a partir de datos biométricos del rostro.</a:t>
            </a:r>
            <a:endParaRPr lang="en-US" sz="1150" dirty="0"/>
          </a:p>
        </p:txBody>
      </p:sp>
      <p:sp>
        <p:nvSpPr>
          <p:cNvPr id="8" name="Shape 6"/>
          <p:cNvSpPr/>
          <p:nvPr/>
        </p:nvSpPr>
        <p:spPr>
          <a:xfrm>
            <a:off x="457200" y="3246120"/>
            <a:ext cx="109728" cy="960120"/>
          </a:xfrm>
          <a:prstGeom prst="rect">
            <a:avLst/>
          </a:prstGeom>
          <a:solidFill>
            <a:srgbClr val="C68A1B"/>
          </a:solidFill>
          <a:ln/>
        </p:spPr>
      </p:sp>
      <p:sp>
        <p:nvSpPr>
          <p:cNvPr id="9" name="Text 7"/>
          <p:cNvSpPr/>
          <p:nvPr/>
        </p:nvSpPr>
        <p:spPr>
          <a:xfrm>
            <a:off x="685800" y="3200400"/>
            <a:ext cx="5212080" cy="365760"/>
          </a:xfrm>
          <a:prstGeom prst="rect">
            <a:avLst/>
          </a:prstGeom>
          <a:noFill/>
          <a:ln/>
        </p:spPr>
        <p:txBody>
          <a:bodyPr wrap="square" rtlCol="0" anchor="ctr"/>
          <a:lstStyle/>
          <a:p>
            <a:pPr marL="0" indent="0">
              <a:buNone/>
            </a:pPr>
            <a:r>
              <a:rPr lang="en-US" sz="1350" b="1" dirty="0">
                <a:solidFill>
                  <a:srgbClr val="2B2F3A"/>
                </a:solidFill>
                <a:latin typeface="Calibri" pitchFamily="34" charset="0"/>
                <a:ea typeface="Calibri" pitchFamily="34" charset="-122"/>
                <a:cs typeface="Calibri" pitchFamily="34" charset="-120"/>
              </a:rPr>
              <a:t>Alto riesgo</a:t>
            </a:r>
            <a:endParaRPr lang="en-US" sz="1350" dirty="0"/>
          </a:p>
        </p:txBody>
      </p:sp>
      <p:sp>
        <p:nvSpPr>
          <p:cNvPr id="10" name="Text 8"/>
          <p:cNvSpPr/>
          <p:nvPr/>
        </p:nvSpPr>
        <p:spPr>
          <a:xfrm>
            <a:off x="685800" y="3538728"/>
            <a:ext cx="5212080" cy="594360"/>
          </a:xfrm>
          <a:prstGeom prst="rect">
            <a:avLst/>
          </a:prstGeom>
          <a:noFill/>
          <a:ln/>
        </p:spPr>
        <p:txBody>
          <a:bodyPr wrap="square" rtlCol="0" anchor="ctr"/>
          <a:lstStyle/>
          <a:p>
            <a:pPr marL="0" indent="0">
              <a:lnSpc>
                <a:spcPts val="1450"/>
              </a:lnSpc>
              <a:buNone/>
            </a:pPr>
            <a:r>
              <a:rPr lang="en-US" sz="1150" dirty="0">
                <a:solidFill>
                  <a:srgbClr val="6B7280"/>
                </a:solidFill>
                <a:latin typeface="Calibri" pitchFamily="34" charset="0"/>
                <a:ea typeface="Calibri" pitchFamily="34" charset="-122"/>
                <a:cs typeface="Calibri" pitchFamily="34" charset="-120"/>
              </a:rPr>
              <a:t>Salud, educación, justicia, seguridad, finanzas: exige supervisión humana.</a:t>
            </a:r>
            <a:endParaRPr lang="en-US" sz="1150" dirty="0"/>
          </a:p>
        </p:txBody>
      </p:sp>
      <p:sp>
        <p:nvSpPr>
          <p:cNvPr id="11" name="Shape 9"/>
          <p:cNvSpPr/>
          <p:nvPr/>
        </p:nvSpPr>
        <p:spPr>
          <a:xfrm>
            <a:off x="457200" y="4389120"/>
            <a:ext cx="109728" cy="960120"/>
          </a:xfrm>
          <a:prstGeom prst="rect">
            <a:avLst/>
          </a:prstGeom>
          <a:solidFill>
            <a:srgbClr val="3F6B3F"/>
          </a:solidFill>
          <a:ln/>
        </p:spPr>
      </p:sp>
      <p:sp>
        <p:nvSpPr>
          <p:cNvPr id="12" name="Text 10"/>
          <p:cNvSpPr/>
          <p:nvPr/>
        </p:nvSpPr>
        <p:spPr>
          <a:xfrm>
            <a:off x="685800" y="4343400"/>
            <a:ext cx="5212080" cy="365760"/>
          </a:xfrm>
          <a:prstGeom prst="rect">
            <a:avLst/>
          </a:prstGeom>
          <a:noFill/>
          <a:ln/>
        </p:spPr>
        <p:txBody>
          <a:bodyPr wrap="square" rtlCol="0" anchor="ctr"/>
          <a:lstStyle/>
          <a:p>
            <a:pPr marL="0" indent="0">
              <a:buNone/>
            </a:pPr>
            <a:r>
              <a:rPr lang="en-US" sz="1350" b="1" dirty="0">
                <a:solidFill>
                  <a:srgbClr val="2B2F3A"/>
                </a:solidFill>
                <a:latin typeface="Calibri" pitchFamily="34" charset="0"/>
                <a:ea typeface="Calibri" pitchFamily="34" charset="-122"/>
                <a:cs typeface="Calibri" pitchFamily="34" charset="-120"/>
              </a:rPr>
              <a:t>Riesgo limitado / mínimo</a:t>
            </a:r>
            <a:endParaRPr lang="en-US" sz="1350" dirty="0"/>
          </a:p>
        </p:txBody>
      </p:sp>
      <p:sp>
        <p:nvSpPr>
          <p:cNvPr id="13" name="Text 11"/>
          <p:cNvSpPr/>
          <p:nvPr/>
        </p:nvSpPr>
        <p:spPr>
          <a:xfrm>
            <a:off x="685800" y="4681728"/>
            <a:ext cx="5212080" cy="594360"/>
          </a:xfrm>
          <a:prstGeom prst="rect">
            <a:avLst/>
          </a:prstGeom>
          <a:noFill/>
          <a:ln/>
        </p:spPr>
        <p:txBody>
          <a:bodyPr wrap="square" rtlCol="0" anchor="ctr"/>
          <a:lstStyle/>
          <a:p>
            <a:pPr marL="0" indent="0">
              <a:lnSpc>
                <a:spcPts val="1450"/>
              </a:lnSpc>
              <a:buNone/>
            </a:pPr>
            <a:r>
              <a:rPr lang="en-US" sz="1150" dirty="0">
                <a:solidFill>
                  <a:srgbClr val="6B7280"/>
                </a:solidFill>
                <a:latin typeface="Calibri" pitchFamily="34" charset="0"/>
                <a:ea typeface="Calibri" pitchFamily="34" charset="-122"/>
                <a:cs typeface="Calibri" pitchFamily="34" charset="-120"/>
              </a:rPr>
              <a:t>Chatbots, recomendadores y otras aplicaciones de uso general.</a:t>
            </a:r>
            <a:endParaRPr lang="en-US" sz="1150" dirty="0"/>
          </a:p>
        </p:txBody>
      </p:sp>
      <p:sp>
        <p:nvSpPr>
          <p:cNvPr id="14" name="Shape 12"/>
          <p:cNvSpPr/>
          <p:nvPr/>
        </p:nvSpPr>
        <p:spPr>
          <a:xfrm>
            <a:off x="6263640" y="1554480"/>
            <a:ext cx="5440680" cy="3977640"/>
          </a:xfrm>
          <a:prstGeom prst="roundRect">
            <a:avLst>
              <a:gd name="adj" fmla="val 2759"/>
            </a:avLst>
          </a:prstGeom>
          <a:solidFill>
            <a:srgbClr val="1E2761"/>
          </a:solidFill>
          <a:ln/>
        </p:spPr>
      </p:sp>
      <p:sp>
        <p:nvSpPr>
          <p:cNvPr id="15" name="Shape 13"/>
          <p:cNvSpPr/>
          <p:nvPr/>
        </p:nvSpPr>
        <p:spPr>
          <a:xfrm>
            <a:off x="6583680" y="1828800"/>
            <a:ext cx="548640" cy="548640"/>
          </a:xfrm>
          <a:prstGeom prst="ellipse">
            <a:avLst/>
          </a:prstGeom>
          <a:solidFill>
            <a:srgbClr val="2A3A7A"/>
          </a:solidFill>
          <a:ln/>
        </p:spPr>
      </p:sp>
      <p:pic>
        <p:nvPicPr>
          <p:cNvPr id="16" name="Image 0" descr="icon_gavel_FFFFFF.png"/>
          <p:cNvPicPr>
            <a:picLocks noChangeAspect="1"/>
          </p:cNvPicPr>
          <p:nvPr/>
        </p:nvPicPr>
        <p:blipFill>
          <a:blip r:embed="rId3"/>
          <a:stretch>
            <a:fillRect/>
          </a:stretch>
        </p:blipFill>
        <p:spPr>
          <a:xfrm>
            <a:off x="6687922" y="1933042"/>
            <a:ext cx="340157" cy="340157"/>
          </a:xfrm>
          <a:prstGeom prst="rect">
            <a:avLst/>
          </a:prstGeom>
        </p:spPr>
      </p:pic>
      <p:sp>
        <p:nvSpPr>
          <p:cNvPr id="17" name="Text 14"/>
          <p:cNvSpPr/>
          <p:nvPr/>
        </p:nvSpPr>
        <p:spPr>
          <a:xfrm>
            <a:off x="6583680" y="2514600"/>
            <a:ext cx="4846320" cy="73152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Oficial de Datos Personales (DPO) obligatorio</a:t>
            </a:r>
            <a:endParaRPr lang="en-US" sz="1600" dirty="0"/>
          </a:p>
        </p:txBody>
      </p:sp>
      <p:sp>
        <p:nvSpPr>
          <p:cNvPr id="18" name="Text 15"/>
          <p:cNvSpPr/>
          <p:nvPr/>
        </p:nvSpPr>
        <p:spPr>
          <a:xfrm>
            <a:off x="6583680" y="3291840"/>
            <a:ext cx="4846320" cy="960120"/>
          </a:xfrm>
          <a:prstGeom prst="rect">
            <a:avLst/>
          </a:prstGeom>
          <a:noFill/>
          <a:ln/>
        </p:spPr>
        <p:txBody>
          <a:bodyPr wrap="square" rtlCol="0" anchor="ctr"/>
          <a:lstStyle/>
          <a:p>
            <a:pPr marL="0" indent="0">
              <a:lnSpc>
                <a:spcPts val="1600"/>
              </a:lnSpc>
              <a:buNone/>
            </a:pPr>
            <a:r>
              <a:rPr lang="en-US" sz="1250" dirty="0">
                <a:solidFill>
                  <a:srgbClr val="CADCFC"/>
                </a:solidFill>
                <a:latin typeface="Calibri" pitchFamily="34" charset="0"/>
                <a:ea typeface="Calibri" pitchFamily="34" charset="-122"/>
                <a:cs typeface="Calibri" pitchFamily="34" charset="-120"/>
              </a:rPr>
              <a:t>Desde el 30 de noviembre de 2025, las grandes empresas peruanas deben designar un Oficial de Datos Personales, conforme al Reglamento de la Ley N.º 29733.</a:t>
            </a:r>
            <a:endParaRPr lang="en-US" sz="1250" dirty="0"/>
          </a:p>
        </p:txBody>
      </p:sp>
      <p:sp>
        <p:nvSpPr>
          <p:cNvPr id="19" name="Shape 16"/>
          <p:cNvSpPr/>
          <p:nvPr/>
        </p:nvSpPr>
        <p:spPr>
          <a:xfrm>
            <a:off x="6583680" y="4389120"/>
            <a:ext cx="4800600" cy="0"/>
          </a:xfrm>
          <a:prstGeom prst="line">
            <a:avLst/>
          </a:prstGeom>
          <a:noFill/>
          <a:ln w="12700">
            <a:solidFill>
              <a:srgbClr val="445190"/>
            </a:solidFill>
            <a:prstDash val="solid"/>
          </a:ln>
        </p:spPr>
      </p:sp>
      <p:sp>
        <p:nvSpPr>
          <p:cNvPr id="20" name="Text 17"/>
          <p:cNvSpPr/>
          <p:nvPr/>
        </p:nvSpPr>
        <p:spPr>
          <a:xfrm>
            <a:off x="6583680" y="4553712"/>
            <a:ext cx="4846320" cy="914400"/>
          </a:xfrm>
          <a:prstGeom prst="rect">
            <a:avLst/>
          </a:prstGeom>
          <a:noFill/>
          <a:ln/>
        </p:spPr>
        <p:txBody>
          <a:bodyPr wrap="square" rtlCol="0" anchor="ctr"/>
          <a:lstStyle/>
          <a:p>
            <a:pPr marL="0" indent="0">
              <a:lnSpc>
                <a:spcPts val="1650"/>
              </a:lnSpc>
              <a:buNone/>
            </a:pPr>
            <a:r>
              <a:rPr lang="en-US" sz="1200" b="1" dirty="0">
                <a:solidFill>
                  <a:srgbClr val="FFFFFF"/>
                </a:solidFill>
                <a:latin typeface="Calibri" pitchFamily="34" charset="0"/>
                <a:ea typeface="Calibri" pitchFamily="34" charset="-122"/>
                <a:cs typeface="Calibri" pitchFamily="34" charset="-120"/>
              </a:rPr>
              <a:t>Multas: </a:t>
            </a:r>
            <a:r>
              <a:rPr lang="en-US" sz="1200" dirty="0">
                <a:solidFill>
                  <a:srgbClr val="CADCFC"/>
                </a:solidFill>
                <a:latin typeface="Calibri" pitchFamily="34" charset="0"/>
                <a:ea typeface="Calibri" pitchFamily="34" charset="-122"/>
                <a:cs typeface="Calibri" pitchFamily="34" charset="-120"/>
              </a:rPr>
              <a:t>de 5 UIT (S/ 26,750) por infracción leve hasta 100 UIT (S/ 535,000) por infracciones graves y muy graves.</a:t>
            </a:r>
            <a:endParaRPr lang="en-US" sz="1200" dirty="0"/>
          </a:p>
        </p:txBody>
      </p:sp>
      <p:sp>
        <p:nvSpPr>
          <p:cNvPr id="21" name="Text 18"/>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IA, privacidad y protección de datos personales</a:t>
            </a:r>
            <a:endParaRPr lang="en-US" sz="900" dirty="0"/>
          </a:p>
        </p:txBody>
      </p:sp>
      <p:sp>
        <p:nvSpPr>
          <p:cNvPr id="22" name="Text 19"/>
          <p:cNvSpPr/>
          <p:nvPr/>
        </p:nvSpPr>
        <p:spPr>
          <a:xfrm>
            <a:off x="10972800" y="6519672"/>
            <a:ext cx="73152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9144000" cy="320040"/>
          </a:xfrm>
          <a:prstGeom prst="rect">
            <a:avLst/>
          </a:prstGeom>
          <a:noFill/>
          <a:ln/>
        </p:spPr>
        <p:txBody>
          <a:bodyPr wrap="square" rtlCol="0" anchor="ctr"/>
          <a:lstStyle/>
          <a:p>
            <a:pPr marL="0" indent="0">
              <a:buNone/>
            </a:pPr>
            <a:r>
              <a:rPr lang="en-US" sz="1300" b="1" kern="0" spc="200" dirty="0">
                <a:solidFill>
                  <a:srgbClr val="A63A3A"/>
                </a:solidFill>
                <a:latin typeface="Calibri" pitchFamily="34" charset="0"/>
                <a:ea typeface="Calibri" pitchFamily="34" charset="-122"/>
                <a:cs typeface="Calibri" pitchFamily="34" charset="-120"/>
              </a:rPr>
              <a:t>04 · CASO ACTUAL</a:t>
            </a:r>
            <a:endParaRPr lang="en-US" sz="1300" dirty="0"/>
          </a:p>
        </p:txBody>
      </p:sp>
      <p:sp>
        <p:nvSpPr>
          <p:cNvPr id="3" name="Text 1"/>
          <p:cNvSpPr/>
          <p:nvPr/>
        </p:nvSpPr>
        <p:spPr>
          <a:xfrm>
            <a:off x="457200" y="658368"/>
            <a:ext cx="11247120" cy="685800"/>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Perú se suma a la alerta mundial sobre imágenes con IA</a:t>
            </a:r>
            <a:endParaRPr lang="en-US" sz="2600" dirty="0"/>
          </a:p>
        </p:txBody>
      </p:sp>
      <p:sp>
        <p:nvSpPr>
          <p:cNvPr id="4" name="Shape 2"/>
          <p:cNvSpPr/>
          <p:nvPr/>
        </p:nvSpPr>
        <p:spPr>
          <a:xfrm>
            <a:off x="457200" y="1600200"/>
            <a:ext cx="6766560" cy="3977640"/>
          </a:xfrm>
          <a:prstGeom prst="roundRect">
            <a:avLst>
              <a:gd name="adj" fmla="val 2759"/>
            </a:avLst>
          </a:prstGeom>
          <a:solidFill>
            <a:srgbClr val="F3F6FC"/>
          </a:solidFill>
          <a:ln/>
        </p:spPr>
      </p:sp>
      <p:sp>
        <p:nvSpPr>
          <p:cNvPr id="5" name="Shape 3"/>
          <p:cNvSpPr/>
          <p:nvPr/>
        </p:nvSpPr>
        <p:spPr>
          <a:xfrm>
            <a:off x="749808" y="1874520"/>
            <a:ext cx="548640" cy="548640"/>
          </a:xfrm>
          <a:prstGeom prst="ellipse">
            <a:avLst/>
          </a:prstGeom>
          <a:solidFill>
            <a:srgbClr val="A63A3A"/>
          </a:solidFill>
          <a:ln/>
        </p:spPr>
      </p:sp>
      <p:pic>
        <p:nvPicPr>
          <p:cNvPr id="6" name="Image 0" descr="icon_alert_FFFFFF.png"/>
          <p:cNvPicPr>
            <a:picLocks noChangeAspect="1"/>
          </p:cNvPicPr>
          <p:nvPr/>
        </p:nvPicPr>
        <p:blipFill>
          <a:blip r:embed="rId3"/>
          <a:stretch>
            <a:fillRect/>
          </a:stretch>
        </p:blipFill>
        <p:spPr>
          <a:xfrm>
            <a:off x="854050" y="1978762"/>
            <a:ext cx="340157" cy="340157"/>
          </a:xfrm>
          <a:prstGeom prst="rect">
            <a:avLst/>
          </a:prstGeom>
        </p:spPr>
      </p:pic>
      <p:sp>
        <p:nvSpPr>
          <p:cNvPr id="7" name="Text 4"/>
          <p:cNvSpPr/>
          <p:nvPr/>
        </p:nvSpPr>
        <p:spPr>
          <a:xfrm>
            <a:off x="1463040" y="1901952"/>
            <a:ext cx="5486400" cy="457200"/>
          </a:xfrm>
          <a:prstGeom prst="rect">
            <a:avLst/>
          </a:prstGeom>
          <a:noFill/>
          <a:ln/>
        </p:spPr>
        <p:txBody>
          <a:bodyPr wrap="square" rtlCol="0" anchor="ctr"/>
          <a:lstStyle/>
          <a:p>
            <a:pPr marL="0" indent="0">
              <a:buNone/>
            </a:pPr>
            <a:r>
              <a:rPr lang="en-US" sz="1150" b="1" dirty="0">
                <a:solidFill>
                  <a:srgbClr val="A63A3A"/>
                </a:solidFill>
                <a:latin typeface="Calibri" pitchFamily="34" charset="0"/>
                <a:ea typeface="Calibri" pitchFamily="34" charset="-122"/>
                <a:cs typeface="Calibri" pitchFamily="34" charset="-120"/>
              </a:rPr>
              <a:t>Febrero 2026 — El Peruano (Diario Oficial)</a:t>
            </a:r>
            <a:endParaRPr lang="en-US" sz="1150" dirty="0"/>
          </a:p>
        </p:txBody>
      </p:sp>
      <p:sp>
        <p:nvSpPr>
          <p:cNvPr id="8" name="Text 5"/>
          <p:cNvSpPr/>
          <p:nvPr/>
        </p:nvSpPr>
        <p:spPr>
          <a:xfrm>
            <a:off x="731520" y="2423160"/>
            <a:ext cx="6217920" cy="1463040"/>
          </a:xfrm>
          <a:prstGeom prst="rect">
            <a:avLst/>
          </a:prstGeom>
          <a:noFill/>
          <a:ln/>
        </p:spPr>
        <p:txBody>
          <a:bodyPr wrap="square" rtlCol="0" anchor="ctr"/>
          <a:lstStyle/>
          <a:p>
            <a:pPr marL="0" indent="0">
              <a:lnSpc>
                <a:spcPts val="1800"/>
              </a:lnSpc>
              <a:buNone/>
            </a:pPr>
            <a:r>
              <a:rPr lang="en-US" sz="1300" dirty="0">
                <a:solidFill>
                  <a:srgbClr val="2B2F3A"/>
                </a:solidFill>
                <a:latin typeface="Calibri" pitchFamily="34" charset="0"/>
                <a:ea typeface="Calibri" pitchFamily="34" charset="-122"/>
                <a:cs typeface="Calibri" pitchFamily="34" charset="-120"/>
              </a:rPr>
              <a:t>La Autoridad Nacional de Protección de Datos Personales (ANPD) del Perú se sumó a una declaración conjunta de 61 autoridades de protección de datos del mundo, coordinada por la Asamblea Global de Privacidad, que alerta sobre los riesgos de las imágenes y videos hiperrealistas generados con IA que representan a personas identificables sin su conocimiento ni consentimiento.</a:t>
            </a:r>
            <a:endParaRPr lang="en-US" sz="1300" dirty="0"/>
          </a:p>
        </p:txBody>
      </p:sp>
      <p:sp>
        <p:nvSpPr>
          <p:cNvPr id="9" name="Text 6"/>
          <p:cNvSpPr/>
          <p:nvPr/>
        </p:nvSpPr>
        <p:spPr>
          <a:xfrm>
            <a:off x="731520" y="3886200"/>
            <a:ext cx="6035040" cy="32004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La declaración pide a las empresas de IA:</a:t>
            </a:r>
            <a:endParaRPr lang="en-US" sz="1250" dirty="0"/>
          </a:p>
        </p:txBody>
      </p:sp>
      <p:sp>
        <p:nvSpPr>
          <p:cNvPr id="10" name="Text 7"/>
          <p:cNvSpPr/>
          <p:nvPr/>
        </p:nvSpPr>
        <p:spPr>
          <a:xfrm>
            <a:off x="731520" y="4251960"/>
            <a:ext cx="6309360" cy="1234440"/>
          </a:xfrm>
          <a:prstGeom prst="rect">
            <a:avLst/>
          </a:prstGeom>
          <a:noFill/>
          <a:ln/>
        </p:spPr>
        <p:txBody>
          <a:bodyPr wrap="square" rtlCol="0" anchor="ctr"/>
          <a:lstStyle/>
          <a:p>
            <a:pPr marL="342900" indent="-342900">
              <a:lnSpc>
                <a:spcPts val="1700"/>
              </a:lnSpc>
              <a:spcAft>
                <a:spcPts val="400"/>
              </a:spcAft>
              <a:buSzPct val="100000"/>
              <a:buChar char="•"/>
            </a:pPr>
            <a:r>
              <a:rPr lang="en-US" sz="1200" dirty="0">
                <a:solidFill>
                  <a:srgbClr val="2B2F3A"/>
                </a:solidFill>
                <a:latin typeface="Calibri" pitchFamily="34" charset="0"/>
                <a:ea typeface="Calibri" pitchFamily="34" charset="-122"/>
                <a:cs typeface="Calibri" pitchFamily="34" charset="-120"/>
              </a:rPr>
              <a:t>Medidas de seguridad contra imágenes íntimas no consentidas</a:t>
            </a:r>
            <a:endParaRPr lang="en-US" sz="1200" dirty="0"/>
          </a:p>
          <a:p>
            <a:pPr marL="342900" indent="-342900">
              <a:lnSpc>
                <a:spcPts val="1700"/>
              </a:lnSpc>
              <a:spcAft>
                <a:spcPts val="400"/>
              </a:spcAft>
              <a:buSzPct val="100000"/>
              <a:buChar char="•"/>
            </a:pPr>
            <a:r>
              <a:rPr lang="en-US" sz="1200" dirty="0">
                <a:solidFill>
                  <a:srgbClr val="2B2F3A"/>
                </a:solidFill>
                <a:latin typeface="Calibri" pitchFamily="34" charset="0"/>
                <a:ea typeface="Calibri" pitchFamily="34" charset="-122"/>
                <a:cs typeface="Calibri" pitchFamily="34" charset="-120"/>
              </a:rPr>
              <a:t>Transparencia real sobre capacidades y usos indebidos</a:t>
            </a:r>
            <a:endParaRPr lang="en-US" sz="1200" dirty="0"/>
          </a:p>
          <a:p>
            <a:pPr marL="342900" indent="-342900">
              <a:lnSpc>
                <a:spcPts val="1700"/>
              </a:lnSpc>
              <a:spcAft>
                <a:spcPts val="400"/>
              </a:spcAft>
              <a:buSzPct val="100000"/>
              <a:buChar char="•"/>
            </a:pPr>
            <a:r>
              <a:rPr lang="en-US" sz="1200" dirty="0">
                <a:solidFill>
                  <a:srgbClr val="2B2F3A"/>
                </a:solidFill>
                <a:latin typeface="Calibri" pitchFamily="34" charset="0"/>
                <a:ea typeface="Calibri" pitchFamily="34" charset="-122"/>
                <a:cs typeface="Calibri" pitchFamily="34" charset="-120"/>
              </a:rPr>
              <a:t>Mecanismos ágiles para eliminar contenido dañino</a:t>
            </a:r>
            <a:endParaRPr lang="en-US" sz="1200" dirty="0"/>
          </a:p>
          <a:p>
            <a:pPr marL="342900" indent="-342900">
              <a:lnSpc>
                <a:spcPts val="1700"/>
              </a:lnSpc>
              <a:spcAft>
                <a:spcPts val="400"/>
              </a:spcAft>
              <a:buSzPct val="100000"/>
              <a:buChar char="•"/>
            </a:pPr>
            <a:r>
              <a:rPr lang="en-US" sz="1200" dirty="0">
                <a:solidFill>
                  <a:srgbClr val="2B2F3A"/>
                </a:solidFill>
                <a:latin typeface="Calibri" pitchFamily="34" charset="0"/>
                <a:ea typeface="Calibri" pitchFamily="34" charset="-122"/>
                <a:cs typeface="Calibri" pitchFamily="34" charset="-120"/>
              </a:rPr>
              <a:t>Protección reforzada para niñas, niños y adolescentes</a:t>
            </a:r>
            <a:endParaRPr lang="en-US" sz="1200" dirty="0"/>
          </a:p>
        </p:txBody>
      </p:sp>
      <p:sp>
        <p:nvSpPr>
          <p:cNvPr id="11" name="Shape 8"/>
          <p:cNvSpPr/>
          <p:nvPr/>
        </p:nvSpPr>
        <p:spPr>
          <a:xfrm>
            <a:off x="7452360" y="1600200"/>
            <a:ext cx="4251960" cy="3977640"/>
          </a:xfrm>
          <a:prstGeom prst="roundRect">
            <a:avLst>
              <a:gd name="adj" fmla="val 2759"/>
            </a:avLst>
          </a:prstGeom>
          <a:solidFill>
            <a:srgbClr val="1E2761"/>
          </a:solidFill>
          <a:ln/>
        </p:spPr>
      </p:sp>
      <p:sp>
        <p:nvSpPr>
          <p:cNvPr id="12" name="Shape 9"/>
          <p:cNvSpPr/>
          <p:nvPr/>
        </p:nvSpPr>
        <p:spPr>
          <a:xfrm>
            <a:off x="7744968" y="1874520"/>
            <a:ext cx="502920" cy="502920"/>
          </a:xfrm>
          <a:prstGeom prst="ellipse">
            <a:avLst/>
          </a:prstGeom>
          <a:solidFill>
            <a:srgbClr val="2A3A7A"/>
          </a:solidFill>
          <a:ln/>
        </p:spPr>
      </p:sp>
      <p:pic>
        <p:nvPicPr>
          <p:cNvPr id="13" name="Image 1" descr="icon_globe_FFFFFF.png"/>
          <p:cNvPicPr>
            <a:picLocks noChangeAspect="1"/>
          </p:cNvPicPr>
          <p:nvPr/>
        </p:nvPicPr>
        <p:blipFill>
          <a:blip r:embed="rId4"/>
          <a:stretch>
            <a:fillRect/>
          </a:stretch>
        </p:blipFill>
        <p:spPr>
          <a:xfrm>
            <a:off x="7840523" y="1970075"/>
            <a:ext cx="311810" cy="311810"/>
          </a:xfrm>
          <a:prstGeom prst="rect">
            <a:avLst/>
          </a:prstGeom>
        </p:spPr>
      </p:pic>
      <p:sp>
        <p:nvSpPr>
          <p:cNvPr id="14" name="Text 10"/>
          <p:cNvSpPr/>
          <p:nvPr/>
        </p:nvSpPr>
        <p:spPr>
          <a:xfrm>
            <a:off x="7744968" y="2514600"/>
            <a:ext cx="3703320" cy="640080"/>
          </a:xfrm>
          <a:prstGeom prst="rect">
            <a:avLst/>
          </a:prstGeom>
          <a:noFill/>
          <a:ln/>
        </p:spPr>
        <p:txBody>
          <a:bodyPr wrap="square"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En el mundo, la fiscalización también avanza</a:t>
            </a:r>
            <a:endParaRPr lang="en-US" sz="1450" dirty="0"/>
          </a:p>
        </p:txBody>
      </p:sp>
      <p:sp>
        <p:nvSpPr>
          <p:cNvPr id="15" name="Text 11"/>
          <p:cNvSpPr/>
          <p:nvPr/>
        </p:nvSpPr>
        <p:spPr>
          <a:xfrm>
            <a:off x="7744968" y="3246120"/>
            <a:ext cx="3749040" cy="2194560"/>
          </a:xfrm>
          <a:prstGeom prst="rect">
            <a:avLst/>
          </a:prstGeom>
          <a:noFill/>
          <a:ln/>
        </p:spPr>
        <p:txBody>
          <a:bodyPr wrap="square" rtlCol="0" anchor="ctr"/>
          <a:lstStyle/>
          <a:p>
            <a:pPr marL="342900" indent="-342900">
              <a:lnSpc>
                <a:spcPts val="1600"/>
              </a:lnSpc>
              <a:spcAft>
                <a:spcPts val="800"/>
              </a:spcAft>
              <a:buSzPct val="100000"/>
              <a:buChar char="•"/>
            </a:pPr>
            <a:r>
              <a:rPr lang="en-US" sz="1150" dirty="0">
                <a:solidFill>
                  <a:srgbClr val="CADCFC"/>
                </a:solidFill>
                <a:latin typeface="Calibri" pitchFamily="34" charset="0"/>
                <a:ea typeface="Calibri" pitchFamily="34" charset="-122"/>
                <a:cs typeface="Calibri" pitchFamily="34" charset="-120"/>
              </a:rPr>
              <a:t>Meta: 1,400 M USD por recolección de datos biométricos</a:t>
            </a:r>
            <a:endParaRPr lang="en-US" sz="1150" dirty="0"/>
          </a:p>
          <a:p>
            <a:pPr marL="342900" indent="-342900">
              <a:lnSpc>
                <a:spcPts val="1600"/>
              </a:lnSpc>
              <a:spcAft>
                <a:spcPts val="800"/>
              </a:spcAft>
              <a:buSzPct val="100000"/>
              <a:buChar char="•"/>
            </a:pPr>
            <a:r>
              <a:rPr lang="en-US" sz="1150" dirty="0">
                <a:solidFill>
                  <a:srgbClr val="CADCFC"/>
                </a:solidFill>
                <a:latin typeface="Calibri" pitchFamily="34" charset="0"/>
                <a:ea typeface="Calibri" pitchFamily="34" charset="-122"/>
                <a:cs typeface="Calibri" pitchFamily="34" charset="-120"/>
              </a:rPr>
              <a:t>Clearview AI: sancionada en Reino Unido por raspar 20,000 M de fotos sin consentimiento</a:t>
            </a:r>
            <a:endParaRPr lang="en-US" sz="1150" dirty="0"/>
          </a:p>
          <a:p>
            <a:pPr marL="342900" indent="-342900">
              <a:lnSpc>
                <a:spcPts val="1600"/>
              </a:lnSpc>
              <a:spcAft>
                <a:spcPts val="800"/>
              </a:spcAft>
              <a:buSzPct val="100000"/>
              <a:buChar char="•"/>
            </a:pPr>
            <a:r>
              <a:rPr lang="en-US" sz="1150" dirty="0">
                <a:solidFill>
                  <a:srgbClr val="CADCFC"/>
                </a:solidFill>
                <a:latin typeface="Calibri" pitchFamily="34" charset="0"/>
                <a:ea typeface="Calibri" pitchFamily="34" charset="-122"/>
                <a:cs typeface="Calibri" pitchFamily="34" charset="-120"/>
              </a:rPr>
              <a:t>Anthropic: 1,500 M USD de acuerdo por uso de libros protegidos para entrenar IA</a:t>
            </a:r>
            <a:endParaRPr lang="en-US" sz="1150" dirty="0"/>
          </a:p>
        </p:txBody>
      </p:sp>
      <p:sp>
        <p:nvSpPr>
          <p:cNvPr id="16" name="Text 12"/>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IA, privacidad y protección de datos personales</a:t>
            </a:r>
            <a:endParaRPr lang="en-US" sz="900" dirty="0"/>
          </a:p>
        </p:txBody>
      </p:sp>
      <p:sp>
        <p:nvSpPr>
          <p:cNvPr id="17" name="Text 13"/>
          <p:cNvSpPr/>
          <p:nvPr/>
        </p:nvSpPr>
        <p:spPr>
          <a:xfrm>
            <a:off x="10972800" y="6519672"/>
            <a:ext cx="73152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9144000" cy="320040"/>
          </a:xfrm>
          <a:prstGeom prst="rect">
            <a:avLst/>
          </a:prstGeom>
          <a:noFill/>
          <a:ln/>
        </p:spPr>
        <p:txBody>
          <a:bodyPr wrap="square" rtlCol="0" anchor="ctr"/>
          <a:lstStyle/>
          <a:p>
            <a:pPr marL="0" indent="0">
              <a:buNone/>
            </a:pPr>
            <a:r>
              <a:rPr lang="en-US" sz="1300" b="1" kern="0" spc="200" dirty="0">
                <a:solidFill>
                  <a:srgbClr val="3F6B3F"/>
                </a:solidFill>
                <a:latin typeface="Calibri" pitchFamily="34" charset="0"/>
                <a:ea typeface="Calibri" pitchFamily="34" charset="-122"/>
                <a:cs typeface="Calibri" pitchFamily="34" charset="-120"/>
              </a:rPr>
              <a:t>05 · BENEFICIOS Y OPORTUNIDADES</a:t>
            </a:r>
            <a:endParaRPr lang="en-US" sz="1300" dirty="0"/>
          </a:p>
        </p:txBody>
      </p:sp>
      <p:sp>
        <p:nvSpPr>
          <p:cNvPr id="3" name="Text 1"/>
          <p:cNvSpPr/>
          <p:nvPr/>
        </p:nvSpPr>
        <p:spPr>
          <a:xfrm>
            <a:off x="457200" y="658368"/>
            <a:ext cx="1124712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La IA también puede fortalecer la protección de datos</a:t>
            </a:r>
            <a:endParaRPr lang="en-US" sz="3000" dirty="0"/>
          </a:p>
        </p:txBody>
      </p:sp>
      <p:sp>
        <p:nvSpPr>
          <p:cNvPr id="4" name="Shape 2"/>
          <p:cNvSpPr/>
          <p:nvPr/>
        </p:nvSpPr>
        <p:spPr>
          <a:xfrm>
            <a:off x="457200" y="1645920"/>
            <a:ext cx="2697480" cy="3017520"/>
          </a:xfrm>
          <a:prstGeom prst="roundRect">
            <a:avLst>
              <a:gd name="adj" fmla="val 3390"/>
            </a:avLst>
          </a:prstGeom>
          <a:solidFill>
            <a:srgbClr val="EFF6EF"/>
          </a:solidFill>
          <a:ln/>
        </p:spPr>
      </p:sp>
      <p:sp>
        <p:nvSpPr>
          <p:cNvPr id="5" name="Shape 3"/>
          <p:cNvSpPr/>
          <p:nvPr/>
        </p:nvSpPr>
        <p:spPr>
          <a:xfrm>
            <a:off x="685800" y="1920240"/>
            <a:ext cx="548640" cy="548640"/>
          </a:xfrm>
          <a:prstGeom prst="ellipse">
            <a:avLst/>
          </a:prstGeom>
          <a:solidFill>
            <a:srgbClr val="FFFFFF"/>
          </a:solidFill>
          <a:ln/>
        </p:spPr>
      </p:sp>
      <p:pic>
        <p:nvPicPr>
          <p:cNvPr id="6" name="Image 0" descr="icon_shield_1E2761.png"/>
          <p:cNvPicPr>
            <a:picLocks noChangeAspect="1"/>
          </p:cNvPicPr>
          <p:nvPr/>
        </p:nvPicPr>
        <p:blipFill>
          <a:blip r:embed="rId3"/>
          <a:stretch>
            <a:fillRect/>
          </a:stretch>
        </p:blipFill>
        <p:spPr>
          <a:xfrm>
            <a:off x="790042" y="2024482"/>
            <a:ext cx="340157" cy="340157"/>
          </a:xfrm>
          <a:prstGeom prst="rect">
            <a:avLst/>
          </a:prstGeom>
        </p:spPr>
      </p:pic>
      <p:sp>
        <p:nvSpPr>
          <p:cNvPr id="7" name="Text 4"/>
          <p:cNvSpPr/>
          <p:nvPr/>
        </p:nvSpPr>
        <p:spPr>
          <a:xfrm>
            <a:off x="658368" y="2606040"/>
            <a:ext cx="2295144" cy="548640"/>
          </a:xfrm>
          <a:prstGeom prst="rect">
            <a:avLst/>
          </a:prstGeom>
          <a:noFill/>
          <a:ln/>
        </p:spPr>
        <p:txBody>
          <a:bodyPr wrap="square" rtlCol="0" anchor="ctr"/>
          <a:lstStyle/>
          <a:p>
            <a:pPr marL="0" indent="0">
              <a:buNone/>
            </a:pPr>
            <a:r>
              <a:rPr lang="en-US" sz="1450" b="1" dirty="0">
                <a:solidFill>
                  <a:srgbClr val="2E4E2E"/>
                </a:solidFill>
                <a:latin typeface="Cambria" pitchFamily="34" charset="0"/>
                <a:ea typeface="Cambria" pitchFamily="34" charset="-122"/>
                <a:cs typeface="Cambria" pitchFamily="34" charset="-120"/>
              </a:rPr>
              <a:t>Privacidad por diseño</a:t>
            </a:r>
            <a:endParaRPr lang="en-US" sz="1450" dirty="0"/>
          </a:p>
        </p:txBody>
      </p:sp>
      <p:sp>
        <p:nvSpPr>
          <p:cNvPr id="8" name="Text 5"/>
          <p:cNvSpPr/>
          <p:nvPr/>
        </p:nvSpPr>
        <p:spPr>
          <a:xfrm>
            <a:off x="658368" y="3108960"/>
            <a:ext cx="2295144" cy="1417320"/>
          </a:xfrm>
          <a:prstGeom prst="rect">
            <a:avLst/>
          </a:prstGeom>
          <a:noFill/>
          <a:ln/>
        </p:spPr>
        <p:txBody>
          <a:bodyPr wrap="square" rtlCol="0" anchor="ctr"/>
          <a:lstStyle/>
          <a:p>
            <a:pPr marL="0" indent="0">
              <a:lnSpc>
                <a:spcPts val="1500"/>
              </a:lnSpc>
              <a:buNone/>
            </a:pPr>
            <a:r>
              <a:rPr lang="en-US" sz="1130" dirty="0">
                <a:solidFill>
                  <a:srgbClr val="2B2F3A"/>
                </a:solidFill>
                <a:latin typeface="Calibri" pitchFamily="34" charset="0"/>
                <a:ea typeface="Calibri" pitchFamily="34" charset="-122"/>
                <a:cs typeface="Calibri" pitchFamily="34" charset="-120"/>
              </a:rPr>
              <a:t>Privacidad diferencial y aprendizaje federado permiten analizar patrones sin exponer datos individuales.</a:t>
            </a:r>
            <a:endParaRPr lang="en-US" sz="1130" dirty="0"/>
          </a:p>
        </p:txBody>
      </p:sp>
      <p:sp>
        <p:nvSpPr>
          <p:cNvPr id="9" name="Shape 6"/>
          <p:cNvSpPr/>
          <p:nvPr/>
        </p:nvSpPr>
        <p:spPr>
          <a:xfrm>
            <a:off x="3319272" y="1645920"/>
            <a:ext cx="2697480" cy="3017520"/>
          </a:xfrm>
          <a:prstGeom prst="roundRect">
            <a:avLst>
              <a:gd name="adj" fmla="val 3390"/>
            </a:avLst>
          </a:prstGeom>
          <a:solidFill>
            <a:srgbClr val="EFF6EF"/>
          </a:solidFill>
          <a:ln/>
        </p:spPr>
      </p:sp>
      <p:sp>
        <p:nvSpPr>
          <p:cNvPr id="10" name="Shape 7"/>
          <p:cNvSpPr/>
          <p:nvPr/>
        </p:nvSpPr>
        <p:spPr>
          <a:xfrm>
            <a:off x="3547872" y="1920240"/>
            <a:ext cx="548640" cy="548640"/>
          </a:xfrm>
          <a:prstGeom prst="ellipse">
            <a:avLst/>
          </a:prstGeom>
          <a:solidFill>
            <a:srgbClr val="FFFFFF"/>
          </a:solidFill>
          <a:ln/>
        </p:spPr>
      </p:sp>
      <p:pic>
        <p:nvPicPr>
          <p:cNvPr id="11" name="Image 1" descr="icon_trend_1E2761.png"/>
          <p:cNvPicPr>
            <a:picLocks noChangeAspect="1"/>
          </p:cNvPicPr>
          <p:nvPr/>
        </p:nvPicPr>
        <p:blipFill>
          <a:blip r:embed="rId4"/>
          <a:stretch>
            <a:fillRect/>
          </a:stretch>
        </p:blipFill>
        <p:spPr>
          <a:xfrm>
            <a:off x="3652114" y="2024482"/>
            <a:ext cx="340157" cy="340157"/>
          </a:xfrm>
          <a:prstGeom prst="rect">
            <a:avLst/>
          </a:prstGeom>
        </p:spPr>
      </p:pic>
      <p:sp>
        <p:nvSpPr>
          <p:cNvPr id="12" name="Text 8"/>
          <p:cNvSpPr/>
          <p:nvPr/>
        </p:nvSpPr>
        <p:spPr>
          <a:xfrm>
            <a:off x="3520440" y="2606040"/>
            <a:ext cx="2295144" cy="548640"/>
          </a:xfrm>
          <a:prstGeom prst="rect">
            <a:avLst/>
          </a:prstGeom>
          <a:noFill/>
          <a:ln/>
        </p:spPr>
        <p:txBody>
          <a:bodyPr wrap="square" rtlCol="0" anchor="ctr"/>
          <a:lstStyle/>
          <a:p>
            <a:pPr marL="0" indent="0">
              <a:buNone/>
            </a:pPr>
            <a:r>
              <a:rPr lang="en-US" sz="1450" b="1" dirty="0">
                <a:solidFill>
                  <a:srgbClr val="2E4E2E"/>
                </a:solidFill>
                <a:latin typeface="Cambria" pitchFamily="34" charset="0"/>
                <a:ea typeface="Cambria" pitchFamily="34" charset="-122"/>
                <a:cs typeface="Cambria" pitchFamily="34" charset="-120"/>
              </a:rPr>
              <a:t>Servicios personalizados</a:t>
            </a:r>
            <a:endParaRPr lang="en-US" sz="1450" dirty="0"/>
          </a:p>
        </p:txBody>
      </p:sp>
      <p:sp>
        <p:nvSpPr>
          <p:cNvPr id="13" name="Text 9"/>
          <p:cNvSpPr/>
          <p:nvPr/>
        </p:nvSpPr>
        <p:spPr>
          <a:xfrm>
            <a:off x="3520440" y="3108960"/>
            <a:ext cx="2295144" cy="1417320"/>
          </a:xfrm>
          <a:prstGeom prst="rect">
            <a:avLst/>
          </a:prstGeom>
          <a:noFill/>
          <a:ln/>
        </p:spPr>
        <p:txBody>
          <a:bodyPr wrap="square" rtlCol="0" anchor="ctr"/>
          <a:lstStyle/>
          <a:p>
            <a:pPr marL="0" indent="0">
              <a:lnSpc>
                <a:spcPts val="1500"/>
              </a:lnSpc>
              <a:buNone/>
            </a:pPr>
            <a:r>
              <a:rPr lang="en-US" sz="1130" dirty="0">
                <a:solidFill>
                  <a:srgbClr val="2B2F3A"/>
                </a:solidFill>
                <a:latin typeface="Calibri" pitchFamily="34" charset="0"/>
                <a:ea typeface="Calibri" pitchFamily="34" charset="-122"/>
                <a:cs typeface="Calibri" pitchFamily="34" charset="-120"/>
              </a:rPr>
              <a:t>Salud, educación y finanzas más accesibles y ajustadas a necesidades reales de cada persona.</a:t>
            </a:r>
            <a:endParaRPr lang="en-US" sz="1130" dirty="0"/>
          </a:p>
        </p:txBody>
      </p:sp>
      <p:sp>
        <p:nvSpPr>
          <p:cNvPr id="14" name="Shape 10"/>
          <p:cNvSpPr/>
          <p:nvPr/>
        </p:nvSpPr>
        <p:spPr>
          <a:xfrm>
            <a:off x="6181344" y="1645920"/>
            <a:ext cx="2697480" cy="3017520"/>
          </a:xfrm>
          <a:prstGeom prst="roundRect">
            <a:avLst>
              <a:gd name="adj" fmla="val 3390"/>
            </a:avLst>
          </a:prstGeom>
          <a:solidFill>
            <a:srgbClr val="EFF6EF"/>
          </a:solidFill>
          <a:ln/>
        </p:spPr>
      </p:sp>
      <p:sp>
        <p:nvSpPr>
          <p:cNvPr id="15" name="Shape 11"/>
          <p:cNvSpPr/>
          <p:nvPr/>
        </p:nvSpPr>
        <p:spPr>
          <a:xfrm>
            <a:off x="6409944" y="1920240"/>
            <a:ext cx="548640" cy="548640"/>
          </a:xfrm>
          <a:prstGeom prst="ellipse">
            <a:avLst/>
          </a:prstGeom>
          <a:solidFill>
            <a:srgbClr val="FFFFFF"/>
          </a:solidFill>
          <a:ln/>
        </p:spPr>
      </p:sp>
      <p:pic>
        <p:nvPicPr>
          <p:cNvPr id="16" name="Image 2" descr="icon_users_1E2761.png"/>
          <p:cNvPicPr>
            <a:picLocks noChangeAspect="1"/>
          </p:cNvPicPr>
          <p:nvPr/>
        </p:nvPicPr>
        <p:blipFill>
          <a:blip r:embed="rId5"/>
          <a:stretch>
            <a:fillRect/>
          </a:stretch>
        </p:blipFill>
        <p:spPr>
          <a:xfrm>
            <a:off x="6514186" y="2024482"/>
            <a:ext cx="340157" cy="340157"/>
          </a:xfrm>
          <a:prstGeom prst="rect">
            <a:avLst/>
          </a:prstGeom>
        </p:spPr>
      </p:pic>
      <p:sp>
        <p:nvSpPr>
          <p:cNvPr id="17" name="Text 12"/>
          <p:cNvSpPr/>
          <p:nvPr/>
        </p:nvSpPr>
        <p:spPr>
          <a:xfrm>
            <a:off x="6382512" y="2606040"/>
            <a:ext cx="2295144" cy="548640"/>
          </a:xfrm>
          <a:prstGeom prst="rect">
            <a:avLst/>
          </a:prstGeom>
          <a:noFill/>
          <a:ln/>
        </p:spPr>
        <p:txBody>
          <a:bodyPr wrap="square" rtlCol="0" anchor="ctr"/>
          <a:lstStyle/>
          <a:p>
            <a:pPr marL="0" indent="0">
              <a:buNone/>
            </a:pPr>
            <a:r>
              <a:rPr lang="en-US" sz="1450" b="1" dirty="0">
                <a:solidFill>
                  <a:srgbClr val="2E4E2E"/>
                </a:solidFill>
                <a:latin typeface="Cambria" pitchFamily="34" charset="0"/>
                <a:ea typeface="Cambria" pitchFamily="34" charset="-122"/>
                <a:cs typeface="Cambria" pitchFamily="34" charset="-120"/>
              </a:rPr>
              <a:t>Inclusión social</a:t>
            </a:r>
            <a:endParaRPr lang="en-US" sz="1450" dirty="0"/>
          </a:p>
        </p:txBody>
      </p:sp>
      <p:sp>
        <p:nvSpPr>
          <p:cNvPr id="18" name="Text 13"/>
          <p:cNvSpPr/>
          <p:nvPr/>
        </p:nvSpPr>
        <p:spPr>
          <a:xfrm>
            <a:off x="6382512" y="3108960"/>
            <a:ext cx="2295144" cy="1417320"/>
          </a:xfrm>
          <a:prstGeom prst="rect">
            <a:avLst/>
          </a:prstGeom>
          <a:noFill/>
          <a:ln/>
        </p:spPr>
        <p:txBody>
          <a:bodyPr wrap="square" rtlCol="0" anchor="ctr"/>
          <a:lstStyle/>
          <a:p>
            <a:pPr marL="0" indent="0">
              <a:lnSpc>
                <a:spcPts val="1500"/>
              </a:lnSpc>
              <a:buNone/>
            </a:pPr>
            <a:r>
              <a:rPr lang="en-US" sz="1130" dirty="0">
                <a:solidFill>
                  <a:srgbClr val="2B2F3A"/>
                </a:solidFill>
                <a:latin typeface="Calibri" pitchFamily="34" charset="0"/>
                <a:ea typeface="Calibri" pitchFamily="34" charset="-122"/>
                <a:cs typeface="Calibri" pitchFamily="34" charset="-120"/>
              </a:rPr>
              <a:t>En Perú se explora la IA como traductora en juicios para procesados y testigos hablantes de lenguas originarias.</a:t>
            </a:r>
            <a:endParaRPr lang="en-US" sz="1130" dirty="0"/>
          </a:p>
        </p:txBody>
      </p:sp>
      <p:sp>
        <p:nvSpPr>
          <p:cNvPr id="19" name="Shape 14"/>
          <p:cNvSpPr/>
          <p:nvPr/>
        </p:nvSpPr>
        <p:spPr>
          <a:xfrm>
            <a:off x="9043416" y="1645920"/>
            <a:ext cx="2697480" cy="3017520"/>
          </a:xfrm>
          <a:prstGeom prst="roundRect">
            <a:avLst>
              <a:gd name="adj" fmla="val 3390"/>
            </a:avLst>
          </a:prstGeom>
          <a:solidFill>
            <a:srgbClr val="EFF6EF"/>
          </a:solidFill>
          <a:ln/>
        </p:spPr>
      </p:sp>
      <p:sp>
        <p:nvSpPr>
          <p:cNvPr id="20" name="Shape 15"/>
          <p:cNvSpPr/>
          <p:nvPr/>
        </p:nvSpPr>
        <p:spPr>
          <a:xfrm>
            <a:off x="9272016" y="1920240"/>
            <a:ext cx="548640" cy="548640"/>
          </a:xfrm>
          <a:prstGeom prst="ellipse">
            <a:avLst/>
          </a:prstGeom>
          <a:solidFill>
            <a:srgbClr val="FFFFFF"/>
          </a:solidFill>
          <a:ln/>
        </p:spPr>
      </p:sp>
      <p:pic>
        <p:nvPicPr>
          <p:cNvPr id="21" name="Image 3" descr="icon_gavel_1E2761.png"/>
          <p:cNvPicPr>
            <a:picLocks noChangeAspect="1"/>
          </p:cNvPicPr>
          <p:nvPr/>
        </p:nvPicPr>
        <p:blipFill>
          <a:blip r:embed="rId6"/>
          <a:stretch>
            <a:fillRect/>
          </a:stretch>
        </p:blipFill>
        <p:spPr>
          <a:xfrm>
            <a:off x="9376258" y="2024482"/>
            <a:ext cx="340157" cy="340157"/>
          </a:xfrm>
          <a:prstGeom prst="rect">
            <a:avLst/>
          </a:prstGeom>
        </p:spPr>
      </p:pic>
      <p:sp>
        <p:nvSpPr>
          <p:cNvPr id="22" name="Text 16"/>
          <p:cNvSpPr/>
          <p:nvPr/>
        </p:nvSpPr>
        <p:spPr>
          <a:xfrm>
            <a:off x="9244584" y="2606040"/>
            <a:ext cx="2295144" cy="548640"/>
          </a:xfrm>
          <a:prstGeom prst="rect">
            <a:avLst/>
          </a:prstGeom>
          <a:noFill/>
          <a:ln/>
        </p:spPr>
        <p:txBody>
          <a:bodyPr wrap="square" rtlCol="0" anchor="ctr"/>
          <a:lstStyle/>
          <a:p>
            <a:pPr marL="0" indent="0">
              <a:buNone/>
            </a:pPr>
            <a:r>
              <a:rPr lang="en-US" sz="1450" b="1" dirty="0">
                <a:solidFill>
                  <a:srgbClr val="2E4E2E"/>
                </a:solidFill>
                <a:latin typeface="Cambria" pitchFamily="34" charset="0"/>
                <a:ea typeface="Cambria" pitchFamily="34" charset="-122"/>
                <a:cs typeface="Cambria" pitchFamily="34" charset="-120"/>
              </a:rPr>
              <a:t>Ciberseguridad</a:t>
            </a:r>
            <a:endParaRPr lang="en-US" sz="1450" dirty="0"/>
          </a:p>
        </p:txBody>
      </p:sp>
      <p:sp>
        <p:nvSpPr>
          <p:cNvPr id="23" name="Text 17"/>
          <p:cNvSpPr/>
          <p:nvPr/>
        </p:nvSpPr>
        <p:spPr>
          <a:xfrm>
            <a:off x="9244584" y="3108960"/>
            <a:ext cx="2295144" cy="1417320"/>
          </a:xfrm>
          <a:prstGeom prst="rect">
            <a:avLst/>
          </a:prstGeom>
          <a:noFill/>
          <a:ln/>
        </p:spPr>
        <p:txBody>
          <a:bodyPr wrap="square" rtlCol="0" anchor="ctr"/>
          <a:lstStyle/>
          <a:p>
            <a:pPr marL="0" indent="0">
              <a:lnSpc>
                <a:spcPts val="1500"/>
              </a:lnSpc>
              <a:buNone/>
            </a:pPr>
            <a:r>
              <a:rPr lang="en-US" sz="1130" dirty="0">
                <a:solidFill>
                  <a:srgbClr val="2B2F3A"/>
                </a:solidFill>
                <a:latin typeface="Calibri" pitchFamily="34" charset="0"/>
                <a:ea typeface="Calibri" pitchFamily="34" charset="-122"/>
                <a:cs typeface="Calibri" pitchFamily="34" charset="-120"/>
              </a:rPr>
              <a:t>Detección temprana de fraudes, phishing y brechas de seguridad mediante análisis automatizado.</a:t>
            </a:r>
            <a:endParaRPr lang="en-US" sz="1130" dirty="0"/>
          </a:p>
        </p:txBody>
      </p:sp>
      <p:sp>
        <p:nvSpPr>
          <p:cNvPr id="24" name="Text 18"/>
          <p:cNvSpPr/>
          <p:nvPr/>
        </p:nvSpPr>
        <p:spPr>
          <a:xfrm>
            <a:off x="457200" y="4892040"/>
            <a:ext cx="11247120" cy="731520"/>
          </a:xfrm>
          <a:prstGeom prst="rect">
            <a:avLst/>
          </a:prstGeom>
          <a:noFill/>
          <a:ln/>
        </p:spPr>
        <p:txBody>
          <a:bodyPr wrap="square" rtlCol="0" anchor="ctr"/>
          <a:lstStyle/>
          <a:p>
            <a:pPr marL="0" indent="0">
              <a:lnSpc>
                <a:spcPts val="1700"/>
              </a:lnSpc>
              <a:buNone/>
            </a:pPr>
            <a:r>
              <a:rPr lang="en-US" sz="1300" i="1" dirty="0">
                <a:solidFill>
                  <a:srgbClr val="6B7280"/>
                </a:solidFill>
                <a:latin typeface="Calibri" pitchFamily="34" charset="0"/>
                <a:ea typeface="Calibri" pitchFamily="34" charset="-122"/>
                <a:cs typeface="Calibri" pitchFamily="34" charset="-120"/>
              </a:rPr>
              <a:t>El reto no es dejar de usar datos, sino tratarlos con garantías: base legal clara, minimización y control humano.</a:t>
            </a:r>
            <a:endParaRPr lang="en-US" sz="1300" dirty="0"/>
          </a:p>
        </p:txBody>
      </p:sp>
      <p:sp>
        <p:nvSpPr>
          <p:cNvPr id="25" name="Text 19"/>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IA, privacidad y protección de datos personales</a:t>
            </a:r>
            <a:endParaRPr lang="en-US" sz="900" dirty="0"/>
          </a:p>
        </p:txBody>
      </p:sp>
      <p:sp>
        <p:nvSpPr>
          <p:cNvPr id="26" name="Text 20"/>
          <p:cNvSpPr/>
          <p:nvPr/>
        </p:nvSpPr>
        <p:spPr>
          <a:xfrm>
            <a:off x="10972800" y="6519672"/>
            <a:ext cx="73152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9144000" cy="320040"/>
          </a:xfrm>
          <a:prstGeom prst="rect">
            <a:avLst/>
          </a:prstGeom>
          <a:noFill/>
          <a:ln/>
        </p:spPr>
        <p:txBody>
          <a:bodyPr wrap="square" rtlCol="0" anchor="ctr"/>
          <a:lstStyle/>
          <a:p>
            <a:pPr marL="0" indent="0">
              <a:buNone/>
            </a:pPr>
            <a:r>
              <a:rPr lang="en-US" sz="1300" b="1" kern="0" spc="200" dirty="0">
                <a:solidFill>
                  <a:srgbClr val="A63A3A"/>
                </a:solidFill>
                <a:latin typeface="Calibri" pitchFamily="34" charset="0"/>
                <a:ea typeface="Calibri" pitchFamily="34" charset="-122"/>
                <a:cs typeface="Calibri" pitchFamily="34" charset="-120"/>
              </a:rPr>
              <a:t>06 · RIESGOS Y DESAFÍOS</a:t>
            </a:r>
            <a:endParaRPr lang="en-US" sz="1300" dirty="0"/>
          </a:p>
        </p:txBody>
      </p:sp>
      <p:sp>
        <p:nvSpPr>
          <p:cNvPr id="3" name="Text 1"/>
          <p:cNvSpPr/>
          <p:nvPr/>
        </p:nvSpPr>
        <p:spPr>
          <a:xfrm>
            <a:off x="457200" y="658368"/>
            <a:ext cx="1124712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Lo que puede salir mal cuando la IA usa datos personales</a:t>
            </a:r>
            <a:endParaRPr lang="en-US" sz="3000" dirty="0"/>
          </a:p>
        </p:txBody>
      </p:sp>
      <p:sp>
        <p:nvSpPr>
          <p:cNvPr id="4" name="Shape 2"/>
          <p:cNvSpPr/>
          <p:nvPr/>
        </p:nvSpPr>
        <p:spPr>
          <a:xfrm>
            <a:off x="457200" y="1645920"/>
            <a:ext cx="2697480" cy="3017520"/>
          </a:xfrm>
          <a:prstGeom prst="roundRect">
            <a:avLst>
              <a:gd name="adj" fmla="val 3390"/>
            </a:avLst>
          </a:prstGeom>
          <a:solidFill>
            <a:srgbClr val="FBEFEF"/>
          </a:solidFill>
          <a:ln/>
        </p:spPr>
      </p:sp>
      <p:sp>
        <p:nvSpPr>
          <p:cNvPr id="5" name="Shape 3"/>
          <p:cNvSpPr/>
          <p:nvPr/>
        </p:nvSpPr>
        <p:spPr>
          <a:xfrm>
            <a:off x="685800" y="1920240"/>
            <a:ext cx="548640" cy="548640"/>
          </a:xfrm>
          <a:prstGeom prst="ellipse">
            <a:avLst/>
          </a:prstGeom>
          <a:solidFill>
            <a:srgbClr val="FFFFFF"/>
          </a:solidFill>
          <a:ln/>
        </p:spPr>
      </p:sp>
      <p:pic>
        <p:nvPicPr>
          <p:cNvPr id="6" name="Image 0" descr="icon_eye_1E2761.png"/>
          <p:cNvPicPr>
            <a:picLocks noChangeAspect="1"/>
          </p:cNvPicPr>
          <p:nvPr/>
        </p:nvPicPr>
        <p:blipFill>
          <a:blip r:embed="rId3"/>
          <a:stretch>
            <a:fillRect/>
          </a:stretch>
        </p:blipFill>
        <p:spPr>
          <a:xfrm>
            <a:off x="790042" y="2024482"/>
            <a:ext cx="340157" cy="340157"/>
          </a:xfrm>
          <a:prstGeom prst="rect">
            <a:avLst/>
          </a:prstGeom>
        </p:spPr>
      </p:pic>
      <p:sp>
        <p:nvSpPr>
          <p:cNvPr id="7" name="Text 4"/>
          <p:cNvSpPr/>
          <p:nvPr/>
        </p:nvSpPr>
        <p:spPr>
          <a:xfrm>
            <a:off x="658368" y="2606040"/>
            <a:ext cx="2295144" cy="548640"/>
          </a:xfrm>
          <a:prstGeom prst="rect">
            <a:avLst/>
          </a:prstGeom>
          <a:noFill/>
          <a:ln/>
        </p:spPr>
        <p:txBody>
          <a:bodyPr wrap="square" rtlCol="0" anchor="ctr"/>
          <a:lstStyle/>
          <a:p>
            <a:pPr marL="0" indent="0">
              <a:buNone/>
            </a:pPr>
            <a:r>
              <a:rPr lang="en-US" sz="1400" b="1" dirty="0">
                <a:solidFill>
                  <a:srgbClr val="A63A3A"/>
                </a:solidFill>
                <a:latin typeface="Cambria" pitchFamily="34" charset="0"/>
                <a:ea typeface="Cambria" pitchFamily="34" charset="-122"/>
                <a:cs typeface="Cambria" pitchFamily="34" charset="-120"/>
              </a:rPr>
              <a:t>Vigilancia y perfilamiento</a:t>
            </a:r>
            <a:endParaRPr lang="en-US" sz="1400" dirty="0"/>
          </a:p>
        </p:txBody>
      </p:sp>
      <p:sp>
        <p:nvSpPr>
          <p:cNvPr id="8" name="Text 5"/>
          <p:cNvSpPr/>
          <p:nvPr/>
        </p:nvSpPr>
        <p:spPr>
          <a:xfrm>
            <a:off x="658368" y="3108960"/>
            <a:ext cx="2295144" cy="1417320"/>
          </a:xfrm>
          <a:prstGeom prst="rect">
            <a:avLst/>
          </a:prstGeom>
          <a:noFill/>
          <a:ln/>
        </p:spPr>
        <p:txBody>
          <a:bodyPr wrap="square" rtlCol="0" anchor="ctr"/>
          <a:lstStyle/>
          <a:p>
            <a:pPr marL="0" indent="0">
              <a:lnSpc>
                <a:spcPts val="1500"/>
              </a:lnSpc>
              <a:buNone/>
            </a:pPr>
            <a:r>
              <a:rPr lang="en-US" sz="1130" dirty="0">
                <a:solidFill>
                  <a:srgbClr val="2B2F3A"/>
                </a:solidFill>
                <a:latin typeface="Calibri" pitchFamily="34" charset="0"/>
                <a:ea typeface="Calibri" pitchFamily="34" charset="-122"/>
                <a:cs typeface="Calibri" pitchFamily="34" charset="-120"/>
              </a:rPr>
              <a:t>Seguimiento de comportamiento, ubicación y hábitos sin conocimiento del titular.</a:t>
            </a:r>
            <a:endParaRPr lang="en-US" sz="1130" dirty="0"/>
          </a:p>
        </p:txBody>
      </p:sp>
      <p:sp>
        <p:nvSpPr>
          <p:cNvPr id="9" name="Shape 6"/>
          <p:cNvSpPr/>
          <p:nvPr/>
        </p:nvSpPr>
        <p:spPr>
          <a:xfrm>
            <a:off x="3319272" y="1645920"/>
            <a:ext cx="2697480" cy="3017520"/>
          </a:xfrm>
          <a:prstGeom prst="roundRect">
            <a:avLst>
              <a:gd name="adj" fmla="val 3390"/>
            </a:avLst>
          </a:prstGeom>
          <a:solidFill>
            <a:srgbClr val="FBEFEF"/>
          </a:solidFill>
          <a:ln/>
        </p:spPr>
      </p:sp>
      <p:sp>
        <p:nvSpPr>
          <p:cNvPr id="10" name="Shape 7"/>
          <p:cNvSpPr/>
          <p:nvPr/>
        </p:nvSpPr>
        <p:spPr>
          <a:xfrm>
            <a:off x="3547872" y="1920240"/>
            <a:ext cx="548640" cy="548640"/>
          </a:xfrm>
          <a:prstGeom prst="ellipse">
            <a:avLst/>
          </a:prstGeom>
          <a:solidFill>
            <a:srgbClr val="FFFFFF"/>
          </a:solidFill>
          <a:ln/>
        </p:spPr>
      </p:sp>
      <p:pic>
        <p:nvPicPr>
          <p:cNvPr id="11" name="Image 1" descr="icon_alert_1E2761.png"/>
          <p:cNvPicPr>
            <a:picLocks noChangeAspect="1"/>
          </p:cNvPicPr>
          <p:nvPr/>
        </p:nvPicPr>
        <p:blipFill>
          <a:blip r:embed="rId4"/>
          <a:stretch>
            <a:fillRect/>
          </a:stretch>
        </p:blipFill>
        <p:spPr>
          <a:xfrm>
            <a:off x="3652114" y="2024482"/>
            <a:ext cx="340157" cy="340157"/>
          </a:xfrm>
          <a:prstGeom prst="rect">
            <a:avLst/>
          </a:prstGeom>
        </p:spPr>
      </p:pic>
      <p:sp>
        <p:nvSpPr>
          <p:cNvPr id="12" name="Text 8"/>
          <p:cNvSpPr/>
          <p:nvPr/>
        </p:nvSpPr>
        <p:spPr>
          <a:xfrm>
            <a:off x="3520440" y="2606040"/>
            <a:ext cx="2295144" cy="548640"/>
          </a:xfrm>
          <a:prstGeom prst="rect">
            <a:avLst/>
          </a:prstGeom>
          <a:noFill/>
          <a:ln/>
        </p:spPr>
        <p:txBody>
          <a:bodyPr wrap="square" rtlCol="0" anchor="ctr"/>
          <a:lstStyle/>
          <a:p>
            <a:pPr marL="0" indent="0">
              <a:buNone/>
            </a:pPr>
            <a:r>
              <a:rPr lang="en-US" sz="1400" b="1" dirty="0">
                <a:solidFill>
                  <a:srgbClr val="A63A3A"/>
                </a:solidFill>
                <a:latin typeface="Cambria" pitchFamily="34" charset="0"/>
                <a:ea typeface="Cambria" pitchFamily="34" charset="-122"/>
                <a:cs typeface="Cambria" pitchFamily="34" charset="-120"/>
              </a:rPr>
              <a:t>Discriminación algorítmica</a:t>
            </a:r>
            <a:endParaRPr lang="en-US" sz="1400" dirty="0"/>
          </a:p>
        </p:txBody>
      </p:sp>
      <p:sp>
        <p:nvSpPr>
          <p:cNvPr id="13" name="Text 9"/>
          <p:cNvSpPr/>
          <p:nvPr/>
        </p:nvSpPr>
        <p:spPr>
          <a:xfrm>
            <a:off x="3520440" y="3108960"/>
            <a:ext cx="2295144" cy="1417320"/>
          </a:xfrm>
          <a:prstGeom prst="rect">
            <a:avLst/>
          </a:prstGeom>
          <a:noFill/>
          <a:ln/>
        </p:spPr>
        <p:txBody>
          <a:bodyPr wrap="square" rtlCol="0" anchor="ctr"/>
          <a:lstStyle/>
          <a:p>
            <a:pPr marL="0" indent="0">
              <a:lnSpc>
                <a:spcPts val="1500"/>
              </a:lnSpc>
              <a:buNone/>
            </a:pPr>
            <a:r>
              <a:rPr lang="en-US" sz="1130" dirty="0">
                <a:solidFill>
                  <a:srgbClr val="2B2F3A"/>
                </a:solidFill>
                <a:latin typeface="Calibri" pitchFamily="34" charset="0"/>
                <a:ea typeface="Calibri" pitchFamily="34" charset="-122"/>
                <a:cs typeface="Calibri" pitchFamily="34" charset="-120"/>
              </a:rPr>
              <a:t>Sesgos en los datos de entrenamiento que se traducen en decisiones injustas (créditos, empleo).</a:t>
            </a:r>
            <a:endParaRPr lang="en-US" sz="1130" dirty="0"/>
          </a:p>
        </p:txBody>
      </p:sp>
      <p:sp>
        <p:nvSpPr>
          <p:cNvPr id="14" name="Shape 10"/>
          <p:cNvSpPr/>
          <p:nvPr/>
        </p:nvSpPr>
        <p:spPr>
          <a:xfrm>
            <a:off x="6181344" y="1645920"/>
            <a:ext cx="2697480" cy="3017520"/>
          </a:xfrm>
          <a:prstGeom prst="roundRect">
            <a:avLst>
              <a:gd name="adj" fmla="val 3390"/>
            </a:avLst>
          </a:prstGeom>
          <a:solidFill>
            <a:srgbClr val="FBEFEF"/>
          </a:solidFill>
          <a:ln/>
        </p:spPr>
      </p:sp>
      <p:sp>
        <p:nvSpPr>
          <p:cNvPr id="15" name="Shape 11"/>
          <p:cNvSpPr/>
          <p:nvPr/>
        </p:nvSpPr>
        <p:spPr>
          <a:xfrm>
            <a:off x="6409944" y="1920240"/>
            <a:ext cx="548640" cy="548640"/>
          </a:xfrm>
          <a:prstGeom prst="ellipse">
            <a:avLst/>
          </a:prstGeom>
          <a:solidFill>
            <a:srgbClr val="FFFFFF"/>
          </a:solidFill>
          <a:ln/>
        </p:spPr>
      </p:sp>
      <p:pic>
        <p:nvPicPr>
          <p:cNvPr id="16" name="Image 2" descr="icon_database_1E2761.png"/>
          <p:cNvPicPr>
            <a:picLocks noChangeAspect="1"/>
          </p:cNvPicPr>
          <p:nvPr/>
        </p:nvPicPr>
        <p:blipFill>
          <a:blip r:embed="rId5"/>
          <a:stretch>
            <a:fillRect/>
          </a:stretch>
        </p:blipFill>
        <p:spPr>
          <a:xfrm>
            <a:off x="6514186" y="2024482"/>
            <a:ext cx="340157" cy="340157"/>
          </a:xfrm>
          <a:prstGeom prst="rect">
            <a:avLst/>
          </a:prstGeom>
        </p:spPr>
      </p:pic>
      <p:sp>
        <p:nvSpPr>
          <p:cNvPr id="17" name="Text 12"/>
          <p:cNvSpPr/>
          <p:nvPr/>
        </p:nvSpPr>
        <p:spPr>
          <a:xfrm>
            <a:off x="6382512" y="2606040"/>
            <a:ext cx="2295144" cy="548640"/>
          </a:xfrm>
          <a:prstGeom prst="rect">
            <a:avLst/>
          </a:prstGeom>
          <a:noFill/>
          <a:ln/>
        </p:spPr>
        <p:txBody>
          <a:bodyPr wrap="square" rtlCol="0" anchor="ctr"/>
          <a:lstStyle/>
          <a:p>
            <a:pPr marL="0" indent="0">
              <a:buNone/>
            </a:pPr>
            <a:r>
              <a:rPr lang="en-US" sz="1400" b="1" dirty="0">
                <a:solidFill>
                  <a:srgbClr val="A63A3A"/>
                </a:solidFill>
                <a:latin typeface="Cambria" pitchFamily="34" charset="0"/>
                <a:ea typeface="Cambria" pitchFamily="34" charset="-122"/>
                <a:cs typeface="Cambria" pitchFamily="34" charset="-120"/>
              </a:rPr>
              <a:t>“Shadow AI”</a:t>
            </a:r>
            <a:endParaRPr lang="en-US" sz="1400" dirty="0"/>
          </a:p>
        </p:txBody>
      </p:sp>
      <p:sp>
        <p:nvSpPr>
          <p:cNvPr id="18" name="Text 13"/>
          <p:cNvSpPr/>
          <p:nvPr/>
        </p:nvSpPr>
        <p:spPr>
          <a:xfrm>
            <a:off x="6382512" y="3108960"/>
            <a:ext cx="2295144" cy="1417320"/>
          </a:xfrm>
          <a:prstGeom prst="rect">
            <a:avLst/>
          </a:prstGeom>
          <a:noFill/>
          <a:ln/>
        </p:spPr>
        <p:txBody>
          <a:bodyPr wrap="square" rtlCol="0" anchor="ctr"/>
          <a:lstStyle/>
          <a:p>
            <a:pPr marL="0" indent="0">
              <a:lnSpc>
                <a:spcPts val="1500"/>
              </a:lnSpc>
              <a:buNone/>
            </a:pPr>
            <a:r>
              <a:rPr lang="en-US" sz="1130" dirty="0">
                <a:solidFill>
                  <a:srgbClr val="2B2F3A"/>
                </a:solidFill>
                <a:latin typeface="Calibri" pitchFamily="34" charset="0"/>
                <a:ea typeface="Calibri" pitchFamily="34" charset="-122"/>
                <a:cs typeface="Calibri" pitchFamily="34" charset="-120"/>
              </a:rPr>
              <a:t>Uso de herramientas de IA fuera del control de la organización, con pérdida de trazabilidad del dato.</a:t>
            </a:r>
            <a:endParaRPr lang="en-US" sz="1130" dirty="0"/>
          </a:p>
        </p:txBody>
      </p:sp>
      <p:sp>
        <p:nvSpPr>
          <p:cNvPr id="19" name="Shape 14"/>
          <p:cNvSpPr/>
          <p:nvPr/>
        </p:nvSpPr>
        <p:spPr>
          <a:xfrm>
            <a:off x="9043416" y="1645920"/>
            <a:ext cx="2697480" cy="3017520"/>
          </a:xfrm>
          <a:prstGeom prst="roundRect">
            <a:avLst>
              <a:gd name="adj" fmla="val 3390"/>
            </a:avLst>
          </a:prstGeom>
          <a:solidFill>
            <a:srgbClr val="FBEFEF"/>
          </a:solidFill>
          <a:ln/>
        </p:spPr>
      </p:sp>
      <p:sp>
        <p:nvSpPr>
          <p:cNvPr id="20" name="Shape 15"/>
          <p:cNvSpPr/>
          <p:nvPr/>
        </p:nvSpPr>
        <p:spPr>
          <a:xfrm>
            <a:off x="9272016" y="1920240"/>
            <a:ext cx="548640" cy="548640"/>
          </a:xfrm>
          <a:prstGeom prst="ellipse">
            <a:avLst/>
          </a:prstGeom>
          <a:solidFill>
            <a:srgbClr val="FFFFFF"/>
          </a:solidFill>
          <a:ln/>
        </p:spPr>
      </p:sp>
      <p:pic>
        <p:nvPicPr>
          <p:cNvPr id="21" name="Image 3" descr="icon_users_1E2761.png"/>
          <p:cNvPicPr>
            <a:picLocks noChangeAspect="1"/>
          </p:cNvPicPr>
          <p:nvPr/>
        </p:nvPicPr>
        <p:blipFill>
          <a:blip r:embed="rId6"/>
          <a:stretch>
            <a:fillRect/>
          </a:stretch>
        </p:blipFill>
        <p:spPr>
          <a:xfrm>
            <a:off x="9376258" y="2024482"/>
            <a:ext cx="340157" cy="340157"/>
          </a:xfrm>
          <a:prstGeom prst="rect">
            <a:avLst/>
          </a:prstGeom>
        </p:spPr>
      </p:pic>
      <p:sp>
        <p:nvSpPr>
          <p:cNvPr id="22" name="Text 16"/>
          <p:cNvSpPr/>
          <p:nvPr/>
        </p:nvSpPr>
        <p:spPr>
          <a:xfrm>
            <a:off x="9244584" y="2606040"/>
            <a:ext cx="2295144" cy="548640"/>
          </a:xfrm>
          <a:prstGeom prst="rect">
            <a:avLst/>
          </a:prstGeom>
          <a:noFill/>
          <a:ln/>
        </p:spPr>
        <p:txBody>
          <a:bodyPr wrap="square" rtlCol="0" anchor="ctr"/>
          <a:lstStyle/>
          <a:p>
            <a:pPr marL="0" indent="0">
              <a:buNone/>
            </a:pPr>
            <a:r>
              <a:rPr lang="en-US" sz="1400" b="1" dirty="0">
                <a:solidFill>
                  <a:srgbClr val="A63A3A"/>
                </a:solidFill>
                <a:latin typeface="Cambria" pitchFamily="34" charset="0"/>
                <a:ea typeface="Cambria" pitchFamily="34" charset="-122"/>
                <a:cs typeface="Cambria" pitchFamily="34" charset="-120"/>
              </a:rPr>
              <a:t>Menores en riesgo</a:t>
            </a:r>
            <a:endParaRPr lang="en-US" sz="1400" dirty="0"/>
          </a:p>
        </p:txBody>
      </p:sp>
      <p:sp>
        <p:nvSpPr>
          <p:cNvPr id="23" name="Text 17"/>
          <p:cNvSpPr/>
          <p:nvPr/>
        </p:nvSpPr>
        <p:spPr>
          <a:xfrm>
            <a:off x="9244584" y="3108960"/>
            <a:ext cx="2295144" cy="1417320"/>
          </a:xfrm>
          <a:prstGeom prst="rect">
            <a:avLst/>
          </a:prstGeom>
          <a:noFill/>
          <a:ln/>
        </p:spPr>
        <p:txBody>
          <a:bodyPr wrap="square" rtlCol="0" anchor="ctr"/>
          <a:lstStyle/>
          <a:p>
            <a:pPr marL="0" indent="0">
              <a:lnSpc>
                <a:spcPts val="1500"/>
              </a:lnSpc>
              <a:buNone/>
            </a:pPr>
            <a:r>
              <a:rPr lang="en-US" sz="1130" dirty="0">
                <a:solidFill>
                  <a:srgbClr val="2B2F3A"/>
                </a:solidFill>
                <a:latin typeface="Calibri" pitchFamily="34" charset="0"/>
                <a:ea typeface="Calibri" pitchFamily="34" charset="-122"/>
                <a:cs typeface="Calibri" pitchFamily="34" charset="-120"/>
              </a:rPr>
              <a:t>Niñas, niños y adolescentes son especialmente vulnerables ante imágenes y contenidos generados con IA.</a:t>
            </a:r>
            <a:endParaRPr lang="en-US" sz="1130" dirty="0"/>
          </a:p>
        </p:txBody>
      </p:sp>
      <p:sp>
        <p:nvSpPr>
          <p:cNvPr id="24" name="Text 18"/>
          <p:cNvSpPr/>
          <p:nvPr/>
        </p:nvSpPr>
        <p:spPr>
          <a:xfrm>
            <a:off x="457200" y="4892040"/>
            <a:ext cx="11247120" cy="731520"/>
          </a:xfrm>
          <a:prstGeom prst="rect">
            <a:avLst/>
          </a:prstGeom>
          <a:noFill/>
          <a:ln/>
        </p:spPr>
        <p:txBody>
          <a:bodyPr wrap="square" rtlCol="0" anchor="ctr"/>
          <a:lstStyle/>
          <a:p>
            <a:pPr marL="0" indent="0">
              <a:lnSpc>
                <a:spcPts val="1700"/>
              </a:lnSpc>
              <a:buNone/>
            </a:pPr>
            <a:r>
              <a:rPr lang="en-US" sz="1300" i="1" dirty="0">
                <a:solidFill>
                  <a:srgbClr val="6B7280"/>
                </a:solidFill>
                <a:latin typeface="Calibri" pitchFamily="34" charset="0"/>
                <a:ea typeface="Calibri" pitchFamily="34" charset="-122"/>
                <a:cs typeface="Calibri" pitchFamily="34" charset="-120"/>
              </a:rPr>
              <a:t>Los organismos de protección de datos ya sancionan estas prácticas: desde multas millonarias a Meta y Google hasta la orden de eliminar bases de datos completas, como en el caso de Clearview AI.</a:t>
            </a:r>
            <a:endParaRPr lang="en-US" sz="1300" dirty="0"/>
          </a:p>
        </p:txBody>
      </p:sp>
      <p:sp>
        <p:nvSpPr>
          <p:cNvPr id="25" name="Text 19"/>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IA, privacidad y protección de datos personales</a:t>
            </a:r>
            <a:endParaRPr lang="en-US" sz="900" dirty="0"/>
          </a:p>
        </p:txBody>
      </p:sp>
      <p:sp>
        <p:nvSpPr>
          <p:cNvPr id="26" name="Text 20"/>
          <p:cNvSpPr/>
          <p:nvPr/>
        </p:nvSpPr>
        <p:spPr>
          <a:xfrm>
            <a:off x="10972800" y="6519672"/>
            <a:ext cx="73152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9144000" cy="320040"/>
          </a:xfrm>
          <a:prstGeom prst="rect">
            <a:avLst/>
          </a:prstGeom>
          <a:noFill/>
          <a:ln/>
        </p:spPr>
        <p:txBody>
          <a:bodyPr wrap="square" rtlCol="0" anchor="ctr"/>
          <a:lstStyle/>
          <a:p>
            <a:pPr marL="0" indent="0">
              <a:buNone/>
            </a:pPr>
            <a:r>
              <a:rPr lang="en-US" sz="1300" b="1" kern="0" spc="200" dirty="0">
                <a:solidFill>
                  <a:srgbClr val="C68A1B"/>
                </a:solidFill>
                <a:latin typeface="Calibri" pitchFamily="34" charset="0"/>
                <a:ea typeface="Calibri" pitchFamily="34" charset="-122"/>
                <a:cs typeface="Calibri" pitchFamily="34" charset="-120"/>
              </a:rPr>
              <a:t>07 · SITUACIÓN ACTUAL Y FUTURO</a:t>
            </a:r>
            <a:endParaRPr lang="en-US" sz="1300" dirty="0"/>
          </a:p>
        </p:txBody>
      </p:sp>
      <p:sp>
        <p:nvSpPr>
          <p:cNvPr id="3" name="Text 1"/>
          <p:cNvSpPr/>
          <p:nvPr/>
        </p:nvSpPr>
        <p:spPr>
          <a:xfrm>
            <a:off x="457200" y="658368"/>
            <a:ext cx="1124712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Hacia una gobernanza más estricta de la IA y los datos</a:t>
            </a:r>
            <a:endParaRPr lang="en-US" sz="3000" dirty="0"/>
          </a:p>
        </p:txBody>
      </p:sp>
      <p:sp>
        <p:nvSpPr>
          <p:cNvPr id="4" name="Shape 2"/>
          <p:cNvSpPr/>
          <p:nvPr/>
        </p:nvSpPr>
        <p:spPr>
          <a:xfrm>
            <a:off x="822960" y="2286000"/>
            <a:ext cx="10241280" cy="0"/>
          </a:xfrm>
          <a:prstGeom prst="line">
            <a:avLst/>
          </a:prstGeom>
          <a:noFill/>
          <a:ln w="38100">
            <a:solidFill>
              <a:srgbClr val="CADCFC"/>
            </a:solidFill>
            <a:prstDash val="solid"/>
          </a:ln>
        </p:spPr>
      </p:sp>
      <p:sp>
        <p:nvSpPr>
          <p:cNvPr id="5" name="Shape 3"/>
          <p:cNvSpPr/>
          <p:nvPr/>
        </p:nvSpPr>
        <p:spPr>
          <a:xfrm>
            <a:off x="722376" y="2185416"/>
            <a:ext cx="201168" cy="201168"/>
          </a:xfrm>
          <a:prstGeom prst="ellipse">
            <a:avLst/>
          </a:prstGeom>
          <a:solidFill>
            <a:srgbClr val="1E2761"/>
          </a:solidFill>
          <a:ln w="25400">
            <a:solidFill>
              <a:srgbClr val="FFFFFF"/>
            </a:solidFill>
            <a:prstDash val="solid"/>
          </a:ln>
        </p:spPr>
      </p:sp>
      <p:sp>
        <p:nvSpPr>
          <p:cNvPr id="6" name="Text 4"/>
          <p:cNvSpPr/>
          <p:nvPr/>
        </p:nvSpPr>
        <p:spPr>
          <a:xfrm>
            <a:off x="457200" y="1600200"/>
            <a:ext cx="2011680" cy="365760"/>
          </a:xfrm>
          <a:prstGeom prst="rect">
            <a:avLst/>
          </a:prstGeom>
          <a:noFill/>
          <a:ln/>
        </p:spPr>
        <p:txBody>
          <a:bodyPr wrap="square" rtlCol="0" anchor="ctr"/>
          <a:lstStyle/>
          <a:p>
            <a:pPr marL="0" indent="0" algn="l">
              <a:buNone/>
            </a:pPr>
            <a:r>
              <a:rPr lang="en-US" sz="1350" b="1" dirty="0">
                <a:solidFill>
                  <a:srgbClr val="1E2761"/>
                </a:solidFill>
                <a:latin typeface="Cambria" pitchFamily="34" charset="0"/>
                <a:ea typeface="Cambria" pitchFamily="34" charset="-122"/>
                <a:cs typeface="Cambria" pitchFamily="34" charset="-120"/>
              </a:rPr>
              <a:t>Sep 2025</a:t>
            </a:r>
            <a:endParaRPr lang="en-US" sz="1350" dirty="0"/>
          </a:p>
        </p:txBody>
      </p:sp>
      <p:sp>
        <p:nvSpPr>
          <p:cNvPr id="7" name="Text 5"/>
          <p:cNvSpPr/>
          <p:nvPr/>
        </p:nvSpPr>
        <p:spPr>
          <a:xfrm>
            <a:off x="457200" y="2514600"/>
            <a:ext cx="2468880" cy="1280160"/>
          </a:xfrm>
          <a:prstGeom prst="rect">
            <a:avLst/>
          </a:prstGeom>
          <a:noFill/>
          <a:ln/>
        </p:spPr>
        <p:txBody>
          <a:bodyPr wrap="square" rtlCol="0" anchor="ctr"/>
          <a:lstStyle/>
          <a:p>
            <a:pPr marL="0" indent="0" algn="l">
              <a:lnSpc>
                <a:spcPts val="1400"/>
              </a:lnSpc>
              <a:buNone/>
            </a:pPr>
            <a:r>
              <a:rPr lang="en-US" sz="1080" dirty="0">
                <a:solidFill>
                  <a:srgbClr val="2B2F3A"/>
                </a:solidFill>
                <a:latin typeface="Calibri" pitchFamily="34" charset="0"/>
                <a:ea typeface="Calibri" pitchFamily="34" charset="-122"/>
                <a:cs typeface="Calibri" pitchFamily="34" charset="-120"/>
              </a:rPr>
              <a:t>Se aprueba el Reglamento de la Ley N.º 31814 de IA en Perú.</a:t>
            </a:r>
            <a:endParaRPr lang="en-US" sz="1080" dirty="0"/>
          </a:p>
        </p:txBody>
      </p:sp>
      <p:sp>
        <p:nvSpPr>
          <p:cNvPr id="8" name="Shape 6"/>
          <p:cNvSpPr/>
          <p:nvPr/>
        </p:nvSpPr>
        <p:spPr>
          <a:xfrm>
            <a:off x="4136136" y="2185416"/>
            <a:ext cx="201168" cy="201168"/>
          </a:xfrm>
          <a:prstGeom prst="ellipse">
            <a:avLst/>
          </a:prstGeom>
          <a:solidFill>
            <a:srgbClr val="1E2761"/>
          </a:solidFill>
          <a:ln w="25400">
            <a:solidFill>
              <a:srgbClr val="FFFFFF"/>
            </a:solidFill>
            <a:prstDash val="solid"/>
          </a:ln>
        </p:spPr>
      </p:sp>
      <p:sp>
        <p:nvSpPr>
          <p:cNvPr id="9" name="Text 7"/>
          <p:cNvSpPr/>
          <p:nvPr/>
        </p:nvSpPr>
        <p:spPr>
          <a:xfrm>
            <a:off x="3230880" y="1600200"/>
            <a:ext cx="2011680" cy="365760"/>
          </a:xfrm>
          <a:prstGeom prst="rect">
            <a:avLst/>
          </a:prstGeom>
          <a:noFill/>
          <a:ln/>
        </p:spPr>
        <p:txBody>
          <a:bodyPr wrap="square" rtlCol="0" anchor="ctr"/>
          <a:lstStyle/>
          <a:p>
            <a:pPr marL="0" indent="0" algn="ctr">
              <a:buNone/>
            </a:pPr>
            <a:r>
              <a:rPr lang="en-US" sz="1350" b="1" dirty="0">
                <a:solidFill>
                  <a:srgbClr val="1E2761"/>
                </a:solidFill>
                <a:latin typeface="Cambria" pitchFamily="34" charset="0"/>
                <a:ea typeface="Cambria" pitchFamily="34" charset="-122"/>
                <a:cs typeface="Cambria" pitchFamily="34" charset="-120"/>
              </a:rPr>
              <a:t>Ene 2026</a:t>
            </a:r>
            <a:endParaRPr lang="en-US" sz="1350" dirty="0"/>
          </a:p>
        </p:txBody>
      </p:sp>
      <p:sp>
        <p:nvSpPr>
          <p:cNvPr id="10" name="Text 8"/>
          <p:cNvSpPr/>
          <p:nvPr/>
        </p:nvSpPr>
        <p:spPr>
          <a:xfrm>
            <a:off x="3002280" y="2514600"/>
            <a:ext cx="2468880" cy="1280160"/>
          </a:xfrm>
          <a:prstGeom prst="rect">
            <a:avLst/>
          </a:prstGeom>
          <a:noFill/>
          <a:ln/>
        </p:spPr>
        <p:txBody>
          <a:bodyPr wrap="square" rtlCol="0" anchor="ctr"/>
          <a:lstStyle/>
          <a:p>
            <a:pPr marL="0" indent="0" algn="ctr">
              <a:lnSpc>
                <a:spcPts val="1400"/>
              </a:lnSpc>
              <a:buNone/>
            </a:pPr>
            <a:r>
              <a:rPr lang="en-US" sz="1080" dirty="0">
                <a:solidFill>
                  <a:srgbClr val="2B2F3A"/>
                </a:solidFill>
                <a:latin typeface="Calibri" pitchFamily="34" charset="0"/>
                <a:ea typeface="Calibri" pitchFamily="34" charset="-122"/>
                <a:cs typeface="Calibri" pitchFamily="34" charset="-120"/>
              </a:rPr>
              <a:t>Entra en vigencia el Reglamento de la Ley de IA peruana.</a:t>
            </a:r>
            <a:endParaRPr lang="en-US" sz="1080" dirty="0"/>
          </a:p>
        </p:txBody>
      </p:sp>
      <p:sp>
        <p:nvSpPr>
          <p:cNvPr id="11" name="Shape 9"/>
          <p:cNvSpPr/>
          <p:nvPr/>
        </p:nvSpPr>
        <p:spPr>
          <a:xfrm>
            <a:off x="7549896" y="2185416"/>
            <a:ext cx="201168" cy="201168"/>
          </a:xfrm>
          <a:prstGeom prst="ellipse">
            <a:avLst/>
          </a:prstGeom>
          <a:solidFill>
            <a:srgbClr val="1E2761"/>
          </a:solidFill>
          <a:ln w="25400">
            <a:solidFill>
              <a:srgbClr val="FFFFFF"/>
            </a:solidFill>
            <a:prstDash val="solid"/>
          </a:ln>
        </p:spPr>
      </p:sp>
      <p:sp>
        <p:nvSpPr>
          <p:cNvPr id="12" name="Text 10"/>
          <p:cNvSpPr/>
          <p:nvPr/>
        </p:nvSpPr>
        <p:spPr>
          <a:xfrm>
            <a:off x="6644640" y="1600200"/>
            <a:ext cx="2011680" cy="365760"/>
          </a:xfrm>
          <a:prstGeom prst="rect">
            <a:avLst/>
          </a:prstGeom>
          <a:noFill/>
          <a:ln/>
        </p:spPr>
        <p:txBody>
          <a:bodyPr wrap="square" rtlCol="0" anchor="ctr"/>
          <a:lstStyle/>
          <a:p>
            <a:pPr marL="0" indent="0" algn="ctr">
              <a:buNone/>
            </a:pPr>
            <a:r>
              <a:rPr lang="en-US" sz="1350" b="1" dirty="0">
                <a:solidFill>
                  <a:srgbClr val="1E2761"/>
                </a:solidFill>
                <a:latin typeface="Cambria" pitchFamily="34" charset="0"/>
                <a:ea typeface="Cambria" pitchFamily="34" charset="-122"/>
                <a:cs typeface="Cambria" pitchFamily="34" charset="-120"/>
              </a:rPr>
              <a:t>May 2026</a:t>
            </a:r>
            <a:endParaRPr lang="en-US" sz="1350" dirty="0"/>
          </a:p>
        </p:txBody>
      </p:sp>
      <p:sp>
        <p:nvSpPr>
          <p:cNvPr id="13" name="Text 11"/>
          <p:cNvSpPr/>
          <p:nvPr/>
        </p:nvSpPr>
        <p:spPr>
          <a:xfrm>
            <a:off x="6416040" y="2514600"/>
            <a:ext cx="2468880" cy="1280160"/>
          </a:xfrm>
          <a:prstGeom prst="rect">
            <a:avLst/>
          </a:prstGeom>
          <a:noFill/>
          <a:ln/>
        </p:spPr>
        <p:txBody>
          <a:bodyPr wrap="square" rtlCol="0" anchor="ctr"/>
          <a:lstStyle/>
          <a:p>
            <a:pPr marL="0" indent="0" algn="ctr">
              <a:lnSpc>
                <a:spcPts val="1400"/>
              </a:lnSpc>
              <a:buNone/>
            </a:pPr>
            <a:r>
              <a:rPr lang="en-US" sz="1080" dirty="0">
                <a:solidFill>
                  <a:srgbClr val="2B2F3A"/>
                </a:solidFill>
                <a:latin typeface="Calibri" pitchFamily="34" charset="0"/>
                <a:ea typeface="Calibri" pitchFamily="34" charset="-122"/>
                <a:cs typeface="Calibri" pitchFamily="34" charset="-120"/>
              </a:rPr>
              <a:t>PCM aprueba la Estrategia Nacional de IA 2026-2030 (ENIA).</a:t>
            </a:r>
            <a:endParaRPr lang="en-US" sz="1080" dirty="0"/>
          </a:p>
        </p:txBody>
      </p:sp>
      <p:sp>
        <p:nvSpPr>
          <p:cNvPr id="14" name="Shape 12"/>
          <p:cNvSpPr/>
          <p:nvPr/>
        </p:nvSpPr>
        <p:spPr>
          <a:xfrm>
            <a:off x="10963656" y="2185416"/>
            <a:ext cx="201168" cy="201168"/>
          </a:xfrm>
          <a:prstGeom prst="ellipse">
            <a:avLst/>
          </a:prstGeom>
          <a:solidFill>
            <a:srgbClr val="1E2761"/>
          </a:solidFill>
          <a:ln w="25400">
            <a:solidFill>
              <a:srgbClr val="FFFFFF"/>
            </a:solidFill>
            <a:prstDash val="solid"/>
          </a:ln>
        </p:spPr>
      </p:sp>
      <p:sp>
        <p:nvSpPr>
          <p:cNvPr id="15" name="Text 13"/>
          <p:cNvSpPr/>
          <p:nvPr/>
        </p:nvSpPr>
        <p:spPr>
          <a:xfrm>
            <a:off x="9720072" y="1600200"/>
            <a:ext cx="2011680" cy="365760"/>
          </a:xfrm>
          <a:prstGeom prst="rect">
            <a:avLst/>
          </a:prstGeom>
          <a:noFill/>
          <a:ln/>
        </p:spPr>
        <p:txBody>
          <a:bodyPr wrap="square" rtlCol="0" anchor="ctr"/>
          <a:lstStyle/>
          <a:p>
            <a:pPr marL="0" indent="0" algn="r">
              <a:buNone/>
            </a:pPr>
            <a:r>
              <a:rPr lang="en-US" sz="1350" b="1" dirty="0">
                <a:solidFill>
                  <a:srgbClr val="1E2761"/>
                </a:solidFill>
                <a:latin typeface="Cambria" pitchFamily="34" charset="0"/>
                <a:ea typeface="Cambria" pitchFamily="34" charset="-122"/>
                <a:cs typeface="Cambria" pitchFamily="34" charset="-120"/>
              </a:rPr>
              <a:t>Sep 2026</a:t>
            </a:r>
            <a:endParaRPr lang="en-US" sz="1350" dirty="0"/>
          </a:p>
        </p:txBody>
      </p:sp>
      <p:sp>
        <p:nvSpPr>
          <p:cNvPr id="16" name="Text 14"/>
          <p:cNvSpPr/>
          <p:nvPr/>
        </p:nvSpPr>
        <p:spPr>
          <a:xfrm>
            <a:off x="9262872" y="2514600"/>
            <a:ext cx="2468880" cy="1280160"/>
          </a:xfrm>
          <a:prstGeom prst="rect">
            <a:avLst/>
          </a:prstGeom>
          <a:noFill/>
          <a:ln/>
        </p:spPr>
        <p:txBody>
          <a:bodyPr wrap="square" rtlCol="0" anchor="ctr"/>
          <a:lstStyle/>
          <a:p>
            <a:pPr marL="0" indent="0" algn="r">
              <a:lnSpc>
                <a:spcPts val="1400"/>
              </a:lnSpc>
              <a:buNone/>
            </a:pPr>
            <a:r>
              <a:rPr lang="en-US" sz="1080" dirty="0">
                <a:solidFill>
                  <a:srgbClr val="2B2F3A"/>
                </a:solidFill>
                <a:latin typeface="Calibri" pitchFamily="34" charset="0"/>
                <a:ea typeface="Calibri" pitchFamily="34" charset="-122"/>
                <a:cs typeface="Calibri" pitchFamily="34" charset="-120"/>
              </a:rPr>
              <a:t>Vence el primer plazo de cumplimiento para 5 sectores clave: salud, educación, justicia, seguridad y finanzas.</a:t>
            </a:r>
            <a:endParaRPr lang="en-US" sz="1080" dirty="0"/>
          </a:p>
        </p:txBody>
      </p:sp>
      <p:sp>
        <p:nvSpPr>
          <p:cNvPr id="17" name="Shape 15"/>
          <p:cNvSpPr/>
          <p:nvPr/>
        </p:nvSpPr>
        <p:spPr>
          <a:xfrm>
            <a:off x="457200" y="4434840"/>
            <a:ext cx="11247120" cy="1691640"/>
          </a:xfrm>
          <a:prstGeom prst="roundRect">
            <a:avLst>
              <a:gd name="adj" fmla="val 5405"/>
            </a:avLst>
          </a:prstGeom>
          <a:solidFill>
            <a:srgbClr val="F3F6FC"/>
          </a:solidFill>
          <a:ln/>
        </p:spPr>
      </p:sp>
      <p:sp>
        <p:nvSpPr>
          <p:cNvPr id="18" name="Shape 16"/>
          <p:cNvSpPr/>
          <p:nvPr/>
        </p:nvSpPr>
        <p:spPr>
          <a:xfrm>
            <a:off x="731520" y="4709160"/>
            <a:ext cx="502920" cy="502920"/>
          </a:xfrm>
          <a:prstGeom prst="ellipse">
            <a:avLst/>
          </a:prstGeom>
          <a:solidFill>
            <a:srgbClr val="1E2761"/>
          </a:solidFill>
          <a:ln/>
        </p:spPr>
      </p:sp>
      <p:pic>
        <p:nvPicPr>
          <p:cNvPr id="19" name="Image 0" descr="icon_trend_FFFFFF.png"/>
          <p:cNvPicPr>
            <a:picLocks noChangeAspect="1"/>
          </p:cNvPicPr>
          <p:nvPr/>
        </p:nvPicPr>
        <p:blipFill>
          <a:blip r:embed="rId3"/>
          <a:stretch>
            <a:fillRect/>
          </a:stretch>
        </p:blipFill>
        <p:spPr>
          <a:xfrm>
            <a:off x="827075" y="4804715"/>
            <a:ext cx="311810" cy="311810"/>
          </a:xfrm>
          <a:prstGeom prst="rect">
            <a:avLst/>
          </a:prstGeom>
        </p:spPr>
      </p:pic>
      <p:sp>
        <p:nvSpPr>
          <p:cNvPr id="20" name="Text 17"/>
          <p:cNvSpPr/>
          <p:nvPr/>
        </p:nvSpPr>
        <p:spPr>
          <a:xfrm>
            <a:off x="1417320" y="4572000"/>
            <a:ext cx="3657600" cy="36576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Tendencias que se consolidan</a:t>
            </a:r>
            <a:endParaRPr lang="en-US" sz="1450" dirty="0"/>
          </a:p>
        </p:txBody>
      </p:sp>
      <p:sp>
        <p:nvSpPr>
          <p:cNvPr id="21" name="Text 18"/>
          <p:cNvSpPr/>
          <p:nvPr/>
        </p:nvSpPr>
        <p:spPr>
          <a:xfrm>
            <a:off x="1417320" y="4983480"/>
            <a:ext cx="9966960" cy="1005840"/>
          </a:xfrm>
          <a:prstGeom prst="rect">
            <a:avLst/>
          </a:prstGeom>
          <a:noFill/>
          <a:ln/>
        </p:spPr>
        <p:txBody>
          <a:bodyPr wrap="square" rtlCol="0" anchor="ctr"/>
          <a:lstStyle/>
          <a:p>
            <a:pPr marL="0" indent="0">
              <a:lnSpc>
                <a:spcPts val="1650"/>
              </a:lnSpc>
              <a:buNone/>
            </a:pPr>
            <a:r>
              <a:rPr lang="en-US" sz="1250" dirty="0">
                <a:solidFill>
                  <a:srgbClr val="2B2F3A"/>
                </a:solidFill>
                <a:latin typeface="Calibri" pitchFamily="34" charset="0"/>
                <a:ea typeface="Calibri" pitchFamily="34" charset="-122"/>
                <a:cs typeface="Calibri" pitchFamily="34" charset="-120"/>
              </a:rPr>
              <a:t>Mayor convergencia entre normas de datos y de IA (RGPD–AI Act en Europa, LPDP–Ley 31814 en Perú); adopción de privacidad diferencial y aprendizaje federado; y más fiscalización sobre el uso corporativo no controlado de IA (“Shadow AI”).</a:t>
            </a:r>
            <a:endParaRPr lang="en-US" sz="1250" dirty="0"/>
          </a:p>
        </p:txBody>
      </p:sp>
      <p:sp>
        <p:nvSpPr>
          <p:cNvPr id="22" name="Text 19"/>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IA, privacidad y protección de datos personales</a:t>
            </a:r>
            <a:endParaRPr lang="en-US" sz="900" dirty="0"/>
          </a:p>
        </p:txBody>
      </p:sp>
      <p:sp>
        <p:nvSpPr>
          <p:cNvPr id="23" name="Text 20"/>
          <p:cNvSpPr/>
          <p:nvPr/>
        </p:nvSpPr>
        <p:spPr>
          <a:xfrm>
            <a:off x="10972800" y="6519672"/>
            <a:ext cx="73152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280160" y="4206240"/>
            <a:ext cx="4206240" cy="4206240"/>
          </a:xfrm>
          <a:prstGeom prst="ellipse">
            <a:avLst/>
          </a:prstGeom>
          <a:solidFill>
            <a:srgbClr val="263876"/>
          </a:solidFill>
          <a:ln/>
        </p:spPr>
      </p:sp>
      <p:sp>
        <p:nvSpPr>
          <p:cNvPr id="3" name="Text 1"/>
          <p:cNvSpPr/>
          <p:nvPr/>
        </p:nvSpPr>
        <p:spPr>
          <a:xfrm>
            <a:off x="548640" y="502920"/>
            <a:ext cx="7315200" cy="365760"/>
          </a:xfrm>
          <a:prstGeom prst="rect">
            <a:avLst/>
          </a:prstGeom>
          <a:noFill/>
          <a:ln/>
        </p:spPr>
        <p:txBody>
          <a:bodyPr wrap="square" rtlCol="0" anchor="ctr"/>
          <a:lstStyle/>
          <a:p>
            <a:pPr marL="0" indent="0">
              <a:buNone/>
            </a:pPr>
            <a:r>
              <a:rPr lang="en-US" sz="1300" b="1" kern="0" spc="200" dirty="0">
                <a:solidFill>
                  <a:srgbClr val="C68A1B"/>
                </a:solidFill>
                <a:latin typeface="Calibri" pitchFamily="34" charset="0"/>
                <a:ea typeface="Calibri" pitchFamily="34" charset="-122"/>
                <a:cs typeface="Calibri" pitchFamily="34" charset="-120"/>
              </a:rPr>
              <a:t>08 · CONCLUSIONES</a:t>
            </a:r>
            <a:endParaRPr lang="en-US" sz="1300" dirty="0"/>
          </a:p>
        </p:txBody>
      </p:sp>
      <p:sp>
        <p:nvSpPr>
          <p:cNvPr id="4" name="Text 2"/>
          <p:cNvSpPr/>
          <p:nvPr/>
        </p:nvSpPr>
        <p:spPr>
          <a:xfrm>
            <a:off x="548640" y="868680"/>
            <a:ext cx="10789920" cy="91440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La privacidad debe diseñarse junto con la IA, no después de ella</a:t>
            </a:r>
            <a:endParaRPr lang="en-US" sz="2600" dirty="0"/>
          </a:p>
        </p:txBody>
      </p:sp>
      <p:sp>
        <p:nvSpPr>
          <p:cNvPr id="5" name="Shape 3"/>
          <p:cNvSpPr/>
          <p:nvPr/>
        </p:nvSpPr>
        <p:spPr>
          <a:xfrm>
            <a:off x="548640" y="2057400"/>
            <a:ext cx="384048" cy="384048"/>
          </a:xfrm>
          <a:prstGeom prst="ellipse">
            <a:avLst/>
          </a:prstGeom>
          <a:solidFill>
            <a:srgbClr val="2A3A7A"/>
          </a:solidFill>
          <a:ln/>
        </p:spPr>
      </p:sp>
      <p:pic>
        <p:nvPicPr>
          <p:cNvPr id="6" name="Image 0" descr="icon_check_FFFFFF.png"/>
          <p:cNvPicPr>
            <a:picLocks noChangeAspect="1"/>
          </p:cNvPicPr>
          <p:nvPr/>
        </p:nvPicPr>
        <p:blipFill>
          <a:blip r:embed="rId3"/>
          <a:stretch>
            <a:fillRect/>
          </a:stretch>
        </p:blipFill>
        <p:spPr>
          <a:xfrm>
            <a:off x="635051" y="2143811"/>
            <a:ext cx="211226" cy="211226"/>
          </a:xfrm>
          <a:prstGeom prst="rect">
            <a:avLst/>
          </a:prstGeom>
        </p:spPr>
      </p:pic>
      <p:sp>
        <p:nvSpPr>
          <p:cNvPr id="7" name="Text 4"/>
          <p:cNvSpPr/>
          <p:nvPr/>
        </p:nvSpPr>
        <p:spPr>
          <a:xfrm>
            <a:off x="1143000" y="2002536"/>
            <a:ext cx="10241280" cy="777240"/>
          </a:xfrm>
          <a:prstGeom prst="rect">
            <a:avLst/>
          </a:prstGeom>
          <a:noFill/>
          <a:ln/>
        </p:spPr>
        <p:txBody>
          <a:bodyPr wrap="square" rtlCol="0" anchor="ctr"/>
          <a:lstStyle/>
          <a:p>
            <a:pPr marL="0" indent="0">
              <a:lnSpc>
                <a:spcPts val="1700"/>
              </a:lnSpc>
              <a:buNone/>
            </a:pPr>
            <a:r>
              <a:rPr lang="en-US" sz="1300" dirty="0">
                <a:solidFill>
                  <a:srgbClr val="CADCFC"/>
                </a:solidFill>
                <a:latin typeface="Calibri" pitchFamily="34" charset="0"/>
                <a:ea typeface="Calibri" pitchFamily="34" charset="-122"/>
                <a:cs typeface="Calibri" pitchFamily="34" charset="-120"/>
              </a:rPr>
              <a:t>La IA multiplica el valor de los datos personales y, con ello, también los riesgos de vigilancia, discriminación y uso indebido si no existe un marco de control claro.</a:t>
            </a:r>
            <a:endParaRPr lang="en-US" sz="1300" dirty="0"/>
          </a:p>
        </p:txBody>
      </p:sp>
      <p:sp>
        <p:nvSpPr>
          <p:cNvPr id="8" name="Shape 5"/>
          <p:cNvSpPr/>
          <p:nvPr/>
        </p:nvSpPr>
        <p:spPr>
          <a:xfrm>
            <a:off x="548640" y="3017520"/>
            <a:ext cx="384048" cy="384048"/>
          </a:xfrm>
          <a:prstGeom prst="ellipse">
            <a:avLst/>
          </a:prstGeom>
          <a:solidFill>
            <a:srgbClr val="2A3A7A"/>
          </a:solidFill>
          <a:ln/>
        </p:spPr>
      </p:sp>
      <p:pic>
        <p:nvPicPr>
          <p:cNvPr id="9" name="Image 1" descr="icon_check_FFFFFF.png"/>
          <p:cNvPicPr>
            <a:picLocks noChangeAspect="1"/>
          </p:cNvPicPr>
          <p:nvPr/>
        </p:nvPicPr>
        <p:blipFill>
          <a:blip r:embed="rId3"/>
          <a:stretch>
            <a:fillRect/>
          </a:stretch>
        </p:blipFill>
        <p:spPr>
          <a:xfrm>
            <a:off x="635051" y="3103931"/>
            <a:ext cx="211226" cy="211226"/>
          </a:xfrm>
          <a:prstGeom prst="rect">
            <a:avLst/>
          </a:prstGeom>
        </p:spPr>
      </p:pic>
      <p:sp>
        <p:nvSpPr>
          <p:cNvPr id="10" name="Text 6"/>
          <p:cNvSpPr/>
          <p:nvPr/>
        </p:nvSpPr>
        <p:spPr>
          <a:xfrm>
            <a:off x="1143000" y="2962656"/>
            <a:ext cx="10241280" cy="777240"/>
          </a:xfrm>
          <a:prstGeom prst="rect">
            <a:avLst/>
          </a:prstGeom>
          <a:noFill/>
          <a:ln/>
        </p:spPr>
        <p:txBody>
          <a:bodyPr wrap="square" rtlCol="0" anchor="ctr"/>
          <a:lstStyle/>
          <a:p>
            <a:pPr marL="0" indent="0">
              <a:lnSpc>
                <a:spcPts val="1700"/>
              </a:lnSpc>
              <a:buNone/>
            </a:pPr>
            <a:r>
              <a:rPr lang="en-US" sz="1300" dirty="0">
                <a:solidFill>
                  <a:srgbClr val="CADCFC"/>
                </a:solidFill>
                <a:latin typeface="Calibri" pitchFamily="34" charset="0"/>
                <a:ea typeface="Calibri" pitchFamily="34" charset="-122"/>
                <a:cs typeface="Calibri" pitchFamily="34" charset="-120"/>
              </a:rPr>
              <a:t>Perú avanza con un marco normativo propio (Ley N.º 31814, ANPD, ENIA 2026-2030), alineado con tendencias internacionales como el AI Act europeo.</a:t>
            </a:r>
            <a:endParaRPr lang="en-US" sz="1300" dirty="0"/>
          </a:p>
        </p:txBody>
      </p:sp>
      <p:sp>
        <p:nvSpPr>
          <p:cNvPr id="11" name="Shape 7"/>
          <p:cNvSpPr/>
          <p:nvPr/>
        </p:nvSpPr>
        <p:spPr>
          <a:xfrm>
            <a:off x="548640" y="3977640"/>
            <a:ext cx="384048" cy="384048"/>
          </a:xfrm>
          <a:prstGeom prst="ellipse">
            <a:avLst/>
          </a:prstGeom>
          <a:solidFill>
            <a:srgbClr val="2A3A7A"/>
          </a:solidFill>
          <a:ln/>
        </p:spPr>
      </p:sp>
      <p:pic>
        <p:nvPicPr>
          <p:cNvPr id="12" name="Image 2" descr="icon_check_FFFFFF.png"/>
          <p:cNvPicPr>
            <a:picLocks noChangeAspect="1"/>
          </p:cNvPicPr>
          <p:nvPr/>
        </p:nvPicPr>
        <p:blipFill>
          <a:blip r:embed="rId3"/>
          <a:stretch>
            <a:fillRect/>
          </a:stretch>
        </p:blipFill>
        <p:spPr>
          <a:xfrm>
            <a:off x="635051" y="4064051"/>
            <a:ext cx="211226" cy="211226"/>
          </a:xfrm>
          <a:prstGeom prst="rect">
            <a:avLst/>
          </a:prstGeom>
        </p:spPr>
      </p:pic>
      <p:sp>
        <p:nvSpPr>
          <p:cNvPr id="13" name="Text 8"/>
          <p:cNvSpPr/>
          <p:nvPr/>
        </p:nvSpPr>
        <p:spPr>
          <a:xfrm>
            <a:off x="1143000" y="3922776"/>
            <a:ext cx="10241280" cy="777240"/>
          </a:xfrm>
          <a:prstGeom prst="rect">
            <a:avLst/>
          </a:prstGeom>
          <a:noFill/>
          <a:ln/>
        </p:spPr>
        <p:txBody>
          <a:bodyPr wrap="square" rtlCol="0" anchor="ctr"/>
          <a:lstStyle/>
          <a:p>
            <a:pPr marL="0" indent="0">
              <a:lnSpc>
                <a:spcPts val="1700"/>
              </a:lnSpc>
              <a:buNone/>
            </a:pPr>
            <a:r>
              <a:rPr lang="en-US" sz="1300" dirty="0">
                <a:solidFill>
                  <a:srgbClr val="CADCFC"/>
                </a:solidFill>
                <a:latin typeface="Calibri" pitchFamily="34" charset="0"/>
                <a:ea typeface="Calibri" pitchFamily="34" charset="-122"/>
                <a:cs typeface="Calibri" pitchFamily="34" charset="-120"/>
              </a:rPr>
              <a:t>Los casos recientes —desde deepfakes hasta multas millonarias a grandes tecnológicas— muestran que la autorregulación no basta: se requiere supervisión activa.</a:t>
            </a:r>
            <a:endParaRPr lang="en-US" sz="1300" dirty="0"/>
          </a:p>
        </p:txBody>
      </p:sp>
      <p:sp>
        <p:nvSpPr>
          <p:cNvPr id="14" name="Shape 9"/>
          <p:cNvSpPr/>
          <p:nvPr/>
        </p:nvSpPr>
        <p:spPr>
          <a:xfrm>
            <a:off x="548640" y="4937760"/>
            <a:ext cx="384048" cy="384048"/>
          </a:xfrm>
          <a:prstGeom prst="ellipse">
            <a:avLst/>
          </a:prstGeom>
          <a:solidFill>
            <a:srgbClr val="2A3A7A"/>
          </a:solidFill>
          <a:ln/>
        </p:spPr>
      </p:sp>
      <p:pic>
        <p:nvPicPr>
          <p:cNvPr id="15" name="Image 3" descr="icon_check_FFFFFF.png"/>
          <p:cNvPicPr>
            <a:picLocks noChangeAspect="1"/>
          </p:cNvPicPr>
          <p:nvPr/>
        </p:nvPicPr>
        <p:blipFill>
          <a:blip r:embed="rId3"/>
          <a:stretch>
            <a:fillRect/>
          </a:stretch>
        </p:blipFill>
        <p:spPr>
          <a:xfrm>
            <a:off x="635051" y="5024171"/>
            <a:ext cx="211226" cy="211226"/>
          </a:xfrm>
          <a:prstGeom prst="rect">
            <a:avLst/>
          </a:prstGeom>
        </p:spPr>
      </p:pic>
      <p:sp>
        <p:nvSpPr>
          <p:cNvPr id="16" name="Text 10"/>
          <p:cNvSpPr/>
          <p:nvPr/>
        </p:nvSpPr>
        <p:spPr>
          <a:xfrm>
            <a:off x="1143000" y="4882896"/>
            <a:ext cx="10241280" cy="777240"/>
          </a:xfrm>
          <a:prstGeom prst="rect">
            <a:avLst/>
          </a:prstGeom>
          <a:noFill/>
          <a:ln/>
        </p:spPr>
        <p:txBody>
          <a:bodyPr wrap="square" rtlCol="0" anchor="ctr"/>
          <a:lstStyle/>
          <a:p>
            <a:pPr marL="0" indent="0">
              <a:lnSpc>
                <a:spcPts val="1700"/>
              </a:lnSpc>
              <a:buNone/>
            </a:pPr>
            <a:r>
              <a:rPr lang="en-US" sz="1300" dirty="0">
                <a:solidFill>
                  <a:srgbClr val="CADCFC"/>
                </a:solidFill>
                <a:latin typeface="Calibri" pitchFamily="34" charset="0"/>
                <a:ea typeface="Calibri" pitchFamily="34" charset="-122"/>
                <a:cs typeface="Calibri" pitchFamily="34" charset="-120"/>
              </a:rPr>
              <a:t>Proteger datos no significa dejar de innovar: técnicas como la privacidad diferencial permiten aprovechar la IA sin sacrificar los derechos de las personas.</a:t>
            </a:r>
            <a:endParaRPr lang="en-US" sz="1300" dirty="0"/>
          </a:p>
        </p:txBody>
      </p:sp>
      <p:sp>
        <p:nvSpPr>
          <p:cNvPr id="17" name="Text 11"/>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IA, privacidad y protección de datos personales</a:t>
            </a:r>
            <a:endParaRPr lang="en-US" sz="900" dirty="0"/>
          </a:p>
        </p:txBody>
      </p:sp>
      <p:sp>
        <p:nvSpPr>
          <p:cNvPr id="18" name="Text 12"/>
          <p:cNvSpPr/>
          <p:nvPr/>
        </p:nvSpPr>
        <p:spPr>
          <a:xfrm>
            <a:off x="10972800" y="6519672"/>
            <a:ext cx="73152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
        <p:nvSpPr>
          <p:cNvPr id="19" name="Text 13"/>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8792C4"/>
                </a:solidFill>
                <a:latin typeface="Calibri" pitchFamily="34" charset="0"/>
                <a:ea typeface="Calibri" pitchFamily="34" charset="-122"/>
                <a:cs typeface="Calibri" pitchFamily="34" charset="-120"/>
              </a:rPr>
              <a:t>IA, privacidad y protección de datos personales</a:t>
            </a:r>
            <a:endParaRPr lang="en-US" sz="900" dirty="0"/>
          </a:p>
        </p:txBody>
      </p:sp>
      <p:sp>
        <p:nvSpPr>
          <p:cNvPr id="20" name="Text 14"/>
          <p:cNvSpPr/>
          <p:nvPr/>
        </p:nvSpPr>
        <p:spPr>
          <a:xfrm>
            <a:off x="10972800" y="6519672"/>
            <a:ext cx="731520" cy="274320"/>
          </a:xfrm>
          <a:prstGeom prst="rect">
            <a:avLst/>
          </a:prstGeom>
          <a:noFill/>
          <a:ln/>
        </p:spPr>
        <p:txBody>
          <a:bodyPr wrap="square" rtlCol="0" anchor="ctr"/>
          <a:lstStyle/>
          <a:p>
            <a:pPr marL="0" indent="0" algn="r">
              <a:buNone/>
            </a:pPr>
            <a:r>
              <a:rPr lang="en-US" sz="900" dirty="0">
                <a:solidFill>
                  <a:srgbClr val="8792C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9144000" cy="320040"/>
          </a:xfrm>
          <a:prstGeom prst="rect">
            <a:avLst/>
          </a:prstGeom>
          <a:noFill/>
          <a:ln/>
        </p:spPr>
        <p:txBody>
          <a:bodyPr wrap="square" rtlCol="0" anchor="ctr"/>
          <a:lstStyle/>
          <a:p>
            <a:pPr marL="0" indent="0">
              <a:buNone/>
            </a:pPr>
            <a:r>
              <a:rPr lang="en-US" sz="1300" b="1" kern="0" spc="200" dirty="0">
                <a:solidFill>
                  <a:srgbClr val="C68A1B"/>
                </a:solidFill>
                <a:latin typeface="Calibri" pitchFamily="34" charset="0"/>
                <a:ea typeface="Calibri" pitchFamily="34" charset="-122"/>
                <a:cs typeface="Calibri" pitchFamily="34" charset="-120"/>
              </a:rPr>
              <a:t>REFERENCIAS</a:t>
            </a:r>
            <a:endParaRPr lang="en-US" sz="1300" dirty="0"/>
          </a:p>
        </p:txBody>
      </p:sp>
      <p:sp>
        <p:nvSpPr>
          <p:cNvPr id="3" name="Text 1"/>
          <p:cNvSpPr/>
          <p:nvPr/>
        </p:nvSpPr>
        <p:spPr>
          <a:xfrm>
            <a:off x="457200" y="658368"/>
            <a:ext cx="1124712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Fuentes consultadas</a:t>
            </a:r>
            <a:endParaRPr lang="en-US" sz="3000" dirty="0"/>
          </a:p>
        </p:txBody>
      </p:sp>
      <p:sp>
        <p:nvSpPr>
          <p:cNvPr id="4" name="Shape 2"/>
          <p:cNvSpPr/>
          <p:nvPr/>
        </p:nvSpPr>
        <p:spPr>
          <a:xfrm>
            <a:off x="548640" y="1655064"/>
            <a:ext cx="91440" cy="91440"/>
          </a:xfrm>
          <a:prstGeom prst="ellipse">
            <a:avLst/>
          </a:prstGeom>
          <a:solidFill>
            <a:srgbClr val="C68A1B"/>
          </a:solidFill>
          <a:ln/>
        </p:spPr>
      </p:sp>
      <p:sp>
        <p:nvSpPr>
          <p:cNvPr id="5" name="Text 3"/>
          <p:cNvSpPr/>
          <p:nvPr/>
        </p:nvSpPr>
        <p:spPr>
          <a:xfrm>
            <a:off x="822960" y="1527048"/>
            <a:ext cx="1060704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Diario Oficial El Peruano</a:t>
            </a:r>
            <a:endParaRPr lang="en-US" sz="1300" dirty="0"/>
          </a:p>
        </p:txBody>
      </p:sp>
      <p:sp>
        <p:nvSpPr>
          <p:cNvPr id="6" name="Text 4"/>
          <p:cNvSpPr/>
          <p:nvPr/>
        </p:nvSpPr>
        <p:spPr>
          <a:xfrm>
            <a:off x="822960" y="1819656"/>
            <a:ext cx="10607040" cy="457200"/>
          </a:xfrm>
          <a:prstGeom prst="rect">
            <a:avLst/>
          </a:prstGeom>
          <a:noFill/>
          <a:ln/>
        </p:spPr>
        <p:txBody>
          <a:bodyPr wrap="square" rtlCol="0" anchor="ctr"/>
          <a:lstStyle/>
          <a:p>
            <a:pPr marL="0" indent="0">
              <a:lnSpc>
                <a:spcPts val="1450"/>
              </a:lnSpc>
              <a:buNone/>
            </a:pPr>
            <a:r>
              <a:rPr lang="en-US" sz="1150" dirty="0">
                <a:solidFill>
                  <a:srgbClr val="2B2F3A"/>
                </a:solidFill>
                <a:latin typeface="Calibri" pitchFamily="34" charset="0"/>
                <a:ea typeface="Calibri" pitchFamily="34" charset="-122"/>
                <a:cs typeface="Calibri" pitchFamily="34" charset="-120"/>
              </a:rPr>
              <a:t>Perú se adhiere a declaración internacional que advierte riesgos de privacidad por imágenes generadas con IA (feb. 2026).</a:t>
            </a:r>
            <a:endParaRPr lang="en-US" sz="1150" dirty="0"/>
          </a:p>
        </p:txBody>
      </p:sp>
      <p:sp>
        <p:nvSpPr>
          <p:cNvPr id="7" name="Shape 5"/>
          <p:cNvSpPr/>
          <p:nvPr/>
        </p:nvSpPr>
        <p:spPr>
          <a:xfrm>
            <a:off x="548640" y="2368296"/>
            <a:ext cx="91440" cy="91440"/>
          </a:xfrm>
          <a:prstGeom prst="ellipse">
            <a:avLst/>
          </a:prstGeom>
          <a:solidFill>
            <a:srgbClr val="C68A1B"/>
          </a:solidFill>
          <a:ln/>
        </p:spPr>
      </p:sp>
      <p:sp>
        <p:nvSpPr>
          <p:cNvPr id="8" name="Text 6"/>
          <p:cNvSpPr/>
          <p:nvPr/>
        </p:nvSpPr>
        <p:spPr>
          <a:xfrm>
            <a:off x="822960" y="2240280"/>
            <a:ext cx="1060704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Diario Oficial El Peruano</a:t>
            </a:r>
            <a:endParaRPr lang="en-US" sz="1300" dirty="0"/>
          </a:p>
        </p:txBody>
      </p:sp>
      <p:sp>
        <p:nvSpPr>
          <p:cNvPr id="9" name="Text 7"/>
          <p:cNvSpPr/>
          <p:nvPr/>
        </p:nvSpPr>
        <p:spPr>
          <a:xfrm>
            <a:off x="822960" y="2532888"/>
            <a:ext cx="10607040" cy="457200"/>
          </a:xfrm>
          <a:prstGeom prst="rect">
            <a:avLst/>
          </a:prstGeom>
          <a:noFill/>
          <a:ln/>
        </p:spPr>
        <p:txBody>
          <a:bodyPr wrap="square" rtlCol="0" anchor="ctr"/>
          <a:lstStyle/>
          <a:p>
            <a:pPr marL="0" indent="0">
              <a:lnSpc>
                <a:spcPts val="1450"/>
              </a:lnSpc>
              <a:buNone/>
            </a:pPr>
            <a:r>
              <a:rPr lang="en-US" sz="1150" dirty="0">
                <a:solidFill>
                  <a:srgbClr val="2B2F3A"/>
                </a:solidFill>
                <a:latin typeface="Calibri" pitchFamily="34" charset="0"/>
                <a:ea typeface="Calibri" pitchFamily="34" charset="-122"/>
                <a:cs typeface="Calibri" pitchFamily="34" charset="-120"/>
              </a:rPr>
              <a:t>Perú fija reglas para la inteligencia artificial en el sector público hasta 2030 — Estrategia Nacional de IA (ENIA), (may. 2026).</a:t>
            </a:r>
            <a:endParaRPr lang="en-US" sz="1150" dirty="0"/>
          </a:p>
        </p:txBody>
      </p:sp>
      <p:sp>
        <p:nvSpPr>
          <p:cNvPr id="10" name="Shape 8"/>
          <p:cNvSpPr/>
          <p:nvPr/>
        </p:nvSpPr>
        <p:spPr>
          <a:xfrm>
            <a:off x="548640" y="3081528"/>
            <a:ext cx="91440" cy="91440"/>
          </a:xfrm>
          <a:prstGeom prst="ellipse">
            <a:avLst/>
          </a:prstGeom>
          <a:solidFill>
            <a:srgbClr val="C68A1B"/>
          </a:solidFill>
          <a:ln/>
        </p:spPr>
      </p:sp>
      <p:sp>
        <p:nvSpPr>
          <p:cNvPr id="11" name="Text 9"/>
          <p:cNvSpPr/>
          <p:nvPr/>
        </p:nvSpPr>
        <p:spPr>
          <a:xfrm>
            <a:off x="822960" y="2953512"/>
            <a:ext cx="1060704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Agencia Española de Protección de Datos (AEPD)</a:t>
            </a:r>
            <a:endParaRPr lang="en-US" sz="1300" dirty="0"/>
          </a:p>
        </p:txBody>
      </p:sp>
      <p:sp>
        <p:nvSpPr>
          <p:cNvPr id="12" name="Text 10"/>
          <p:cNvSpPr/>
          <p:nvPr/>
        </p:nvSpPr>
        <p:spPr>
          <a:xfrm>
            <a:off x="822960" y="3246120"/>
            <a:ext cx="10607040" cy="457200"/>
          </a:xfrm>
          <a:prstGeom prst="rect">
            <a:avLst/>
          </a:prstGeom>
          <a:noFill/>
          <a:ln/>
        </p:spPr>
        <p:txBody>
          <a:bodyPr wrap="square" rtlCol="0" anchor="ctr"/>
          <a:lstStyle/>
          <a:p>
            <a:pPr marL="0" indent="0">
              <a:lnSpc>
                <a:spcPts val="1450"/>
              </a:lnSpc>
              <a:buNone/>
            </a:pPr>
            <a:r>
              <a:rPr lang="en-US" sz="1150" dirty="0">
                <a:solidFill>
                  <a:srgbClr val="2B2F3A"/>
                </a:solidFill>
                <a:latin typeface="Calibri" pitchFamily="34" charset="0"/>
                <a:ea typeface="Calibri" pitchFamily="34" charset="-122"/>
                <a:cs typeface="Calibri" pitchFamily="34" charset="-120"/>
              </a:rPr>
              <a:t>Decálogo con recomendaciones para proteger la privacidad al usar herramientas de IA.</a:t>
            </a:r>
            <a:endParaRPr lang="en-US" sz="1150" dirty="0"/>
          </a:p>
        </p:txBody>
      </p:sp>
      <p:sp>
        <p:nvSpPr>
          <p:cNvPr id="13" name="Shape 11"/>
          <p:cNvSpPr/>
          <p:nvPr/>
        </p:nvSpPr>
        <p:spPr>
          <a:xfrm>
            <a:off x="548640" y="3794760"/>
            <a:ext cx="91440" cy="91440"/>
          </a:xfrm>
          <a:prstGeom prst="ellipse">
            <a:avLst/>
          </a:prstGeom>
          <a:solidFill>
            <a:srgbClr val="C68A1B"/>
          </a:solidFill>
          <a:ln/>
        </p:spPr>
      </p:sp>
      <p:sp>
        <p:nvSpPr>
          <p:cNvPr id="14" name="Text 12"/>
          <p:cNvSpPr/>
          <p:nvPr/>
        </p:nvSpPr>
        <p:spPr>
          <a:xfrm>
            <a:off x="822960" y="3666744"/>
            <a:ext cx="1060704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EY Perú</a:t>
            </a:r>
            <a:endParaRPr lang="en-US" sz="1300" dirty="0"/>
          </a:p>
        </p:txBody>
      </p:sp>
      <p:sp>
        <p:nvSpPr>
          <p:cNvPr id="15" name="Text 13"/>
          <p:cNvSpPr/>
          <p:nvPr/>
        </p:nvSpPr>
        <p:spPr>
          <a:xfrm>
            <a:off x="822960" y="3959352"/>
            <a:ext cx="10607040" cy="457200"/>
          </a:xfrm>
          <a:prstGeom prst="rect">
            <a:avLst/>
          </a:prstGeom>
          <a:noFill/>
          <a:ln/>
        </p:spPr>
        <p:txBody>
          <a:bodyPr wrap="square" rtlCol="0" anchor="ctr"/>
          <a:lstStyle/>
          <a:p>
            <a:pPr marL="0" indent="0">
              <a:lnSpc>
                <a:spcPts val="1450"/>
              </a:lnSpc>
              <a:buNone/>
            </a:pPr>
            <a:r>
              <a:rPr lang="en-US" sz="1150" dirty="0">
                <a:solidFill>
                  <a:srgbClr val="2B2F3A"/>
                </a:solidFill>
                <a:latin typeface="Calibri" pitchFamily="34" charset="0"/>
                <a:ea typeface="Calibri" pitchFamily="34" charset="-122"/>
                <a:cs typeface="Calibri" pitchFamily="34" charset="-120"/>
              </a:rPr>
              <a:t>IA en Perú: 5 consideraciones clave para anticiparse a la nueva regulación que entra en vigor en 2026.</a:t>
            </a:r>
            <a:endParaRPr lang="en-US" sz="1150" dirty="0"/>
          </a:p>
        </p:txBody>
      </p:sp>
      <p:sp>
        <p:nvSpPr>
          <p:cNvPr id="16" name="Shape 14"/>
          <p:cNvSpPr/>
          <p:nvPr/>
        </p:nvSpPr>
        <p:spPr>
          <a:xfrm>
            <a:off x="548640" y="4507992"/>
            <a:ext cx="91440" cy="91440"/>
          </a:xfrm>
          <a:prstGeom prst="ellipse">
            <a:avLst/>
          </a:prstGeom>
          <a:solidFill>
            <a:srgbClr val="C68A1B"/>
          </a:solidFill>
          <a:ln/>
        </p:spPr>
      </p:sp>
      <p:sp>
        <p:nvSpPr>
          <p:cNvPr id="17" name="Text 15"/>
          <p:cNvSpPr/>
          <p:nvPr/>
        </p:nvSpPr>
        <p:spPr>
          <a:xfrm>
            <a:off x="822960" y="4379976"/>
            <a:ext cx="1060704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Cuatrecasas</a:t>
            </a:r>
            <a:endParaRPr lang="en-US" sz="1300" dirty="0"/>
          </a:p>
        </p:txBody>
      </p:sp>
      <p:sp>
        <p:nvSpPr>
          <p:cNvPr id="18" name="Text 16"/>
          <p:cNvSpPr/>
          <p:nvPr/>
        </p:nvSpPr>
        <p:spPr>
          <a:xfrm>
            <a:off x="822960" y="4672584"/>
            <a:ext cx="10607040" cy="457200"/>
          </a:xfrm>
          <a:prstGeom prst="rect">
            <a:avLst/>
          </a:prstGeom>
          <a:noFill/>
          <a:ln/>
        </p:spPr>
        <p:txBody>
          <a:bodyPr wrap="square" rtlCol="0" anchor="ctr"/>
          <a:lstStyle/>
          <a:p>
            <a:pPr marL="0" indent="0">
              <a:lnSpc>
                <a:spcPts val="1450"/>
              </a:lnSpc>
              <a:buNone/>
            </a:pPr>
            <a:r>
              <a:rPr lang="en-US" sz="1150" dirty="0">
                <a:solidFill>
                  <a:srgbClr val="2B2F3A"/>
                </a:solidFill>
                <a:latin typeface="Calibri" pitchFamily="34" charset="0"/>
                <a:ea typeface="Calibri" pitchFamily="34" charset="-122"/>
                <a:cs typeface="Calibri" pitchFamily="34" charset="-120"/>
              </a:rPr>
              <a:t>¿Qué establece el Reglamento de la Ley de Inteligencia Artificial? (Ley N.º 31814, Perú).</a:t>
            </a:r>
            <a:endParaRPr lang="en-US" sz="1150" dirty="0"/>
          </a:p>
        </p:txBody>
      </p:sp>
      <p:sp>
        <p:nvSpPr>
          <p:cNvPr id="19" name="Shape 17"/>
          <p:cNvSpPr/>
          <p:nvPr/>
        </p:nvSpPr>
        <p:spPr>
          <a:xfrm>
            <a:off x="548640" y="5221224"/>
            <a:ext cx="91440" cy="91440"/>
          </a:xfrm>
          <a:prstGeom prst="ellipse">
            <a:avLst/>
          </a:prstGeom>
          <a:solidFill>
            <a:srgbClr val="C68A1B"/>
          </a:solidFill>
          <a:ln/>
        </p:spPr>
      </p:sp>
      <p:sp>
        <p:nvSpPr>
          <p:cNvPr id="20" name="Text 18"/>
          <p:cNvSpPr/>
          <p:nvPr/>
        </p:nvSpPr>
        <p:spPr>
          <a:xfrm>
            <a:off x="822960" y="5093208"/>
            <a:ext cx="1060704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Surfshark (vía Hub71 / Yahoo Finance)</a:t>
            </a:r>
            <a:endParaRPr lang="en-US" sz="1300" dirty="0"/>
          </a:p>
        </p:txBody>
      </p:sp>
      <p:sp>
        <p:nvSpPr>
          <p:cNvPr id="21" name="Text 19"/>
          <p:cNvSpPr/>
          <p:nvPr/>
        </p:nvSpPr>
        <p:spPr>
          <a:xfrm>
            <a:off x="822960" y="5385816"/>
            <a:ext cx="10607040" cy="457200"/>
          </a:xfrm>
          <a:prstGeom prst="rect">
            <a:avLst/>
          </a:prstGeom>
          <a:noFill/>
          <a:ln/>
        </p:spPr>
        <p:txBody>
          <a:bodyPr wrap="square" rtlCol="0" anchor="ctr"/>
          <a:lstStyle/>
          <a:p>
            <a:pPr marL="0" indent="0">
              <a:lnSpc>
                <a:spcPts val="1450"/>
              </a:lnSpc>
              <a:buNone/>
            </a:pPr>
            <a:r>
              <a:rPr lang="en-US" sz="1150" dirty="0">
                <a:solidFill>
                  <a:srgbClr val="2B2F3A"/>
                </a:solidFill>
                <a:latin typeface="Calibri" pitchFamily="34" charset="0"/>
                <a:ea typeface="Calibri" pitchFamily="34" charset="-122"/>
                <a:cs typeface="Calibri" pitchFamily="34" charset="-120"/>
              </a:rPr>
              <a:t>Big Tech fined $3.5B for using personal data to train AI without consent (2026).</a:t>
            </a:r>
            <a:endParaRPr lang="en-US" sz="1150" dirty="0"/>
          </a:p>
        </p:txBody>
      </p:sp>
      <p:sp>
        <p:nvSpPr>
          <p:cNvPr id="22" name="Text 20"/>
          <p:cNvSpPr/>
          <p:nvPr/>
        </p:nvSpPr>
        <p:spPr>
          <a:xfrm>
            <a:off x="457200" y="6519672"/>
            <a:ext cx="7315200"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IA, privacidad y protección de datos personales</a:t>
            </a:r>
            <a:endParaRPr lang="en-US" sz="900" dirty="0"/>
          </a:p>
        </p:txBody>
      </p:sp>
      <p:sp>
        <p:nvSpPr>
          <p:cNvPr id="23" name="Text 21"/>
          <p:cNvSpPr/>
          <p:nvPr/>
        </p:nvSpPr>
        <p:spPr>
          <a:xfrm>
            <a:off x="10972800" y="6519672"/>
            <a:ext cx="731520" cy="27432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1578</Words>
  <Application>Microsoft Office PowerPoint</Application>
  <PresentationFormat>Panorámica</PresentationFormat>
  <Paragraphs>146</Paragraphs>
  <Slides>11</Slides>
  <Notes>11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blair321 shinigami</cp:lastModifiedBy>
  <cp:revision>2</cp:revision>
  <dcterms:created xsi:type="dcterms:W3CDTF">2026-09-19T02:52:57Z</dcterms:created>
  <dcterms:modified xsi:type="dcterms:W3CDTF">2026-09-19T03:04:39Z</dcterms:modified>
</cp:coreProperties>
</file>