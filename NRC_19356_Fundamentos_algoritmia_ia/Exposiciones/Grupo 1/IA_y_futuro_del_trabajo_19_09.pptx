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Millones de puestos</c:v>
          </c:tx>
          <c:spPr>
            <a:solidFill>
              <a:srgbClr val="16BCEB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6BCEB"/>
              </a:solidFill>
            </c:spPr>
            <c:extLst>
              <c:ext xmlns:c16="http://schemas.microsoft.com/office/drawing/2014/chart" uri="{C3380CC4-5D6E-409C-BE32-E72D297353CC}">
                <c16:uniqueId val="{00000001-EC35-4F76-B8BF-EEF873BABEBA}"/>
              </c:ext>
            </c:extLst>
          </c:dPt>
          <c:dPt>
            <c:idx val="1"/>
            <c:invertIfNegative val="0"/>
            <c:bubble3D val="0"/>
            <c:spPr>
              <a:solidFill>
                <a:srgbClr val="FF795B"/>
              </a:solidFill>
            </c:spPr>
            <c:extLst>
              <c:ext xmlns:c16="http://schemas.microsoft.com/office/drawing/2014/chart" uri="{C3380CC4-5D6E-409C-BE32-E72D297353CC}">
                <c16:uniqueId val="{00000003-EC35-4F76-B8BF-EEF873BABEBA}"/>
              </c:ext>
            </c:extLst>
          </c:dPt>
          <c:dPt>
            <c:idx val="2"/>
            <c:invertIfNegative val="0"/>
            <c:bubble3D val="0"/>
            <c:spPr>
              <a:solidFill>
                <a:srgbClr val="36B37E"/>
              </a:solidFill>
            </c:spPr>
            <c:extLst>
              <c:ext xmlns:c16="http://schemas.microsoft.com/office/drawing/2014/chart" uri="{C3380CC4-5D6E-409C-BE32-E72D297353CC}">
                <c16:uniqueId val="{00000005-EC35-4F76-B8BF-EEF873BABE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71525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s-P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Puestos creados</c:v>
              </c:pt>
              <c:pt idx="1">
                <c:v>Puestos desplazados</c:v>
              </c:pt>
              <c:pt idx="2">
                <c:v>Saldo neto</c:v>
              </c:pt>
            </c:strLit>
          </c:cat>
          <c:val>
            <c:numLit>
              <c:formatCode>0" M"</c:formatCode>
              <c:ptCount val="3"/>
              <c:pt idx="0">
                <c:v>170</c:v>
              </c:pt>
              <c:pt idx="1">
                <c:v>-92</c:v>
              </c:pt>
              <c:pt idx="2">
                <c:v>78</c:v>
              </c:pt>
            </c:numLit>
          </c:val>
          <c:extLst>
            <c:ext xmlns:c16="http://schemas.microsoft.com/office/drawing/2014/chart" uri="{C3380CC4-5D6E-409C-BE32-E72D297353CC}">
              <c16:uniqueId val="{00000006-EC35-4F76-B8BF-EEF873BABE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E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endParaRPr lang="es-P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90"/>
          <c:min val="-110"/>
        </c:scaling>
        <c:delete val="0"/>
        <c:axPos val="l"/>
        <c:majorGridlines>
          <c:spPr>
            <a:ln w="9525">
              <a:solidFill>
                <a:srgbClr val="D7DEE8"/>
              </a:solidFill>
              <a:prstDash val="solid"/>
            </a:ln>
          </c:spPr>
        </c:majorGridlines>
        <c:numFmt formatCode="0&quot; M&quot;" sourceLinked="1"/>
        <c:majorTickMark val="none"/>
        <c:minorTickMark val="none"/>
        <c:tickLblPos val="nextTo"/>
        <c:spPr>
          <a:ln w="9525">
            <a:solidFill>
              <a:srgbClr val="D7DEE8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endParaRPr lang="es-PE"/>
          </a:p>
        </c:txPr>
        <c:crossAx val="48650112"/>
        <c:crosses val="autoZero"/>
        <c:crossBetween val="between"/>
        <c:majorUnit val="50"/>
      </c:valAx>
      <c:spPr>
        <a:ln w="0">
          <a:noFill/>
        </a:ln>
      </c:spPr>
    </c:plotArea>
    <c:plotVisOnly val="1"/>
    <c:dispBlanksAs val="zero"/>
    <c:showDLblsOverMax val="1"/>
  </c:chart>
  <c:spPr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Apertura </a:t>
            </a:r>
            <a:r>
              <a:rPr dirty="0" err="1"/>
              <a:t>solamente</a:t>
            </a:r>
            <a:r>
              <a:rPr dirty="0"/>
              <a:t> al sector </a:t>
            </a:r>
            <a:r>
              <a:rPr dirty="0" err="1"/>
              <a:t>tecnológico</a:t>
            </a:r>
            <a:r>
              <a:rPr dirty="0"/>
              <a:t>.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cambiando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educación</a:t>
            </a:r>
            <a:r>
              <a:rPr dirty="0"/>
              <a:t>, </a:t>
            </a:r>
            <a:r>
              <a:rPr dirty="0" err="1"/>
              <a:t>salud</a:t>
            </a:r>
            <a:r>
              <a:rPr dirty="0"/>
              <a:t>,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industria</a:t>
            </a:r>
            <a:r>
              <a:rPr dirty="0"/>
              <a:t> y </a:t>
            </a:r>
            <a:r>
              <a:rPr dirty="0" err="1"/>
              <a:t>administración</a:t>
            </a:r>
            <a:r>
              <a:rPr dirty="0"/>
              <a:t>.</a:t>
            </a:r>
          </a:p>
          <a:p>
            <a:r>
              <a:rPr dirty="0"/>
              <a:t>Imagen de </a:t>
            </a:r>
            <a:r>
              <a:rPr dirty="0" err="1"/>
              <a:t>portada</a:t>
            </a:r>
            <a:r>
              <a:rPr dirty="0"/>
              <a:t> </a:t>
            </a:r>
            <a:r>
              <a:rPr dirty="0" err="1"/>
              <a:t>generada</a:t>
            </a:r>
            <a:r>
              <a:rPr dirty="0"/>
              <a:t> con IA par</a:t>
            </a:r>
            <a:r>
              <a:rPr lang="es-419" dirty="0"/>
              <a:t>sugerida: la IA ya no pertenece </a:t>
            </a:r>
            <a:r>
              <a:rPr dirty="0"/>
              <a:t>a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presentación</a:t>
            </a:r>
            <a:r>
              <a:rPr dirty="0"/>
              <a:t>. No </a:t>
            </a:r>
            <a:r>
              <a:rPr dirty="0" err="1"/>
              <a:t>representa</a:t>
            </a:r>
            <a:r>
              <a:rPr dirty="0"/>
              <a:t> un </a:t>
            </a:r>
            <a:r>
              <a:rPr dirty="0" err="1"/>
              <a:t>hecho</a:t>
            </a:r>
            <a:r>
              <a:rPr dirty="0"/>
              <a:t>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World Economic Forum reporta que 86% de empleadores encuestados espera que la IA y el procesamiento de información transformen su negocio al 2030.</a:t>
            </a:r>
          </a:p>
          <a:p>
            <a:r>
              <a:t>El FMI estima que casi 40% del empleo mundial está expuesto a la IA.</a:t>
            </a:r>
          </a:p>
          <a:p>
            <a:r>
              <a:t>En 2026, el FMI reportó que 1 de cada 10 avisos laborales en economías avanzadas y 1 de cada 20 en economías emergentes exige al menos una habilidad nueva.</a:t>
            </a:r>
          </a:p>
          <a:p>
            <a:r>
              <a:t>Fuentes:</a:t>
            </a:r>
          </a:p>
          <a:p>
            <a:r>
              <a:t>https://www.weforum.org/publications/the-future-of-jobs-report-2025/digest/</a:t>
            </a:r>
          </a:p>
          <a:p>
            <a:r>
              <a:t>https://www.imf.org/en/Blogs/Articles/2024/01/14/ai-will-transform-the-global-economy-lets-make-sure-it-benefits-humanity</a:t>
            </a:r>
          </a:p>
          <a:p>
            <a:r>
              <a:t>https://www.imf.org/en/blogs/articles/2026/01/14/new-skills-and-ai-are-reshaping-the-future-of-work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Explique</a:t>
            </a:r>
            <a:r>
              <a:rPr dirty="0"/>
              <a:t> la </a:t>
            </a:r>
            <a:r>
              <a:rPr dirty="0" err="1"/>
              <a:t>diferencia</a:t>
            </a:r>
            <a:r>
              <a:rPr dirty="0"/>
              <a:t> entre </a:t>
            </a:r>
            <a:r>
              <a:rPr dirty="0" err="1"/>
              <a:t>automatizar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y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profesión</a:t>
            </a:r>
            <a:r>
              <a:rPr dirty="0"/>
              <a:t> completa.</a:t>
            </a:r>
          </a:p>
          <a:p>
            <a:r>
              <a:rPr dirty="0"/>
              <a:t>La OIT </a:t>
            </a:r>
            <a:r>
              <a:rPr dirty="0" err="1"/>
              <a:t>concluye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mayoría</a:t>
            </a:r>
            <a:r>
              <a:rPr dirty="0"/>
              <a:t> de </a:t>
            </a:r>
            <a:r>
              <a:rPr dirty="0" err="1"/>
              <a:t>ocupaciones</a:t>
            </a:r>
            <a:r>
              <a:rPr dirty="0"/>
              <a:t> </a:t>
            </a:r>
            <a:r>
              <a:rPr dirty="0" err="1"/>
              <a:t>expuestas</a:t>
            </a:r>
            <a:r>
              <a:rPr dirty="0"/>
              <a:t>, la </a:t>
            </a:r>
            <a:r>
              <a:rPr dirty="0" err="1"/>
              <a:t>transformación</a:t>
            </a:r>
            <a:r>
              <a:rPr dirty="0"/>
              <a:t> de </a:t>
            </a:r>
            <a:r>
              <a:rPr dirty="0" err="1"/>
              <a:t>tareas</a:t>
            </a:r>
            <a:r>
              <a:rPr dirty="0"/>
              <a:t> es </a:t>
            </a:r>
            <a:r>
              <a:rPr dirty="0" err="1"/>
              <a:t>más</a:t>
            </a:r>
            <a:r>
              <a:rPr dirty="0"/>
              <a:t> probable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sustitución</a:t>
            </a:r>
            <a:r>
              <a:rPr dirty="0"/>
              <a:t> total.</a:t>
            </a:r>
          </a:p>
          <a:p>
            <a:r>
              <a:rPr dirty="0"/>
              <a:t>Fuentes:</a:t>
            </a:r>
          </a:p>
          <a:p>
            <a:r>
              <a:rPr dirty="0"/>
              <a:t>https://doi.org/10.54394/HETP0387</a:t>
            </a:r>
          </a:p>
          <a:p>
            <a:r>
              <a:rPr dirty="0"/>
              <a:t>https://www.imf.org/en/Blogs/Articles/2024/01/14/ai-will-transform-the-global-economy-lets-make-sure-it-benefits-humanity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WEF estima 170 millones de nuevos puestos y 92 millones de puestos desplazados entre 2025 y 2030. El saldo neto sería de 78 millones.</a:t>
            </a:r>
          </a:p>
          <a:p>
            <a:r>
              <a:t>Estas cifras combinan varios motores de cambio, no solamente la IA. El informe también señala que 39% de las habilidades actuales se transformará o quedará desactualizado.</a:t>
            </a:r>
          </a:p>
          <a:p>
            <a:r>
              <a:t>Fuente: 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ejemplos describen tareas, no una predicción de eliminación completa de cada profesión.</a:t>
            </a:r>
          </a:p>
          <a:p>
            <a:r>
              <a:t>La exposición es mayor en tareas de oficina y cognitivas digitalizadas. La supervisión humana continúa siendo decisiva en salud, educación, seguridad y decisiones de alto impacto.</a:t>
            </a:r>
          </a:p>
          <a:p>
            <a:r>
              <a:t>Fuentes:</a:t>
            </a:r>
          </a:p>
          <a:p>
            <a:r>
              <a:t>https://doi.org/10.54394/HETP0387</a:t>
            </a:r>
          </a:p>
          <a:p>
            <a:r>
              <a:t>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WEF identifica IA y big data, redes y ciberseguridad, y alfabetización tecnológica como las habilidades de crecimiento más rápido.</a:t>
            </a:r>
          </a:p>
          <a:p>
            <a:r>
              <a:t>También aumenta la importancia del pensamiento creativo, la resiliencia, la curiosidad y el aprendizaje permanente.</a:t>
            </a:r>
          </a:p>
          <a:p>
            <a:r>
              <a:t>El informe estima que 59 de cada 100 trabajadores necesitarán capacitación al 2030.</a:t>
            </a:r>
          </a:p>
          <a:p>
            <a:r>
              <a:t>Fuente: 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MTPE señaló en mayo de 2026 que la inteligencia artificial y el pensamiento analítico lideran las competencias laborales más demandadas del año.</a:t>
            </a:r>
          </a:p>
          <a:p>
            <a:r>
              <a:t>El estudio conjunto OIT y Banco Mundial para América Latina y el Caribe estima exposición de 26% a 38% de los empleos. Entre 8% y 14% podría beneficiarse por aumento de productividad y entre 2% y 5% enfrenta potencial de automatización completa.</a:t>
            </a:r>
          </a:p>
          <a:p>
            <a:r>
              <a:t>Estas cifras son regionales y representan potencial técnico, no resultados inevitables.</a:t>
            </a:r>
          </a:p>
          <a:p>
            <a:r>
              <a:t>Fuentes:</a:t>
            </a:r>
          </a:p>
          <a:p>
            <a:r>
              <a:t>MTPE, nota de prensa del 8 de mayo de 2026: Inteligencia Artificial y pensamiento analítico lideran las competencias laborales más demandadas para el 2026. https://www.gob.pe/mtpe</a:t>
            </a:r>
          </a:p>
          <a:p>
            <a:r>
              <a:t>https://doi.org/10.54394/TFZY7681</a:t>
            </a:r>
          </a:p>
          <a:p>
            <a:r>
              <a:t>https://www.ilo.org/publications/buffer-or-bottleneck-employment-exposure-generative-ai-and-digital-divide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Caso real reciente en Perú.</a:t>
            </a:r>
          </a:p>
          <a:p>
            <a:r>
              <a:t>El Banco Mundial informa que el programa llegó a unos 4,500 estudiantes de quinto de secundaria en 85 escuelas públicas de Lima desde marzo de 2026.</a:t>
            </a:r>
          </a:p>
          <a:p>
            <a:r>
              <a:t>Un ensayo aleatorizado en 390 escuelas incluyó a 1,270 docentes. La formación aumentó el uso activo de IA y mejoró la capacidad de redactar instrucciones y evaluar resultados.</a:t>
            </a:r>
          </a:p>
          <a:p>
            <a:r>
              <a:t>El Ministerio de Educación capacitó a más de 6,000 directivos en El Director Libre desde 2025.</a:t>
            </a:r>
          </a:p>
          <a:p>
            <a:r>
              <a:t>El propio Banco Mundial advierte que aún se investiga si las mejoras iniciales producen aprendizaje duradero.</a:t>
            </a:r>
          </a:p>
          <a:p>
            <a:r>
              <a:t>Fuente: https://www.worldbank.org/en/results/2026/07/02/artificial-intelligence-in-action-in-latin-america-s-schools-evidence-from-peru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IA puede elevar productividad y ampliar el acceso a servicios. Los beneficios aumentan cuando las personas conservan responsabilidad sobre decisiones y resultados.</a:t>
            </a:r>
          </a:p>
          <a:p>
            <a:r>
              <a:t>Imagen generada con IA para esta presentación. No representa una persona ni un hecho real.</a:t>
            </a:r>
          </a:p>
          <a:p>
            <a:r>
              <a:t>Fuentes:</a:t>
            </a:r>
          </a:p>
          <a:p>
            <a:r>
              <a:t>https://www.imf.org/en/Blogs/Articles/2024/01/14/ai-will-transform-the-global-economy-lets-make-sure-it-benefits-humanity</a:t>
            </a:r>
          </a:p>
          <a:p>
            <a:r>
              <a:t>https://www.imf.org/en/blogs/articles/2026/01/14/new-skills-and-ai-are-reshaping-the-future-of-work</a:t>
            </a:r>
          </a:p>
          <a:p>
            <a:r>
              <a:t>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FMI advierte que la IA puede profundizar desigualdades si la productividad y los salarios se concentran en quienes ya tienen más capacidades.</a:t>
            </a:r>
          </a:p>
          <a:p>
            <a:r>
              <a:t>La OIT y el Banco Mundial señalan que la brecha digital puede limitar los beneficios en América Latina y el Caribe.</a:t>
            </a:r>
          </a:p>
          <a:p>
            <a:r>
              <a:t>Fuentes:</a:t>
            </a:r>
          </a:p>
          <a:p>
            <a:r>
              <a:t>https://www.imf.org/en/Blogs/Articles/2024/01/14/ai-will-transform-the-global-economy-lets-make-sure-it-benefits-humanity</a:t>
            </a:r>
          </a:p>
          <a:p>
            <a:r>
              <a:t>https://doi.org/10.54394/TFZY7681</a:t>
            </a:r>
          </a:p>
          <a:p>
            <a:r>
              <a:t>https://doi.org/10.54394/HETP0387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sugerido: el futuro del trabajo no está determinado solamente por la capacidad técnica de la IA. También depende de decisiones educativas, empresariales y públicas.</a:t>
            </a:r>
          </a:p>
          <a:p>
            <a:r>
              <a:t>El WEF proyecta crecimiento neto del empleo al 2030, mientras que el FMI y la OIT advierten sobre polarización, transición desigual y necesidad de capacitación.</a:t>
            </a:r>
          </a:p>
          <a:p>
            <a:r>
              <a:t>Fuentes: WEF 2025; FMI 2024 y 2026; OIT 2025; Banco Mundial 2024 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Enlaces completos:</a:t>
            </a:r>
          </a:p>
          <a:p>
            <a:r>
              <a:t>https://www.weforum.org/publications/the-future-of-jobs-report-2025/digest/</a:t>
            </a:r>
          </a:p>
          <a:p>
            <a:r>
              <a:t>https://www.imf.org/en/Blogs/Articles/2024/01/14/ai-will-transform-the-global-economy-lets-make-sure-it-benefits-humanity</a:t>
            </a:r>
          </a:p>
          <a:p>
            <a:r>
              <a:t>https://www.imf.org/en/blogs/articles/2026/01/14/new-skills-and-ai-are-reshaping-the-future-of-work</a:t>
            </a:r>
          </a:p>
          <a:p>
            <a:r>
              <a:t>https://doi.org/10.54394/HETP0387</a:t>
            </a:r>
          </a:p>
          <a:p>
            <a:r>
              <a:t>https://doi.org/10.54394/TFZY7681</a:t>
            </a:r>
          </a:p>
          <a:p>
            <a:r>
              <a:t>https://www.worldbank.org/en/results/2026/07/02/artificial-intelligence-in-action-in-latin-america-s-schools-evidence-from-peru</a:t>
            </a:r>
          </a:p>
          <a:p>
            <a:r>
              <a:t>MTPE, nota de prensa del 8 de mayo de 2026: https://www.gob.pe/mtpe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D136AA1-305A-4B92-B9E8-EE5EE761CFE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5334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IA Y FUTURO</a:t>
            </a:r>
          </a:p>
          <a:p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 TRABAJO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65511B-204D-405C-9416-E302D93A380C}"/>
              </a:ext>
            </a:extLst>
          </p:cNvPr>
          <p:cNvSpPr>
            <a:spLocks noGrp="1"/>
          </p:cNvSpPr>
          <p:nvPr/>
        </p:nvSpPr>
        <p:spPr>
          <a:xfrm>
            <a:off x="638175" y="3048000"/>
            <a:ext cx="4476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D8E5F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Transformación de las profesiones y nuevas habilidades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59FB46-2948-447F-B04E-130E99641130}"/>
              </a:ext>
            </a:extLst>
          </p:cNvPr>
          <p:cNvSpPr>
            <a:spLocks noGrp="1"/>
          </p:cNvSpPr>
          <p:nvPr/>
        </p:nvSpPr>
        <p:spPr>
          <a:xfrm>
            <a:off x="638175" y="3943350"/>
            <a:ext cx="876300" cy="5715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D0A84D-B7B1-4E8B-B441-112B97F2EA06}"/>
              </a:ext>
            </a:extLst>
          </p:cNvPr>
          <p:cNvSpPr>
            <a:spLocks noGrp="1"/>
          </p:cNvSpPr>
          <p:nvPr/>
        </p:nvSpPr>
        <p:spPr>
          <a:xfrm>
            <a:off x="638175" y="4362450"/>
            <a:ext cx="4191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1275" b="0">
                <a:solidFill>
                  <a:srgbClr val="D8E5F0"/>
                </a:solidFill>
                <a:latin typeface="DejaVu Sans"/>
                <a:ea typeface="DejaVu Sans"/>
                <a:cs typeface="DejaVu Sans"/>
              </a:defRPr>
            </a:pPr>
            <a:r>
              <a:rPr lang="es-PE"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Curso</a:t>
            </a:r>
            <a:r>
              <a:rPr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:</a:t>
            </a:r>
            <a:r>
              <a:rPr lang="es-PE"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Fundamentos y algoritmia para Inteligencia Artificial</a:t>
            </a:r>
            <a:endParaRPr sz="1275" b="0" dirty="0">
              <a:solidFill>
                <a:srgbClr val="D8E5F0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35000"/>
              </a:lnSpc>
              <a:buNone/>
              <a:defRPr sz="1275" b="0">
                <a:solidFill>
                  <a:srgbClr val="D8E5F0"/>
                </a:solidFill>
                <a:latin typeface="DejaVu Sans"/>
                <a:ea typeface="DejaVu Sans"/>
                <a:cs typeface="DejaVu Sans"/>
              </a:defRPr>
            </a:pPr>
            <a:r>
              <a:rPr lang="es-PE"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Grupo 1</a:t>
            </a:r>
            <a:br>
              <a:rPr lang="es-PE"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</a:br>
            <a:r>
              <a:rPr sz="1275" b="0" dirty="0" err="1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Fecha</a:t>
            </a:r>
            <a:r>
              <a:rPr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: 19 de </a:t>
            </a:r>
            <a:r>
              <a:rPr sz="1275" b="0" dirty="0" err="1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septiembre</a:t>
            </a:r>
            <a:r>
              <a:rPr sz="1275" b="0" dirty="0">
                <a:solidFill>
                  <a:srgbClr val="D8E5F0"/>
                </a:solidFill>
                <a:latin typeface="DejaVu Sans"/>
                <a:ea typeface="DejaVu Sans"/>
                <a:cs typeface="DejaVu Sans"/>
              </a:rPr>
              <a:t> de 2026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DA9E84-3DDA-42F5-99C7-BA43A8F663B3}"/>
              </a:ext>
            </a:extLst>
          </p:cNvPr>
          <p:cNvSpPr>
            <a:spLocks noGrp="1"/>
          </p:cNvSpPr>
          <p:nvPr/>
        </p:nvSpPr>
        <p:spPr>
          <a:xfrm>
            <a:off x="638175" y="611505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14053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E36DBD20-B983-4218-A928-4BE7CDCFD54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A28FCD-4725-4FCA-AB75-E0A3309CD49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La transformación ya empezó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D19AB8-C1AA-4D09-AF0C-EAC73A96EA7E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FDBD1DD-FA8C-4226-829E-7F724C831313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F533F4-9AF7-416F-8E36-701C49A341D8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320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86%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6BD0F3-3A97-4F0E-B620-3726AD43F5D1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20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de empleadores espera que la IA y el procesamiento de información transformen su negocio al 2030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005592-876D-43CF-899B-505E00274CE7}"/>
              </a:ext>
            </a:extLst>
          </p:cNvPr>
          <p:cNvSpPr>
            <a:spLocks noGrp="1"/>
          </p:cNvSpPr>
          <p:nvPr/>
        </p:nvSpPr>
        <p:spPr>
          <a:xfrm>
            <a:off x="4495800" y="175260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≈40%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DE7697-3254-4FE5-84A9-0EE3428FC6C2}"/>
              </a:ext>
            </a:extLst>
          </p:cNvPr>
          <p:cNvSpPr>
            <a:spLocks noGrp="1"/>
          </p:cNvSpPr>
          <p:nvPr/>
        </p:nvSpPr>
        <p:spPr>
          <a:xfrm>
            <a:off x="4495800" y="2400300"/>
            <a:ext cx="285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del empleo mundial está expuesto a cambios impulsados por 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6453A7-7964-4EA5-B4DC-3E271FB4EB4A}"/>
              </a:ext>
            </a:extLst>
          </p:cNvPr>
          <p:cNvSpPr>
            <a:spLocks noGrp="1"/>
          </p:cNvSpPr>
          <p:nvPr/>
        </p:nvSpPr>
        <p:spPr>
          <a:xfrm>
            <a:off x="8191500" y="1752600"/>
            <a:ext cx="320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1 de 10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604ECFC-6D4C-434A-B989-3DD058859D9D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3200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avisos laborales en economías avanzadas ya pide al menos una habilidad nueva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91F65E-2B16-4EBD-AF00-8B6366F28B15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La pregunta central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BD2DC7-E442-4BB9-AE9F-577BD5A2941D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¿Cómo aprovechar la productividad de la IA sin ampliar la desigualdad ni debilitar la calidad del empleo?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8ACADB0-F885-4E96-B206-F0FC94842FB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885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respuesta depende de formación, rediseño del trabajo y reglas de uso responsable.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8D378CA-AE08-4E86-9022-34B9BCB7DEA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Fuentes: World Economic Forum (2025); FMI (2024, 2026)</a:t>
            </a:r>
          </a:p>
        </p:txBody>
      </p:sp>
    </p:spTree>
    <p:extLst>
      <p:ext uri="{BB962C8B-B14F-4D97-AF65-F5344CB8AC3E}">
        <p14:creationId xmlns:p14="http://schemas.microsoft.com/office/powerpoint/2010/main" val="205226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3F5AB5BF-677B-4009-8AFA-193D84DE552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CONTEXTO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71E9580-A6F5-4F5B-B0F8-662B62150F0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Tareas, puestos y profesiones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13A86C-218D-470C-A878-6A029E529F7D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702FBD-9D31-4B3E-A009-C5FD0C2F8E12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7C997AC-3962-4DCE-A752-D403540F8A42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895350" cy="66675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9B3D3F-E4EA-4AA9-8647-C27384CA4DB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AUTOMATIZACIÓN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BFB00A-5127-4682-8652-DCD71C23D76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0099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La IA ejecuta una tarea con poca intervención humana.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24C8FA-9854-499B-8C3D-57AA46CB9859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0099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Ejemplo: clasificar documentos repetitivos.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60FE76-0D9D-4793-9774-151898598A25}"/>
              </a:ext>
            </a:extLst>
          </p:cNvPr>
          <p:cNvSpPr>
            <a:spLocks noGrp="1"/>
          </p:cNvSpPr>
          <p:nvPr/>
        </p:nvSpPr>
        <p:spPr>
          <a:xfrm>
            <a:off x="4171950" y="1752600"/>
            <a:ext cx="895350" cy="66675"/>
          </a:xfrm>
          <a:prstGeom prst="rect">
            <a:avLst/>
          </a:prstGeom>
          <a:solidFill>
            <a:srgbClr val="16BCEB"/>
          </a:solidFill>
          <a:ln w="0">
            <a:noFill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D71DC76-9F86-4528-866E-7F8305019E4F}"/>
              </a:ext>
            </a:extLst>
          </p:cNvPr>
          <p:cNvSpPr>
            <a:spLocks noGrp="1"/>
          </p:cNvSpPr>
          <p:nvPr/>
        </p:nvSpPr>
        <p:spPr>
          <a:xfrm>
            <a:off x="4171950" y="2000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AUMENTO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A79309A-6881-41B5-9F0D-502868229E11}"/>
              </a:ext>
            </a:extLst>
          </p:cNvPr>
          <p:cNvSpPr>
            <a:spLocks noGrp="1"/>
          </p:cNvSpPr>
          <p:nvPr/>
        </p:nvSpPr>
        <p:spPr>
          <a:xfrm>
            <a:off x="4171950" y="2476500"/>
            <a:ext cx="30099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La IA acelera el trabajo, pero una persona revisa y decide.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A6C944-268E-4F87-BA36-C5F670A170C5}"/>
              </a:ext>
            </a:extLst>
          </p:cNvPr>
          <p:cNvSpPr>
            <a:spLocks noGrp="1"/>
          </p:cNvSpPr>
          <p:nvPr/>
        </p:nvSpPr>
        <p:spPr>
          <a:xfrm>
            <a:off x="4171950" y="3829050"/>
            <a:ext cx="30099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Ejemplo: un analista valida un informe generado.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F74881-A0A6-4B37-AB8C-CBCAD855390D}"/>
              </a:ext>
            </a:extLst>
          </p:cNvPr>
          <p:cNvSpPr>
            <a:spLocks noGrp="1"/>
          </p:cNvSpPr>
          <p:nvPr/>
        </p:nvSpPr>
        <p:spPr>
          <a:xfrm>
            <a:off x="7734300" y="1752600"/>
            <a:ext cx="895350" cy="66675"/>
          </a:xfrm>
          <a:prstGeom prst="rect">
            <a:avLst/>
          </a:prstGeom>
          <a:solidFill>
            <a:srgbClr val="36B37E"/>
          </a:solidFill>
          <a:ln w="0">
            <a:noFill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51C630-5409-4FA9-8C1E-04A43F507551}"/>
              </a:ext>
            </a:extLst>
          </p:cNvPr>
          <p:cNvSpPr>
            <a:spLocks noGrp="1"/>
          </p:cNvSpPr>
          <p:nvPr/>
        </p:nvSpPr>
        <p:spPr>
          <a:xfrm>
            <a:off x="7734300" y="2000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TRANSFORMACIÓN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6A0C47-6DEB-45F6-859E-782790B0ABA2}"/>
              </a:ext>
            </a:extLst>
          </p:cNvPr>
          <p:cNvSpPr>
            <a:spLocks noGrp="1"/>
          </p:cNvSpPr>
          <p:nvPr/>
        </p:nvSpPr>
        <p:spPr>
          <a:xfrm>
            <a:off x="7734300" y="2476500"/>
            <a:ext cx="30099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Cambian la combinación de tareas, el flujo y las responsabilidades.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9E65513-B34E-48B6-B241-270D340CFBF1}"/>
              </a:ext>
            </a:extLst>
          </p:cNvPr>
          <p:cNvSpPr>
            <a:spLocks noGrp="1"/>
          </p:cNvSpPr>
          <p:nvPr/>
        </p:nvSpPr>
        <p:spPr>
          <a:xfrm>
            <a:off x="7734300" y="3829050"/>
            <a:ext cx="30099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Ejemplo: un docente usa un tutor de IA y se concentra en orientar.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ACA6C87-DBFC-4886-B6DE-D6B4CF4CF19D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40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Idea clave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77AB622-26FB-42F6-A7DD-BF50107D9F36}"/>
              </a:ext>
            </a:extLst>
          </p:cNvPr>
          <p:cNvSpPr>
            <a:spLocks noGrp="1"/>
          </p:cNvSpPr>
          <p:nvPr/>
        </p:nvSpPr>
        <p:spPr>
          <a:xfrm>
            <a:off x="2019300" y="5105400"/>
            <a:ext cx="933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Una profesión reúne muchas tareas. Por eso, la exposición a IA no equivale automáticamente a la desaparición del puesto.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60E2D3F-89DD-4FF2-B9B1-9139305BED49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Síntesis basada en OIT (2025), FMI (2024) y WEF (2025)</a:t>
            </a:r>
          </a:p>
        </p:txBody>
      </p:sp>
    </p:spTree>
    <p:extLst>
      <p:ext uri="{BB962C8B-B14F-4D97-AF65-F5344CB8AC3E}">
        <p14:creationId xmlns:p14="http://schemas.microsoft.com/office/powerpoint/2010/main" val="15030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6888171-F006-404B-A528-035025EB34D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DESARROLLO 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83B7BF-35CD-4BC2-B72B-403941EEB53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El saldo neto de empleo sería positivo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DDF484-F21D-45CE-90B1-48FA0DD8480B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A614CE-FB46-4287-8988-CA5AB13BD4B6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="685800" y="1695450"/>
          <a:ext cx="6858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FE6919AD-C3EE-4285-98A7-6AC946949532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2025–2030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C52EAE5-A1E3-41DD-AE70-71DD23D2BBFA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9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22%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D2D0C9-215B-4E49-8C72-AF53404D55B7}"/>
              </a:ext>
            </a:extLst>
          </p:cNvPr>
          <p:cNvSpPr>
            <a:spLocks noGrp="1"/>
          </p:cNvSpPr>
          <p:nvPr/>
        </p:nvSpPr>
        <p:spPr>
          <a:xfrm>
            <a:off x="8191500" y="3028950"/>
            <a:ext cx="304800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de los empleos actuales sufrirá creación o desplazamiento por cambios estructurales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7DD9C7-7F95-4CF9-9BDC-190D08881A2B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39%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81B089-2699-494D-A6FA-900349318EFA}"/>
              </a:ext>
            </a:extLst>
          </p:cNvPr>
          <p:cNvSpPr>
            <a:spLocks noGrp="1"/>
          </p:cNvSpPr>
          <p:nvPr/>
        </p:nvSpPr>
        <p:spPr>
          <a:xfrm>
            <a:off x="8191500" y="5038725"/>
            <a:ext cx="30670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de las habilidades actuales cambiará o quedará desactualizado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FEE924-E0B3-42C4-AA66-E90A0FEAFB63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Proyecciones globales para 2030. Fuente: World Economic Forum, Future of Jobs Report 2025</a:t>
            </a:r>
          </a:p>
        </p:txBody>
      </p:sp>
    </p:spTree>
    <p:extLst>
      <p:ext uri="{BB962C8B-B14F-4D97-AF65-F5344CB8AC3E}">
        <p14:creationId xmlns:p14="http://schemas.microsoft.com/office/powerpoint/2010/main" val="6179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B5B5AFF1-FE5F-4F46-9A30-8B93D67F729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DESARROLLO 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1C75DD-B5D4-4F9E-8E87-2E356DE3B5E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Cómo cambian cinco áreas profesionales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2D18A5-E040-4F87-AAEE-0364F001BFE4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A57D3FE-374A-497A-8379-E10E0E261A37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D208CF-9C1D-4EF0-8925-3D9026349FD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ÁREA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E46B72-F554-43E0-8108-D96F268F3EE3}"/>
              </a:ext>
            </a:extLst>
          </p:cNvPr>
          <p:cNvSpPr>
            <a:spLocks noGrp="1"/>
          </p:cNvSpPr>
          <p:nvPr/>
        </p:nvSpPr>
        <p:spPr>
          <a:xfrm>
            <a:off x="3429000" y="1619250"/>
            <a:ext cx="3524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TAREAS QUE ACELERA LA 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A711C9-1355-40C9-B864-2EC61F392BE7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VALOR HUMANO QUE AUMENTA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1197AC-AEF1-4032-AC99-88F41E8F6B29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BC7B74-0C2E-46EE-97EF-6FEED715F838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Administración y atención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C97AB2-CFCE-4E3C-95EF-B3B4ABAA0245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resume, clasifica y redacta respuestas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19C1EA-677D-4CEA-8523-0AB38CD8FF8A}"/>
              </a:ext>
            </a:extLst>
          </p:cNvPr>
          <p:cNvSpPr>
            <a:spLocks noGrp="1"/>
          </p:cNvSpPr>
          <p:nvPr/>
        </p:nvSpPr>
        <p:spPr>
          <a:xfrm>
            <a:off x="7524750" y="2000250"/>
            <a:ext cx="4000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La persona resuelve excepciones y casos sensibles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456019-4407-4791-AD4E-476F9578F750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C412F7B-B921-496E-8E90-D806AD3E49C6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Software y datos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1AF1D02-CF4F-4C48-85BC-A3B92A7A2F7C}"/>
              </a:ext>
            </a:extLst>
          </p:cNvPr>
          <p:cNvSpPr>
            <a:spLocks noGrp="1"/>
          </p:cNvSpPr>
          <p:nvPr/>
        </p:nvSpPr>
        <p:spPr>
          <a:xfrm>
            <a:off x="3429000" y="28384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propone código, pruebas y consultas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712E0B9-845A-44AD-B150-1FD531147DFF}"/>
              </a:ext>
            </a:extLst>
          </p:cNvPr>
          <p:cNvSpPr>
            <a:spLocks noGrp="1"/>
          </p:cNvSpPr>
          <p:nvPr/>
        </p:nvSpPr>
        <p:spPr>
          <a:xfrm>
            <a:off x="7524750" y="2838450"/>
            <a:ext cx="4000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El profesional diseña, verifica y protege el sistema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46C5FDF-4753-4A02-BC4D-B282D08894E4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963FBAB-DA6A-4778-B47A-686779C7DF7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Salud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6B21D61-D877-418B-BA1D-B811E8EA450D}"/>
              </a:ext>
            </a:extLst>
          </p:cNvPr>
          <p:cNvSpPr>
            <a:spLocks noGrp="1"/>
          </p:cNvSpPr>
          <p:nvPr/>
        </p:nvSpPr>
        <p:spPr>
          <a:xfrm>
            <a:off x="3429000" y="36766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apoya documentación e interpretación de imágenes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EEB6937-D77D-4D1D-BCB4-18CAD3DA9DEA}"/>
              </a:ext>
            </a:extLst>
          </p:cNvPr>
          <p:cNvSpPr>
            <a:spLocks noGrp="1"/>
          </p:cNvSpPr>
          <p:nvPr/>
        </p:nvSpPr>
        <p:spPr>
          <a:xfrm>
            <a:off x="7524750" y="3676650"/>
            <a:ext cx="4000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El personal clínico decide y asume responsabilidad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E0C5C0-7493-4A65-96DC-0E2BA80A1384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6C42CD2-A734-4A8B-BCDD-237F87F06F45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Educación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82051D4-C06B-4B44-9259-1F981A189815}"/>
              </a:ext>
            </a:extLst>
          </p:cNvPr>
          <p:cNvSpPr>
            <a:spLocks noGrp="1"/>
          </p:cNvSpPr>
          <p:nvPr/>
        </p:nvSpPr>
        <p:spPr>
          <a:xfrm>
            <a:off x="3429000" y="45148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personaliza prácticas y prepara materiales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531248C-18F5-4BBD-8BFA-AA0BBDBE49C8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4000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El docente orienta, evalúa y protege al estudiante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CE98A78-31D0-4C63-BDB5-BCE8734CC1C9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F5E8CBF-53B2-4511-9EB0-B7EB22893B77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Industria y logística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3F34748-9CE8-44DC-BAF6-0FB024B9C48F}"/>
              </a:ext>
            </a:extLst>
          </p:cNvPr>
          <p:cNvSpPr>
            <a:spLocks noGrp="1"/>
          </p:cNvSpPr>
          <p:nvPr/>
        </p:nvSpPr>
        <p:spPr>
          <a:xfrm>
            <a:off x="3429000" y="5353050"/>
            <a:ext cx="3524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predice fallas y optimiza rutas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95B0E2A-A096-4CA3-9F6E-E819447B7D57}"/>
              </a:ext>
            </a:extLst>
          </p:cNvPr>
          <p:cNvSpPr>
            <a:spLocks noGrp="1"/>
          </p:cNvSpPr>
          <p:nvPr/>
        </p:nvSpPr>
        <p:spPr>
          <a:xfrm>
            <a:off x="7524750" y="5353050"/>
            <a:ext cx="4000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El equipo supervisa seguridad y situaciones imprevistas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ACAFF0B-D0C5-454A-B0E0-14037E97877B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Patrón común: menos tareas rutinarias y más responsabilidad en juicio, contexto y trato humano.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7091788-A1FE-4E36-8008-21B776CEB2B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Ejemplos de transformación de tareas. Fuentes: OIT (2025), WEF (2025)</a:t>
            </a:r>
          </a:p>
        </p:txBody>
      </p:sp>
    </p:spTree>
    <p:extLst>
      <p:ext uri="{BB962C8B-B14F-4D97-AF65-F5344CB8AC3E}">
        <p14:creationId xmlns:p14="http://schemas.microsoft.com/office/powerpoint/2010/main" val="600045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9D0ED92F-BC7F-41FC-B2B6-70E585737D0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DESARROLLO II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37F420-659E-43F8-B221-DB217BF05B4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ventaja será combinar conocimiento e 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37F577-F13A-4FE6-BFB5-4297DA436E22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B6C5D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6C5D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97B582E-D0BF-4227-A4B2-2AA336EA12CC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53C6AA-4BFF-4331-B6E5-3387632B4C7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HABILIDADES TÉCNICAS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06DC7F-765B-4775-B02A-F9E24A4BCC74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4495111-104A-4A5C-9919-BB1D843AFF7B}"/>
              </a:ext>
            </a:extLst>
          </p:cNvPr>
          <p:cNvSpPr>
            <a:spLocks noGrp="1"/>
          </p:cNvSpPr>
          <p:nvPr/>
        </p:nvSpPr>
        <p:spPr>
          <a:xfrm>
            <a:off x="1219200" y="20764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Alfabetización en IA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3AC9BB-AD81-4A3C-B2C2-42D19EC01B3A}"/>
              </a:ext>
            </a:extLst>
          </p:cNvPr>
          <p:cNvSpPr>
            <a:spLocks noGrp="1"/>
          </p:cNvSpPr>
          <p:nvPr/>
        </p:nvSpPr>
        <p:spPr>
          <a:xfrm>
            <a:off x="1219200" y="24574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Entender capacidades, límites y costos.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098E34B-40E0-4FE0-A9E2-2BF1FFBC84EB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246A93C-72F5-4B43-8A24-F3276E7B16A3}"/>
              </a:ext>
            </a:extLst>
          </p:cNvPr>
          <p:cNvSpPr>
            <a:spLocks noGrp="1"/>
          </p:cNvSpPr>
          <p:nvPr/>
        </p:nvSpPr>
        <p:spPr>
          <a:xfrm>
            <a:off x="1219200" y="31242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Datos y ciberseguridad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1D9B4C-03C0-43DA-B6A5-48FE4CD548B9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Interpretar información y protegerla.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8575D4-5CAC-435A-9492-5F727AB0021F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F5D60AA-8DB8-439C-95AD-26C4AED80E93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Diseño de flujos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D585ECA-DFF3-4BDE-AFD8-42FD400998C2}"/>
              </a:ext>
            </a:extLst>
          </p:cNvPr>
          <p:cNvSpPr>
            <a:spLocks noGrp="1"/>
          </p:cNvSpPr>
          <p:nvPr/>
        </p:nvSpPr>
        <p:spPr>
          <a:xfrm>
            <a:off x="1219200" y="45529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Integrar IA en procesos medibles.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EB7EA8-81F1-4016-98BA-DA32072655AD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HABILIDADES HUMANAS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A1E5597-1EC2-41BE-89BA-FE0BEDC0E3A5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0619CCB-2AB4-4244-8CFD-9E8DF37D555B}"/>
              </a:ext>
            </a:extLst>
          </p:cNvPr>
          <p:cNvSpPr>
            <a:spLocks noGrp="1"/>
          </p:cNvSpPr>
          <p:nvPr/>
        </p:nvSpPr>
        <p:spPr>
          <a:xfrm>
            <a:off x="6800850" y="20764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Pensamiento analítico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0DA1523-3F2F-47FC-A9DF-8B38E4F5AE94}"/>
              </a:ext>
            </a:extLst>
          </p:cNvPr>
          <p:cNvSpPr>
            <a:spLocks noGrp="1"/>
          </p:cNvSpPr>
          <p:nvPr/>
        </p:nvSpPr>
        <p:spPr>
          <a:xfrm>
            <a:off x="6800850" y="24574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Formular el problema y contrastar evidencia.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FB59BF1-C095-4886-B742-20C073AA7331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963483D-36CF-44C7-9672-BCE0030B893E}"/>
              </a:ext>
            </a:extLst>
          </p:cNvPr>
          <p:cNvSpPr>
            <a:spLocks noGrp="1"/>
          </p:cNvSpPr>
          <p:nvPr/>
        </p:nvSpPr>
        <p:spPr>
          <a:xfrm>
            <a:off x="6800850" y="312420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Criterio y ética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6441C26-EA53-480A-AEB1-42BA4F0D578B}"/>
              </a:ext>
            </a:extLst>
          </p:cNvPr>
          <p:cNvSpPr>
            <a:spLocks noGrp="1"/>
          </p:cNvSpPr>
          <p:nvPr/>
        </p:nvSpPr>
        <p:spPr>
          <a:xfrm>
            <a:off x="6800850" y="35052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Detectar errores, sesgos y riesgos.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F639CCD-D176-4215-9061-100CCBEF6A88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40894F8-1CF4-459D-B1CF-12E4E40552C0}"/>
              </a:ext>
            </a:extLst>
          </p:cNvPr>
          <p:cNvSpPr>
            <a:spLocks noGrp="1"/>
          </p:cNvSpPr>
          <p:nvPr/>
        </p:nvSpPr>
        <p:spPr>
          <a:xfrm>
            <a:off x="6800850" y="41719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Comunicación y liderazgo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0DE7168-6FFE-4985-A324-A33EAF70BBDB}"/>
              </a:ext>
            </a:extLst>
          </p:cNvPr>
          <p:cNvSpPr>
            <a:spLocks noGrp="1"/>
          </p:cNvSpPr>
          <p:nvPr/>
        </p:nvSpPr>
        <p:spPr>
          <a:xfrm>
            <a:off x="6800850" y="45529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8D7"/>
                </a:solidFill>
                <a:latin typeface="DejaVu Sans"/>
                <a:ea typeface="DejaVu Sans"/>
                <a:cs typeface="DejaVu Sans"/>
              </a:rPr>
              <a:t>Explicar decisiones y coordinar personas.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51578A9-742F-4318-B466-05998795B963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287000" cy="9525"/>
          </a:xfrm>
          <a:prstGeom prst="rect">
            <a:avLst/>
          </a:prstGeom>
          <a:solidFill>
            <a:srgbClr val="31465E"/>
          </a:solidFill>
          <a:ln w="0">
            <a:noFill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8545298-709B-4FD7-809E-CF9F91B9BEFE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382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59 de cada 100 trabajadores necesitarán capacitación antes de 2030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B150746-50A0-46F3-80E5-BAC536FF7D45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A9B9C9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A9B9C9"/>
                </a:solidFill>
                <a:latin typeface="DejaVu Sans"/>
                <a:ea typeface="DejaVu Sans"/>
                <a:cs typeface="DejaVu Sans"/>
              </a:rPr>
              <a:t>Fuente: World Economic Forum, Future of Jobs Report 2025</a:t>
            </a:r>
          </a:p>
        </p:txBody>
      </p:sp>
    </p:spTree>
    <p:extLst>
      <p:ext uri="{BB962C8B-B14F-4D97-AF65-F5344CB8AC3E}">
        <p14:creationId xmlns:p14="http://schemas.microsoft.com/office/powerpoint/2010/main" val="214406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6ABFFC8-BB42-4EF2-B1AB-A40E305D79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DESARROLLO II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4D9BC26-54A3-468B-9E3B-D0DA0A468DF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Perú: oportunidad con brechas por resolver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653B56-D4B5-4A4E-8347-1C1506A96935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213DBE-A340-4A07-82F9-372738A6DFE5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C47282-C4AC-4E20-9E6E-9F79D883B30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SEÑAL DEL MERCADO LABORAL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2C7A3B-8B79-4EA6-AE18-A2582744C160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286375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El MTPE ubicó la inteligencia artificial y el pensamiento analítico entre las competencias laborales más demandadas para 2026.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6E0D3D-EC96-48B9-991C-B94B53E1BB1D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Ejemplos aplicables en el país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E5A74E-62E3-4FA7-A419-B76BA2BEE19E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5048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700"/>
              </a:spcAft>
              <a:buChar char="•"/>
              <a:def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Minería: mantenimiento predictivo y seguridad.</a:t>
            </a:r>
          </a:p>
          <a:p>
            <a:pPr marL="228600" indent="-114300" algn="l">
              <a:spcAft>
                <a:spcPts val="700"/>
              </a:spcAft>
              <a:buChar char="•"/>
              <a:def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Banca y comercio: detección de fraude y atención.</a:t>
            </a:r>
          </a:p>
          <a:p>
            <a:pPr marL="228600" indent="-114300" algn="l">
              <a:spcAft>
                <a:spcPts val="700"/>
              </a:spcAft>
              <a:buChar char="•"/>
              <a:def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Logística: pronóstico de demanda y rutas.</a:t>
            </a:r>
          </a:p>
          <a:p>
            <a:pPr marL="228600" indent="-114300" algn="l">
              <a:spcAft>
                <a:spcPts val="700"/>
              </a:spcAft>
              <a:buChar char="•"/>
              <a:def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Estado: apoyo documental y servicios digitales.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54916F8-8A45-4556-9131-EBCC31961B33}"/>
              </a:ext>
            </a:extLst>
          </p:cNvPr>
          <p:cNvSpPr>
            <a:spLocks noGrp="1"/>
          </p:cNvSpPr>
          <p:nvPr/>
        </p:nvSpPr>
        <p:spPr>
          <a:xfrm>
            <a:off x="6477000" y="165735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AMÉRICA LATINA Y EL CARIBE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D3F8480-AAE8-4728-B8BA-179B0A3F543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4572000" cy="514350"/>
          </a:xfrm>
          <a:prstGeom prst="roundRect">
            <a:avLst>
              <a:gd name="adj" fmla="val 33333"/>
            </a:avLst>
          </a:prstGeom>
          <a:solidFill>
            <a:srgbClr val="D9F5FC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B604C7-3CE8-46DD-92D2-1C69FB73D470}"/>
              </a:ext>
            </a:extLst>
          </p:cNvPr>
          <p:cNvSpPr>
            <a:spLocks noGrp="1"/>
          </p:cNvSpPr>
          <p:nvPr/>
        </p:nvSpPr>
        <p:spPr>
          <a:xfrm>
            <a:off x="6629400" y="2171700"/>
            <a:ext cx="1104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26–38%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698FF9-E196-4B06-A731-EF4EA0B24000}"/>
              </a:ext>
            </a:extLst>
          </p:cNvPr>
          <p:cNvSpPr>
            <a:spLocks noGrp="1"/>
          </p:cNvSpPr>
          <p:nvPr/>
        </p:nvSpPr>
        <p:spPr>
          <a:xfrm>
            <a:off x="7810500" y="2171700"/>
            <a:ext cx="308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empleos expuestos a IA generativa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C75CD3D-3EB5-4A76-BC9F-78E82496FF82}"/>
              </a:ext>
            </a:extLst>
          </p:cNvPr>
          <p:cNvSpPr>
            <a:spLocks noGrp="1"/>
          </p:cNvSpPr>
          <p:nvPr/>
        </p:nvSpPr>
        <p:spPr>
          <a:xfrm>
            <a:off x="6477000" y="26384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Exposición potencial, no pérdida confirmada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5B199CF-0793-4AE8-A1CD-01EB34A953E8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4572000" cy="514350"/>
          </a:xfrm>
          <a:prstGeom prst="roundRect">
            <a:avLst>
              <a:gd name="adj" fmla="val 33333"/>
            </a:avLst>
          </a:prstGeom>
          <a:solidFill>
            <a:srgbClr val="DFF5EB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9727B9B-BE56-45AE-B37A-758CE9BAEB1D}"/>
              </a:ext>
            </a:extLst>
          </p:cNvPr>
          <p:cNvSpPr>
            <a:spLocks noGrp="1"/>
          </p:cNvSpPr>
          <p:nvPr/>
        </p:nvSpPr>
        <p:spPr>
          <a:xfrm>
            <a:off x="6629400" y="3257550"/>
            <a:ext cx="1104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8–14%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9A0B04B-876E-444B-B9FC-08747540046C}"/>
              </a:ext>
            </a:extLst>
          </p:cNvPr>
          <p:cNvSpPr>
            <a:spLocks noGrp="1"/>
          </p:cNvSpPr>
          <p:nvPr/>
        </p:nvSpPr>
        <p:spPr>
          <a:xfrm>
            <a:off x="7810500" y="3257550"/>
            <a:ext cx="308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podría ganar productividad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6E0098B-7470-4BAE-A7BF-BF9B68564672}"/>
              </a:ext>
            </a:extLst>
          </p:cNvPr>
          <p:cNvSpPr>
            <a:spLocks noGrp="1"/>
          </p:cNvSpPr>
          <p:nvPr/>
        </p:nvSpPr>
        <p:spPr>
          <a:xfrm>
            <a:off x="6477000" y="372427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La IA complementa tareas del trabajador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18C1A1A-A0DB-473B-A164-1CCD9054022C}"/>
              </a:ext>
            </a:extLst>
          </p:cNvPr>
          <p:cNvSpPr>
            <a:spLocks noGrp="1"/>
          </p:cNvSpPr>
          <p:nvPr/>
        </p:nvSpPr>
        <p:spPr>
          <a:xfrm>
            <a:off x="6477000" y="4248150"/>
            <a:ext cx="4572000" cy="514350"/>
          </a:xfrm>
          <a:prstGeom prst="roundRect">
            <a:avLst>
              <a:gd name="adj" fmla="val 33333"/>
            </a:avLst>
          </a:prstGeom>
          <a:solidFill>
            <a:srgbClr val="FFE3DC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C71B7F1-62BA-42C1-A4C9-EE25568F9478}"/>
              </a:ext>
            </a:extLst>
          </p:cNvPr>
          <p:cNvSpPr>
            <a:spLocks noGrp="1"/>
          </p:cNvSpPr>
          <p:nvPr/>
        </p:nvSpPr>
        <p:spPr>
          <a:xfrm>
            <a:off x="6629400" y="4343400"/>
            <a:ext cx="1104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2–5%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793DE74-AA9B-4365-B143-9450E2383F26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3086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podría automatizarse por completo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E9CDC48-77C9-4168-9921-E7D170B5661D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Mayor riesgo en tareas rutinarias digitalizadas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B148931-5C09-47AE-B21D-7A61BBA6A010}"/>
              </a:ext>
            </a:extLst>
          </p:cNvPr>
          <p:cNvSpPr>
            <a:spLocks noGrp="1"/>
          </p:cNvSpPr>
          <p:nvPr/>
        </p:nvSpPr>
        <p:spPr>
          <a:xfrm>
            <a:off x="6477000" y="560070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Reto para el Perú: acceso digital, capacitación pertinente y apoyo a trabajadores en transición.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1712ADA-C120-4A48-BC10-0798FF4E198E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Fuentes: MTPE (8 mayo 2026); OIT y Banco Mundial (2024)</a:t>
            </a:r>
          </a:p>
        </p:txBody>
      </p:sp>
    </p:spTree>
    <p:extLst>
      <p:ext uri="{BB962C8B-B14F-4D97-AF65-F5344CB8AC3E}">
        <p14:creationId xmlns:p14="http://schemas.microsoft.com/office/powerpoint/2010/main" val="1266109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AD9E761C-856C-4A09-9DCB-E845B00B98A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CASO REAL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732E61-D9BC-4906-90D3-CA2B4E7C8F7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Caso 2026: IA en escuelas públicas de Lima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43E8D1-F0CE-49A4-9261-94CF5DA48566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E129148-81A5-420A-BC8D-A1C07F483085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E10BAC-F348-46D7-9EB3-26DB648650EE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Desde 2025, un programa del Banco Mundial integra tutores de matemáticas, orientación vocacional y formación práctica en IA.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4EAD817-E018-4E76-B180-6EA2334FC4DC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4,500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C9E64CD-C033-45BF-994A-D027609545AD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285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estudiantes de quinto de secundaria alcanzados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279DBE-1126-4807-86FA-6D56EDA79B84}"/>
              </a:ext>
            </a:extLst>
          </p:cNvPr>
          <p:cNvSpPr>
            <a:spLocks noGrp="1"/>
          </p:cNvSpPr>
          <p:nvPr/>
        </p:nvSpPr>
        <p:spPr>
          <a:xfrm>
            <a:off x="3562350" y="2724150"/>
            <a:ext cx="2476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85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D6D942-44A6-41B2-9633-99B8DBC1EB46}"/>
              </a:ext>
            </a:extLst>
          </p:cNvPr>
          <p:cNvSpPr>
            <a:spLocks noGrp="1"/>
          </p:cNvSpPr>
          <p:nvPr/>
        </p:nvSpPr>
        <p:spPr>
          <a:xfrm>
            <a:off x="3562350" y="3371850"/>
            <a:ext cx="2476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escuelas públicas de Lima participantes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83BFC6-7DC3-418C-BFAA-028784C98A79}"/>
              </a:ext>
            </a:extLst>
          </p:cNvPr>
          <p:cNvSpPr>
            <a:spLocks noGrp="1"/>
          </p:cNvSpPr>
          <p:nvPr/>
        </p:nvSpPr>
        <p:spPr>
          <a:xfrm>
            <a:off x="6477000" y="272415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1,270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F475E1-7397-4AAD-BC7D-EE6FFCA06E5A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285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docentes en un ensayo realizado en 390 escuelas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8C50B67-845E-4F9E-8AE4-0BC92E211572}"/>
              </a:ext>
            </a:extLst>
          </p:cNvPr>
          <p:cNvSpPr>
            <a:spLocks noGrp="1"/>
          </p:cNvSpPr>
          <p:nvPr/>
        </p:nvSpPr>
        <p:spPr>
          <a:xfrm>
            <a:off x="9467850" y="27241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&gt;6,000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E5D316-1397-425E-BA01-6AA0DB16DC9A}"/>
              </a:ext>
            </a:extLst>
          </p:cNvPr>
          <p:cNvSpPr>
            <a:spLocks noGrp="1"/>
          </p:cNvSpPr>
          <p:nvPr/>
        </p:nvSpPr>
        <p:spPr>
          <a:xfrm>
            <a:off x="9467850" y="3371850"/>
            <a:ext cx="2286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22033"/>
                </a:solidFill>
                <a:latin typeface="DejaVu Sans"/>
                <a:ea typeface="DejaVu Sans"/>
                <a:cs typeface="DejaVu Sans"/>
              </a:rPr>
              <a:t>directivos capacitados para reducir carga administrativa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26C9AE-77EB-4F82-88CE-4741EFEAC35C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10934700" cy="9525"/>
          </a:xfrm>
          <a:prstGeom prst="rect">
            <a:avLst/>
          </a:prstGeom>
          <a:solidFill>
            <a:srgbClr val="D7DEE8"/>
          </a:solidFill>
          <a:ln w="0">
            <a:noFill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5C9A03C-2232-455C-9A54-65C7AFCEB0FA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314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Hallazgo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6D8B4E-E1F8-488E-B097-10939CEDC452}"/>
              </a:ext>
            </a:extLst>
          </p:cNvPr>
          <p:cNvSpPr>
            <a:spLocks noGrp="1"/>
          </p:cNvSpPr>
          <p:nvPr/>
        </p:nvSpPr>
        <p:spPr>
          <a:xfrm>
            <a:off x="2000250" y="4762500"/>
            <a:ext cx="9144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La capacitación práctica aumentó el uso activo de IA y la capacidad de evaluar críticamente sus resultados.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33E7995-6D39-486B-A76C-8FD92E43F629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Lección: la herramienta funciona mejor cuando se combina con formación, acompañamiento y criterios de calidad. El efecto en aprendizaje de largo plazo todavía se evalúa.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56852A-E55F-4A09-B045-330D7D466D1D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Fuente: Banco Mundial, 2 de julio de 2026</a:t>
            </a:r>
          </a:p>
        </p:txBody>
      </p:sp>
    </p:spTree>
    <p:extLst>
      <p:ext uri="{BB962C8B-B14F-4D97-AF65-F5344CB8AC3E}">
        <p14:creationId xmlns:p14="http://schemas.microsoft.com/office/powerpoint/2010/main" val="1771252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454E5356-2A36-437C-920F-2525B7D2BC1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BENEFICIOS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C21D5E-15ED-4EA5-A066-43370AA557D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Qué oportunidades abre la 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456ADE-73D4-4809-B12B-4FD9F30CA268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373E2C4-DD68-442C-BF17-311F61630AA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D67441-EE11-418C-8840-4191337B56A7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A5FD8EA-13B5-4AAE-BAA9-EA2D4F1EC447}"/>
              </a:ext>
            </a:extLst>
          </p:cNvPr>
          <p:cNvSpPr>
            <a:spLocks noGrp="1"/>
          </p:cNvSpPr>
          <p:nvPr/>
        </p:nvSpPr>
        <p:spPr>
          <a:xfrm>
            <a:off x="1200150" y="17145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Productividad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CA5F6E-EBC9-41F3-9876-B2FB6CFAEC4C}"/>
              </a:ext>
            </a:extLst>
          </p:cNvPr>
          <p:cNvSpPr>
            <a:spLocks noGrp="1"/>
          </p:cNvSpPr>
          <p:nvPr/>
        </p:nvSpPr>
        <p:spPr>
          <a:xfrm>
            <a:off x="1200150" y="211455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Menos tiempo en borradores, búsqueda y tareas repetitivas.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F0AC70-CDEE-428F-B1A0-8965FF72EC44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EA435DD-F033-48DC-9F13-B402BBC49D23}"/>
              </a:ext>
            </a:extLst>
          </p:cNvPr>
          <p:cNvSpPr>
            <a:spLocks noGrp="1"/>
          </p:cNvSpPr>
          <p:nvPr/>
        </p:nvSpPr>
        <p:spPr>
          <a:xfrm>
            <a:off x="1200150" y="2781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Mejor acceso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2FF7A82-2F44-49EE-9CD7-F49D3DB17538}"/>
              </a:ext>
            </a:extLst>
          </p:cNvPr>
          <p:cNvSpPr>
            <a:spLocks noGrp="1"/>
          </p:cNvSpPr>
          <p:nvPr/>
        </p:nvSpPr>
        <p:spPr>
          <a:xfrm>
            <a:off x="1200150" y="318135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Tutoría, traducción y asistencia disponibles a mayor escala.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ABC8E72-8EE7-440C-8F5B-C8E7A8BFE25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8FF590-7476-4431-A30C-1BC63C5A3D66}"/>
              </a:ext>
            </a:extLst>
          </p:cNvPr>
          <p:cNvSpPr>
            <a:spLocks noGrp="1"/>
          </p:cNvSpPr>
          <p:nvPr/>
        </p:nvSpPr>
        <p:spPr>
          <a:xfrm>
            <a:off x="1200150" y="38481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Mejores decisiones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C083CD-FA21-4E77-93E2-EF08D1884D72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Análisis rápido de datos, siempre con revisión humana.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DF25BA-CD4B-47A3-B0F7-BE661252C790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0AEF44-BDD6-4E59-B523-B5BAF58D3F2C}"/>
              </a:ext>
            </a:extLst>
          </p:cNvPr>
          <p:cNvSpPr>
            <a:spLocks noGrp="1"/>
          </p:cNvSpPr>
          <p:nvPr/>
        </p:nvSpPr>
        <p:spPr>
          <a:xfrm>
            <a:off x="1200150" y="49149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Nuevos roles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945C9A7-B90C-49FB-A832-DF7D6E68E5B6}"/>
              </a:ext>
            </a:extLst>
          </p:cNvPr>
          <p:cNvSpPr>
            <a:spLocks noGrp="1"/>
          </p:cNvSpPr>
          <p:nvPr/>
        </p:nvSpPr>
        <p:spPr>
          <a:xfrm>
            <a:off x="1200150" y="531495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Auditor de IA, responsable de datos, integrador de automatización.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3D522F-62AC-4F06-82FB-24C524188983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676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La mayor ganancia aparece cuando la IA complementa conocimiento del sector, no cuando se usa sin contexto.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1451EF0-0A47-49AC-A097-B557351FBA1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Síntesis: FMI (2024, 2026), WEF (2025). Imagen generada con IA</a:t>
            </a:r>
          </a:p>
        </p:txBody>
      </p:sp>
    </p:spTree>
    <p:extLst>
      <p:ext uri="{BB962C8B-B14F-4D97-AF65-F5344CB8AC3E}">
        <p14:creationId xmlns:p14="http://schemas.microsoft.com/office/powerpoint/2010/main" val="11648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4BB32D5-B3F1-468B-A795-A759F771FEA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RIESGOS Y DESAFÍOS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432969C-5A39-4081-98E0-278A2FC55C5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Riesgos que exigen una respuesta concreta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84A96B-A49E-4B0F-83EA-FBA34B821F19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3DB4F9D-834E-4AC1-AC37-14F79C69A37D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graphicFrame>
        <p:nvGraphicFramePr>
          <p:cNvPr id="12" name="Tabla 11"/>
          <p:cNvGraphicFramePr/>
          <p:nvPr/>
        </p:nvGraphicFramePr>
        <p:xfrm>
          <a:off x="609600" y="1638300"/>
          <a:ext cx="10953750" cy="41719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RIESGO</a:t>
                      </a:r>
                    </a:p>
                  </a:txBody>
                  <a:tcPr marL="114300" marR="114300" marT="95250" marB="95250" anchor="ctr">
                    <a:solidFill>
                      <a:srgbClr val="071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PUEDE OCURRIR</a:t>
                      </a:r>
                    </a:p>
                  </a:txBody>
                  <a:tcPr marL="114300" marR="114300" marT="95250" marB="95250" anchor="ctr">
                    <a:solidFill>
                      <a:srgbClr val="071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RESPUESTA NECESARIA</a:t>
                      </a:r>
                    </a:p>
                  </a:txBody>
                  <a:tcPr marL="114300" marR="114300" marT="95250" marB="95250" anchor="ctr">
                    <a:solidFill>
                      <a:srgbClr val="071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5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Desplazamiento</a:t>
                      </a:r>
                    </a:p>
                  </a:txBody>
                  <a:tcPr marL="114300" marR="114300" marT="85725" marB="85725" anchor="ctr">
                    <a:solidFill>
                      <a:srgbClr val="FF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Menor demanda en tareas rutinarias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Capacitación, movilidad y protección social</a:t>
                      </a:r>
                    </a:p>
                  </a:txBody>
                  <a:tcPr marL="114300" marR="114300" marT="85725" marB="85725" anchor="ctr">
                    <a:solidFill>
                      <a:srgbClr val="D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5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Sesgo y error</a:t>
                      </a:r>
                    </a:p>
                  </a:txBody>
                  <a:tcPr marL="114300" marR="114300" marT="85725" marB="85725" anchor="ctr">
                    <a:solidFill>
                      <a:srgbClr val="FF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Decisiones injustas o información falsa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Revisión humana, pruebas y derecho a apelar</a:t>
                      </a:r>
                    </a:p>
                  </a:txBody>
                  <a:tcPr marL="114300" marR="114300" marT="85725" marB="85725" anchor="ctr">
                    <a:solidFill>
                      <a:srgbClr val="D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5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Privacidad</a:t>
                      </a:r>
                    </a:p>
                  </a:txBody>
                  <a:tcPr marL="114300" marR="114300" marT="85725" marB="85725" anchor="ctr">
                    <a:solidFill>
                      <a:srgbClr val="FF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Uso indebido de datos laborales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Gobernanza de datos y límites de acceso</a:t>
                      </a:r>
                    </a:p>
                  </a:txBody>
                  <a:tcPr marL="114300" marR="114300" marT="85725" marB="85725" anchor="ctr">
                    <a:solidFill>
                      <a:srgbClr val="D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5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Brecha digital</a:t>
                      </a:r>
                    </a:p>
                  </a:txBody>
                  <a:tcPr marL="114300" marR="114300" marT="85725" marB="85725" anchor="ctr">
                    <a:solidFill>
                      <a:srgbClr val="FF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Beneficios concentrados en empresas y ciudades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Conectividad y formación accesible</a:t>
                      </a:r>
                    </a:p>
                  </a:txBody>
                  <a:tcPr marL="114300" marR="114300" marT="85725" marB="85725" anchor="ctr">
                    <a:solidFill>
                      <a:srgbClr val="D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7152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Vigilancia</a:t>
                      </a:r>
                    </a:p>
                  </a:txBody>
                  <a:tcPr marL="114300" marR="114300" marT="85725" marB="85725" anchor="ctr">
                    <a:solidFill>
                      <a:srgbClr val="FF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Más control, intensidad o pérdida de autonomía</a:t>
                      </a:r>
                    </a:p>
                  </a:txBody>
                  <a:tcPr marL="114300" marR="114300" marT="85725" marB="8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Transparencia y participación de trabajadores</a:t>
                      </a:r>
                    </a:p>
                  </a:txBody>
                  <a:tcPr marL="114300" marR="114300" marT="85725" marB="85725" anchor="ctr">
                    <a:solidFill>
                      <a:srgbClr val="DF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E0386514-669E-4AD2-A626-17FF9717FE91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810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Regla práctica: ninguna decisión de alto impacto debería depender de una salida de IA que nadie pueda explicar, revisar o cuestionar.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B97B767-02D5-40AD-9328-94F92DFE4DA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Fuentes: FMI (2024); OIT y Banco Mundial (2024); OIT (2025)</a:t>
            </a:r>
          </a:p>
        </p:txBody>
      </p:sp>
    </p:spTree>
    <p:extLst>
      <p:ext uri="{BB962C8B-B14F-4D97-AF65-F5344CB8AC3E}">
        <p14:creationId xmlns:p14="http://schemas.microsoft.com/office/powerpoint/2010/main" val="50187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E23C0E8C-2EE5-46C1-AB14-11B61531E1B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FUTURO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9B78FF-2A3A-4C06-A4A3-48204ACE41E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Situación actual, tendencias y conclusiones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CE16E5-2829-45C6-809E-5A3E9129312B}"/>
              </a:ext>
            </a:extLst>
          </p:cNvPr>
          <p:cNvSpPr>
            <a:spLocks noGrp="1"/>
          </p:cNvSpPr>
          <p:nvPr/>
        </p:nvSpPr>
        <p:spPr>
          <a:xfrm>
            <a:off x="11163300" y="390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1">
                <a:solidFill>
                  <a:srgbClr val="B6C5D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6C5D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79EB1D-80D0-4F88-9843-23F2650BF532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D5858E-B14D-45C8-8262-C508551762FC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HOY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5F4C14-F4EB-46E3-9D39-0F585197793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57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Las empresas pasan de probar asistentes a rediseñar procesos completos. La demanda crece por perfiles que sepan integrar IA con conocimiento del negocio.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55852F9-0AF5-48F4-890B-AC61CE572C7B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36B37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6B37E"/>
                </a:solidFill>
                <a:latin typeface="DejaVu Sans"/>
                <a:ea typeface="DejaVu Sans"/>
                <a:cs typeface="DejaVu Sans"/>
              </a:rPr>
              <a:t>HACIA 2030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CA2D9EC-4E33-4A75-BAA5-A9CEFF584417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Aumentarán la formación continua, los agentes que ejecutan tareas y la regulación. También crecerá el valor de verificar, decidir y asumir responsabilidad.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17992D-746A-4263-8B93-326F5C0FA4F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10820400" cy="9525"/>
          </a:xfrm>
          <a:prstGeom prst="rect">
            <a:avLst/>
          </a:prstGeom>
          <a:solidFill>
            <a:srgbClr val="31465E"/>
          </a:solidFill>
          <a:ln w="0">
            <a:noFill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B2FEF6-A67C-4C97-B6EF-482F196A7031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Conclusiones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447C21-E497-4DD3-8C44-8C7917E6642F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C708242-A600-4F5F-8207-F346D3D20F80}"/>
              </a:ext>
            </a:extLst>
          </p:cNvPr>
          <p:cNvSpPr>
            <a:spLocks noGrp="1"/>
          </p:cNvSpPr>
          <p:nvPr/>
        </p:nvSpPr>
        <p:spPr>
          <a:xfrm>
            <a:off x="1066800" y="4562475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IA transforma tareas más rápido de lo que elimina profesiones completas.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1025534-7499-45EC-AC9D-6061523267A0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CF48A8F-A51C-4FA1-8983-A1E61F38F7E0}"/>
              </a:ext>
            </a:extLst>
          </p:cNvPr>
          <p:cNvSpPr>
            <a:spLocks noGrp="1"/>
          </p:cNvSpPr>
          <p:nvPr/>
        </p:nvSpPr>
        <p:spPr>
          <a:xfrm>
            <a:off x="1066800" y="5114925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saldo de empleo puede ser positivo, pero la transición tendrá costos desiguales.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3B35F0D-A9A4-4F1D-B509-BDFDAA3E85E3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2C94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EBB91F5-8793-4F5D-B8DA-8ADE7CE87E54}"/>
              </a:ext>
            </a:extLst>
          </p:cNvPr>
          <p:cNvSpPr>
            <a:spLocks noGrp="1"/>
          </p:cNvSpPr>
          <p:nvPr/>
        </p:nvSpPr>
        <p:spPr>
          <a:xfrm>
            <a:off x="1066800" y="5667375"/>
            <a:ext cx="10001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Para el Perú, la oportunidad depende de formación, acceso digital y uso responsable.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7C1387-8A95-45CF-A2DB-4C8BE9337AC9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50" b="0">
                <a:solidFill>
                  <a:srgbClr val="A9B9C9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A9B9C9"/>
                </a:solidFill>
                <a:latin typeface="DejaVu Sans"/>
                <a:ea typeface="DejaVu Sans"/>
                <a:cs typeface="DejaVu Sans"/>
              </a:rPr>
              <a:t>Síntesis propia a partir de WEF, FMI, OIT, Banco Mundial y MTPE</a:t>
            </a:r>
          </a:p>
        </p:txBody>
      </p:sp>
    </p:spTree>
    <p:extLst>
      <p:ext uri="{BB962C8B-B14F-4D97-AF65-F5344CB8AC3E}">
        <p14:creationId xmlns:p14="http://schemas.microsoft.com/office/powerpoint/2010/main" val="778843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DE0DC598-490B-4B5D-B2CA-E04CA476848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REFERENCIAS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83AE36-C017-4D73-B46C-7EF850B101B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Fuentes consultadas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4E09D0-E8E9-4AAF-B9FC-BE649C4977F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42950" cy="38100"/>
          </a:xfrm>
          <a:prstGeom prst="rect">
            <a:avLst/>
          </a:prstGeom>
          <a:solidFill>
            <a:srgbClr val="FF795B"/>
          </a:solidFill>
          <a:ln w="0">
            <a:noFill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FA36104-BAAA-4C3F-8AE0-9D4ED97286C1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WORLD ECONOMIC FORUM (2025)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8B08A-41BE-4AFD-952C-263D72B9152C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The Future of Jobs Report 2025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D946E1-4162-44A0-9FD1-46E70B97D259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weforum.org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B84E4B6-6834-40D9-B99F-DBAB02CC4F4A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FONDO MONETARIO INTERNACIONAL (2024)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BBFB2F-F9A3-4104-AAFD-2A5EA06F85EC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AI Will Transform the Global Economy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12D9E22-C430-43AC-A605-0238E80C443C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imf.org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EF115B-13A8-4782-8E33-5A337780733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FONDO MONETARIO INTERNACIONAL (2026)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CD060D0-EF36-44E6-B6BF-6E2471A224A4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New Skills and AI Are Reshaping the Future of Work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60FA23-7745-4768-A277-3984518B7AFC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imf.org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8ECE5A-71BF-4089-B841-04C8E9276250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OIT (2025)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729E2C-1EAE-40FD-9412-15B93EAB7E6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Generative AI and Jobs: A Refined Global Index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F0E3C85-C9FD-438C-AC02-CA75023C29F3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doi.org/10.54394/HETP0387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80B176-620F-44D0-A8C3-6C0673319B01}"/>
              </a:ext>
            </a:extLst>
          </p:cNvPr>
          <p:cNvSpPr>
            <a:spLocks noGrp="1"/>
          </p:cNvSpPr>
          <p:nvPr/>
        </p:nvSpPr>
        <p:spPr>
          <a:xfrm>
            <a:off x="6419850" y="16954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OIT Y BANCO MUNDIAL (2024)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D3FB785-4417-42F5-92D3-8E9B47653F98}"/>
              </a:ext>
            </a:extLst>
          </p:cNvPr>
          <p:cNvSpPr>
            <a:spLocks noGrp="1"/>
          </p:cNvSpPr>
          <p:nvPr/>
        </p:nvSpPr>
        <p:spPr>
          <a:xfrm>
            <a:off x="6419850" y="19812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Buffer or Bottleneck? Employment Exposure to GenAI in LAC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7AA5A8-DB14-4DC4-BBAA-4FF60FB4B24D}"/>
              </a:ext>
            </a:extLst>
          </p:cNvPr>
          <p:cNvSpPr>
            <a:spLocks noGrp="1"/>
          </p:cNvSpPr>
          <p:nvPr/>
        </p:nvSpPr>
        <p:spPr>
          <a:xfrm>
            <a:off x="6419850" y="24955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openknowledge.worldbank.org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49B9C7F-0E46-4FB5-A4FE-EFF5AA341014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795B"/>
                </a:solidFill>
                <a:latin typeface="DejaVu Sans"/>
                <a:ea typeface="DejaVu Sans"/>
                <a:cs typeface="DejaVu Sans"/>
              </a:rPr>
              <a:t>BANCO MUNDIAL (2026)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EEE7388-44F0-44A3-A4C7-772A003E7C17}"/>
              </a:ext>
            </a:extLst>
          </p:cNvPr>
          <p:cNvSpPr>
            <a:spLocks noGrp="1"/>
          </p:cNvSpPr>
          <p:nvPr/>
        </p:nvSpPr>
        <p:spPr>
          <a:xfrm>
            <a:off x="6419850" y="30670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Artificial Intelligence in Action in Latin America’s Schools: Evidence from Peru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89DE853-D0EE-4F14-B9AF-AA0CC000F222}"/>
              </a:ext>
            </a:extLst>
          </p:cNvPr>
          <p:cNvSpPr>
            <a:spLocks noGrp="1"/>
          </p:cNvSpPr>
          <p:nvPr/>
        </p:nvSpPr>
        <p:spPr>
          <a:xfrm>
            <a:off x="6419850" y="358140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worldbank.org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9300ED1-78FE-4AF9-8018-F4005D7CDCB6}"/>
              </a:ext>
            </a:extLst>
          </p:cNvPr>
          <p:cNvSpPr>
            <a:spLocks noGrp="1"/>
          </p:cNvSpPr>
          <p:nvPr/>
        </p:nvSpPr>
        <p:spPr>
          <a:xfrm>
            <a:off x="6419850" y="386715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16BCEB"/>
                </a:solidFill>
                <a:latin typeface="DejaVu Sans"/>
                <a:ea typeface="DejaVu Sans"/>
                <a:cs typeface="DejaVu Sans"/>
              </a:rPr>
              <a:t>MTPE, PERÚ (2026)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C9F0D09-325B-46ED-9E38-D07943B6EC32}"/>
              </a:ext>
            </a:extLst>
          </p:cNvPr>
          <p:cNvSpPr>
            <a:spLocks noGrp="1"/>
          </p:cNvSpPr>
          <p:nvPr/>
        </p:nvSpPr>
        <p:spPr>
          <a:xfrm>
            <a:off x="6419850" y="41529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3000"/>
              </a:lnSpc>
              <a:buNone/>
              <a:def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71525"/>
                </a:solidFill>
                <a:latin typeface="DejaVu Sans"/>
                <a:ea typeface="DejaVu Sans"/>
                <a:cs typeface="DejaVu Sans"/>
              </a:rPr>
              <a:t>IA y pensamiento analítico lideran las competencias más demandadas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DA6826B-04EE-42A0-8AF3-41F8501F417A}"/>
              </a:ext>
            </a:extLst>
          </p:cNvPr>
          <p:cNvSpPr>
            <a:spLocks noGrp="1"/>
          </p:cNvSpPr>
          <p:nvPr/>
        </p:nvSpPr>
        <p:spPr>
          <a:xfrm>
            <a:off x="6419850" y="46672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291A4"/>
                </a:solidFill>
                <a:latin typeface="DejaVu Sans"/>
                <a:ea typeface="DejaVu Sans"/>
                <a:cs typeface="DejaVu Sans"/>
              </a:rPr>
              <a:t>gob.pe/mtpe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F97C9A0-FCE0-47AF-857B-A9180CDB6551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365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A"/>
                </a:solidFill>
                <a:latin typeface="DejaVu Sans"/>
                <a:ea typeface="DejaVu Sans"/>
                <a:cs typeface="DejaVu Sans"/>
              </a:rPr>
              <a:t>Consulta realizada el 19 de septiembre de 2026. Los enlaces completos se incluyen en las notas del presentador.</a:t>
            </a:r>
          </a:p>
        </p:txBody>
      </p:sp>
    </p:spTree>
    <p:extLst>
      <p:ext uri="{BB962C8B-B14F-4D97-AF65-F5344CB8AC3E}">
        <p14:creationId xmlns:p14="http://schemas.microsoft.com/office/powerpoint/2010/main" val="16506070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2358</Words>
  <Application>Microsoft Office PowerPoint</Application>
  <DocSecurity>0</DocSecurity>
  <PresentationFormat>Panorámica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blair321 shinigami</cp:lastModifiedBy>
  <cp:revision>1</cp:revision>
  <dcterms:created xsi:type="dcterms:W3CDTF">2026-09-19T03:29:25Z</dcterms:created>
  <dcterms:modified xsi:type="dcterms:W3CDTF">2026-09-19T03:46:21Z</dcterms:modified>
</cp:coreProperties>
</file>