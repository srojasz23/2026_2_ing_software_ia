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Arimo Bold" charset="1" panose="020B0704020202020204"/>
      <p:regular r:id="rId16"/>
    </p:embeddedFont>
    <p:embeddedFont>
      <p:font typeface="Inter" charset="1" panose="02000503000000020004"/>
      <p:regular r:id="rId17"/>
    </p:embeddedFont>
    <p:embeddedFont>
      <p:font typeface="Inter Bold" charset="1" panose="02000503000000020004"/>
      <p:regular r:id="rId18"/>
    </p:embeddedFont>
    <p:embeddedFont>
      <p:font typeface="Arimo" charset="1" panose="020B06040202020202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686800" y="3004614"/>
            <a:ext cx="914400" cy="57150"/>
            <a:chOff x="0" y="0"/>
            <a:chExt cx="1219200" cy="76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19200" cy="76200"/>
            </a:xfrm>
            <a:custGeom>
              <a:avLst/>
              <a:gdLst/>
              <a:ahLst/>
              <a:cxnLst/>
              <a:rect r="r" b="b" t="t" l="l"/>
              <a:pathLst>
                <a:path h="76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38BDF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250531" y="6153445"/>
            <a:ext cx="9786938" cy="14288"/>
            <a:chOff x="0" y="0"/>
            <a:chExt cx="13049250" cy="190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049250" cy="19050"/>
            </a:xfrm>
            <a:custGeom>
              <a:avLst/>
              <a:gdLst/>
              <a:ahLst/>
              <a:cxnLst/>
              <a:rect r="r" b="b" t="t" l="l"/>
              <a:pathLst>
                <a:path h="19050" w="13049250">
                  <a:moveTo>
                    <a:pt x="0" y="0"/>
                  </a:moveTo>
                  <a:lnTo>
                    <a:pt x="13049250" y="0"/>
                  </a:lnTo>
                  <a:lnTo>
                    <a:pt x="1304925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1E293B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2055609" y="3557064"/>
            <a:ext cx="14176772" cy="967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20"/>
              </a:lnSpc>
            </a:pPr>
            <a:r>
              <a:rPr lang="en-US" sz="7200" b="true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IA y el Futuro del Trabajo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458784" y="4753270"/>
            <a:ext cx="13370423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31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Transformación de Profesiones y Nuevas Habilidades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250531" y="6624933"/>
            <a:ext cx="3661172" cy="242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38BDF8"/>
                </a:solidFill>
                <a:latin typeface="Inter Bold"/>
                <a:ea typeface="Inter Bold"/>
                <a:cs typeface="Inter Bold"/>
                <a:sym typeface="Inter Bold"/>
              </a:rPr>
              <a:t>INTEGRANTES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250531" y="6972595"/>
            <a:ext cx="2822853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Nieto Soriano Guillermo</a:t>
            </a:r>
          </a:p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Cotrina Ramirez Axel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093869" y="6624933"/>
            <a:ext cx="3625453" cy="242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38BDF8"/>
                </a:solidFill>
                <a:latin typeface="Inter Bold"/>
                <a:ea typeface="Inter Bold"/>
                <a:cs typeface="Inter Bold"/>
                <a:sym typeface="Inter Bold"/>
              </a:rPr>
              <a:t>CURSO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093869" y="6972595"/>
            <a:ext cx="2086809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Fundamentos y</a:t>
            </a:r>
          </a:p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algoritmia para IA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908631" y="6624933"/>
            <a:ext cx="2661047" cy="242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38BDF8"/>
                </a:solidFill>
                <a:latin typeface="Inter Bold"/>
                <a:ea typeface="Inter Bold"/>
                <a:cs typeface="Inter Bold"/>
                <a:sym typeface="Inter Bold"/>
              </a:rPr>
              <a:t>FECHA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908631" y="6972595"/>
            <a:ext cx="1386483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19/09/2026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72500" y="6979444"/>
            <a:ext cx="1143000" cy="57150"/>
            <a:chOff x="0" y="0"/>
            <a:chExt cx="1524000" cy="76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4000" cy="76200"/>
            </a:xfrm>
            <a:custGeom>
              <a:avLst/>
              <a:gdLst/>
              <a:ahLst/>
              <a:cxnLst/>
              <a:rect r="r" b="b" t="t" l="l"/>
              <a:pathLst>
                <a:path h="76200" w="1524000">
                  <a:moveTo>
                    <a:pt x="0" y="0"/>
                  </a:moveTo>
                  <a:lnTo>
                    <a:pt x="1524000" y="0"/>
                  </a:lnTo>
                  <a:lnTo>
                    <a:pt x="1524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14400" y="914400"/>
            <a:ext cx="1737360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2563EB"/>
                </a:solidFill>
                <a:latin typeface="Inter Bold"/>
                <a:ea typeface="Inter Bold"/>
                <a:cs typeface="Inter Bold"/>
                <a:sym typeface="Inter Bold"/>
              </a:rPr>
              <a:t>INTRODUCCIÓN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14400" y="1400175"/>
            <a:ext cx="17373600" cy="757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Adopción Inmediata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958012" y="4512469"/>
            <a:ext cx="5464969" cy="2009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0"/>
              </a:lnSpc>
            </a:pPr>
            <a:r>
              <a:rPr lang="en-US" sz="1800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75%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982516" y="7493794"/>
            <a:ext cx="12322969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31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Trabajadores del conocimiento usan IA diariamente.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3071812"/>
            <a:ext cx="7886700" cy="6300788"/>
            <a:chOff x="0" y="0"/>
            <a:chExt cx="10515600" cy="84010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515600" cy="8401050"/>
            </a:xfrm>
            <a:custGeom>
              <a:avLst/>
              <a:gdLst/>
              <a:ahLst/>
              <a:cxnLst/>
              <a:rect r="r" b="b" t="t" l="l"/>
              <a:pathLst>
                <a:path h="8401050" w="10515600">
                  <a:moveTo>
                    <a:pt x="0" y="304800"/>
                  </a:moveTo>
                  <a:cubicBezTo>
                    <a:pt x="0" y="136398"/>
                    <a:pt x="136398" y="0"/>
                    <a:pt x="304800" y="0"/>
                  </a:cubicBezTo>
                  <a:lnTo>
                    <a:pt x="10210800" y="0"/>
                  </a:lnTo>
                  <a:cubicBezTo>
                    <a:pt x="10379075" y="0"/>
                    <a:pt x="10515600" y="136398"/>
                    <a:pt x="10515600" y="304800"/>
                  </a:cubicBezTo>
                  <a:lnTo>
                    <a:pt x="10515600" y="8096250"/>
                  </a:lnTo>
                  <a:cubicBezTo>
                    <a:pt x="10515600" y="8264525"/>
                    <a:pt x="10379202" y="8401050"/>
                    <a:pt x="10210800" y="8401050"/>
                  </a:cubicBezTo>
                  <a:lnTo>
                    <a:pt x="304800" y="8401050"/>
                  </a:lnTo>
                  <a:cubicBezTo>
                    <a:pt x="136525" y="8401050"/>
                    <a:pt x="0" y="8264652"/>
                    <a:pt x="0" y="809625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486900" y="3071812"/>
            <a:ext cx="7886700" cy="6300788"/>
            <a:chOff x="0" y="0"/>
            <a:chExt cx="10515600" cy="84010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515600" cy="8401050"/>
            </a:xfrm>
            <a:custGeom>
              <a:avLst/>
              <a:gdLst/>
              <a:ahLst/>
              <a:cxnLst/>
              <a:rect r="r" b="b" t="t" l="l"/>
              <a:pathLst>
                <a:path h="8401050" w="10515600">
                  <a:moveTo>
                    <a:pt x="0" y="304800"/>
                  </a:moveTo>
                  <a:cubicBezTo>
                    <a:pt x="0" y="136398"/>
                    <a:pt x="136398" y="0"/>
                    <a:pt x="304800" y="0"/>
                  </a:cubicBezTo>
                  <a:lnTo>
                    <a:pt x="10210800" y="0"/>
                  </a:lnTo>
                  <a:cubicBezTo>
                    <a:pt x="10379075" y="0"/>
                    <a:pt x="10515600" y="136398"/>
                    <a:pt x="10515600" y="304800"/>
                  </a:cubicBezTo>
                  <a:lnTo>
                    <a:pt x="10515600" y="8096250"/>
                  </a:lnTo>
                  <a:cubicBezTo>
                    <a:pt x="10515600" y="8264525"/>
                    <a:pt x="10379202" y="8401050"/>
                    <a:pt x="10210800" y="8401050"/>
                  </a:cubicBezTo>
                  <a:lnTo>
                    <a:pt x="304800" y="8401050"/>
                  </a:lnTo>
                  <a:cubicBezTo>
                    <a:pt x="136525" y="8401050"/>
                    <a:pt x="0" y="8264652"/>
                    <a:pt x="0" y="8096250"/>
                  </a:cubicBezTo>
                  <a:close/>
                </a:path>
              </a:pathLst>
            </a:custGeom>
            <a:solidFill>
              <a:srgbClr val="0F172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0200" y="4550569"/>
            <a:ext cx="6515100" cy="685800"/>
            <a:chOff x="0" y="0"/>
            <a:chExt cx="8686800" cy="91440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8686800" cy="914400"/>
            </a:xfrm>
            <a:custGeom>
              <a:avLst/>
              <a:gdLst/>
              <a:ahLst/>
              <a:cxnLst/>
              <a:rect r="r" b="b" t="t" l="l"/>
              <a:pathLst>
                <a:path h="914400" w="8686800">
                  <a:moveTo>
                    <a:pt x="0" y="0"/>
                  </a:moveTo>
                  <a:lnTo>
                    <a:pt x="8686800" y="0"/>
                  </a:lnTo>
                  <a:lnTo>
                    <a:pt x="86868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041" r="0" b="-1041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172700" y="4550569"/>
            <a:ext cx="6515100" cy="685800"/>
            <a:chOff x="0" y="0"/>
            <a:chExt cx="8686800" cy="91440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8686800" cy="914400"/>
            </a:xfrm>
            <a:custGeom>
              <a:avLst/>
              <a:gdLst/>
              <a:ahLst/>
              <a:cxnLst/>
              <a:rect r="r" b="b" t="t" l="l"/>
              <a:pathLst>
                <a:path h="914400" w="8686800">
                  <a:moveTo>
                    <a:pt x="0" y="0"/>
                  </a:moveTo>
                  <a:lnTo>
                    <a:pt x="8686800" y="0"/>
                  </a:lnTo>
                  <a:lnTo>
                    <a:pt x="86868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041" r="0" b="-1041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14400" y="914400"/>
            <a:ext cx="1737360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2563EB"/>
                </a:solidFill>
                <a:latin typeface="Inter Bold"/>
                <a:ea typeface="Inter Bold"/>
                <a:cs typeface="Inter Bold"/>
                <a:sym typeface="Inter Bold"/>
              </a:rPr>
              <a:t>CONTEXTO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14400" y="1400175"/>
            <a:ext cx="17373600" cy="757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Evolución de la Automatización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00200" y="5579269"/>
            <a:ext cx="8551069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Era Industrial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172700" y="5579269"/>
            <a:ext cx="8115300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Era de la IA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00200" y="6398419"/>
            <a:ext cx="8143875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Enfoque:</a:t>
            </a:r>
            <a:r>
              <a:rPr lang="en-US" sz="22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Tareas físicas.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00200" y="6969919"/>
            <a:ext cx="8143875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Herramientas:</a:t>
            </a:r>
            <a:r>
              <a:rPr lang="en-US" sz="22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Robots mecánicos.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00200" y="7541419"/>
            <a:ext cx="8143875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Impacto:</a:t>
            </a:r>
            <a:r>
              <a:rPr lang="en-US" sz="22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Producción en cadena.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172700" y="6398419"/>
            <a:ext cx="8115300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Enfoque:</a:t>
            </a: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Trabajo cognitivo.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172700" y="6969919"/>
            <a:ext cx="8115300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Herramientas:</a:t>
            </a: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Algoritmos generativos.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172700" y="7541419"/>
            <a:ext cx="8115300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Impacto:</a:t>
            </a: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Creación de contenido.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411516" y="5479256"/>
            <a:ext cx="28575" cy="1714500"/>
            <a:chOff x="0" y="0"/>
            <a:chExt cx="38100" cy="228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1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38100">
                  <a:moveTo>
                    <a:pt x="0" y="0"/>
                  </a:moveTo>
                  <a:lnTo>
                    <a:pt x="38100" y="0"/>
                  </a:lnTo>
                  <a:lnTo>
                    <a:pt x="38100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005072" y="5479256"/>
            <a:ext cx="28575" cy="1714500"/>
            <a:chOff x="0" y="0"/>
            <a:chExt cx="381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81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38100">
                  <a:moveTo>
                    <a:pt x="0" y="0"/>
                  </a:moveTo>
                  <a:lnTo>
                    <a:pt x="38100" y="0"/>
                  </a:lnTo>
                  <a:lnTo>
                    <a:pt x="38100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14400" y="914400"/>
            <a:ext cx="1737360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2563EB"/>
                </a:solidFill>
                <a:latin typeface="Inter Bold"/>
                <a:ea typeface="Inter Bold"/>
                <a:cs typeface="Inter Bold"/>
                <a:sym typeface="Inter Bold"/>
              </a:rPr>
              <a:t>DESARROLLO I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4400" y="1400175"/>
            <a:ext cx="17373600" cy="757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Impacto Macro al 2030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25116" y="5283994"/>
            <a:ext cx="4464844" cy="1495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00"/>
              </a:lnSpc>
            </a:pPr>
            <a:r>
              <a:rPr lang="en-US" sz="900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170M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25116" y="6998494"/>
            <a:ext cx="4464844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Nuevos empleos creados.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579519" y="5283994"/>
            <a:ext cx="3286125" cy="1495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00"/>
              </a:lnSpc>
            </a:pPr>
            <a:r>
              <a:rPr lang="en-US" sz="900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92M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579519" y="6998494"/>
            <a:ext cx="3286125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Roles desplazados.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074844" y="5283994"/>
            <a:ext cx="4268391" cy="1495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00"/>
              </a:lnSpc>
            </a:pPr>
            <a:r>
              <a:rPr lang="en-US" sz="9000" b="true">
                <a:solidFill>
                  <a:srgbClr val="2563EB"/>
                </a:solidFill>
                <a:latin typeface="Arimo Bold"/>
                <a:ea typeface="Arimo Bold"/>
                <a:cs typeface="Arimo Bold"/>
                <a:sym typeface="Arimo Bold"/>
              </a:rPr>
              <a:t>39%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074844" y="6998494"/>
            <a:ext cx="4268391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Habilidades modificadas.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07256" y="4364831"/>
            <a:ext cx="8015288" cy="3943350"/>
            <a:chOff x="0" y="0"/>
            <a:chExt cx="10687050" cy="5257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687050" cy="5257800"/>
            </a:xfrm>
            <a:custGeom>
              <a:avLst/>
              <a:gdLst/>
              <a:ahLst/>
              <a:cxnLst/>
              <a:rect r="r" b="b" t="t" l="l"/>
              <a:pathLst>
                <a:path h="5257800" w="10687050">
                  <a:moveTo>
                    <a:pt x="0" y="305943"/>
                  </a:moveTo>
                  <a:cubicBezTo>
                    <a:pt x="0" y="136906"/>
                    <a:pt x="136906" y="0"/>
                    <a:pt x="305943" y="0"/>
                  </a:cubicBezTo>
                  <a:lnTo>
                    <a:pt x="10381107" y="0"/>
                  </a:lnTo>
                  <a:cubicBezTo>
                    <a:pt x="10550017" y="0"/>
                    <a:pt x="10687050" y="136906"/>
                    <a:pt x="10687050" y="305943"/>
                  </a:cubicBezTo>
                  <a:lnTo>
                    <a:pt x="10687050" y="4951857"/>
                  </a:lnTo>
                  <a:cubicBezTo>
                    <a:pt x="10687050" y="5120767"/>
                    <a:pt x="10550144" y="5257800"/>
                    <a:pt x="10381107" y="5257800"/>
                  </a:cubicBezTo>
                  <a:lnTo>
                    <a:pt x="305943" y="5257800"/>
                  </a:lnTo>
                  <a:cubicBezTo>
                    <a:pt x="136906" y="5257800"/>
                    <a:pt x="0" y="5120894"/>
                    <a:pt x="0" y="4951857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365456" y="4364831"/>
            <a:ext cx="8015288" cy="3943350"/>
            <a:chOff x="0" y="0"/>
            <a:chExt cx="10687050" cy="5257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687050" cy="5257800"/>
            </a:xfrm>
            <a:custGeom>
              <a:avLst/>
              <a:gdLst/>
              <a:ahLst/>
              <a:cxnLst/>
              <a:rect r="r" b="b" t="t" l="l"/>
              <a:pathLst>
                <a:path h="5257800" w="10687050">
                  <a:moveTo>
                    <a:pt x="0" y="305943"/>
                  </a:moveTo>
                  <a:cubicBezTo>
                    <a:pt x="0" y="136906"/>
                    <a:pt x="136906" y="0"/>
                    <a:pt x="305943" y="0"/>
                  </a:cubicBezTo>
                  <a:lnTo>
                    <a:pt x="10381107" y="0"/>
                  </a:lnTo>
                  <a:cubicBezTo>
                    <a:pt x="10550017" y="0"/>
                    <a:pt x="10687050" y="136906"/>
                    <a:pt x="10687050" y="305943"/>
                  </a:cubicBezTo>
                  <a:lnTo>
                    <a:pt x="10687050" y="4951857"/>
                  </a:lnTo>
                  <a:cubicBezTo>
                    <a:pt x="10687050" y="5120767"/>
                    <a:pt x="10550144" y="5257800"/>
                    <a:pt x="10381107" y="5257800"/>
                  </a:cubicBezTo>
                  <a:lnTo>
                    <a:pt x="305943" y="5257800"/>
                  </a:lnTo>
                  <a:cubicBezTo>
                    <a:pt x="136906" y="5257800"/>
                    <a:pt x="0" y="5120894"/>
                    <a:pt x="0" y="4951857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614488" y="5072062"/>
            <a:ext cx="914400" cy="914400"/>
            <a:chOff x="0" y="0"/>
            <a:chExt cx="1219200" cy="121920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072688" y="5072062"/>
            <a:ext cx="914400" cy="914400"/>
            <a:chOff x="0" y="0"/>
            <a:chExt cx="1219200" cy="121920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900238" y="5357812"/>
            <a:ext cx="342900" cy="342900"/>
            <a:chOff x="0" y="0"/>
            <a:chExt cx="457200" cy="457200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379869" y="5357812"/>
            <a:ext cx="300038" cy="342900"/>
            <a:chOff x="0" y="0"/>
            <a:chExt cx="400050" cy="457200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400050" cy="457200"/>
            </a:xfrm>
            <a:custGeom>
              <a:avLst/>
              <a:gdLst/>
              <a:ahLst/>
              <a:cxnLst/>
              <a:rect r="r" b="b" t="t" l="l"/>
              <a:pathLst>
                <a:path h="457200" w="400050">
                  <a:moveTo>
                    <a:pt x="0" y="0"/>
                  </a:moveTo>
                  <a:lnTo>
                    <a:pt x="400050" y="0"/>
                  </a:lnTo>
                  <a:lnTo>
                    <a:pt x="40005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380" t="0" r="-238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914400" y="914400"/>
            <a:ext cx="1737360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2563EB"/>
                </a:solidFill>
                <a:latin typeface="Inter Bold"/>
                <a:ea typeface="Inter Bold"/>
                <a:cs typeface="Inter Bold"/>
                <a:sym typeface="Inter Bold"/>
              </a:rPr>
              <a:t>DESARROLLO II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14400" y="1400175"/>
            <a:ext cx="17373600" cy="757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La Nueva Ventaja Competitiva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14488" y="6434137"/>
            <a:ext cx="8663578" cy="566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Requisito Crítico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14488" y="7219950"/>
            <a:ext cx="8251031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66% de líderes exigen habilidades en IA.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072688" y="6434137"/>
            <a:ext cx="8215312" cy="566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Talento Emergente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072688" y="7219950"/>
            <a:ext cx="8215312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71% prefiere novatos con IA.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058400" y="0"/>
            <a:ext cx="8229600" cy="10287000"/>
            <a:chOff x="0" y="0"/>
            <a:chExt cx="109728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109728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058400" y="0"/>
            <a:ext cx="8229600" cy="10287000"/>
            <a:chOff x="0" y="0"/>
            <a:chExt cx="10972800" cy="1371600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09728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14400" y="5206232"/>
            <a:ext cx="300038" cy="371475"/>
            <a:chOff x="0" y="0"/>
            <a:chExt cx="400050" cy="49530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400050" cy="495300"/>
            </a:xfrm>
            <a:custGeom>
              <a:avLst/>
              <a:gdLst/>
              <a:ahLst/>
              <a:cxnLst/>
              <a:rect r="r" b="b" t="t" l="l"/>
              <a:pathLst>
                <a:path h="495300" w="400050">
                  <a:moveTo>
                    <a:pt x="0" y="0"/>
                  </a:moveTo>
                  <a:lnTo>
                    <a:pt x="400050" y="0"/>
                  </a:lnTo>
                  <a:lnTo>
                    <a:pt x="40005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5977757"/>
            <a:ext cx="300038" cy="371475"/>
            <a:chOff x="0" y="0"/>
            <a:chExt cx="400050" cy="49530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400050" cy="495300"/>
            </a:xfrm>
            <a:custGeom>
              <a:avLst/>
              <a:gdLst/>
              <a:ahLst/>
              <a:cxnLst/>
              <a:rect r="r" b="b" t="t" l="l"/>
              <a:pathLst>
                <a:path h="495300" w="400050">
                  <a:moveTo>
                    <a:pt x="0" y="0"/>
                  </a:moveTo>
                  <a:lnTo>
                    <a:pt x="400050" y="0"/>
                  </a:lnTo>
                  <a:lnTo>
                    <a:pt x="40005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14400" y="6749282"/>
            <a:ext cx="300038" cy="371475"/>
            <a:chOff x="0" y="0"/>
            <a:chExt cx="400050" cy="495300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400050" cy="495300"/>
            </a:xfrm>
            <a:custGeom>
              <a:avLst/>
              <a:gdLst/>
              <a:ahLst/>
              <a:cxnLst/>
              <a:rect r="r" b="b" t="t" l="l"/>
              <a:pathLst>
                <a:path h="495300" w="400050">
                  <a:moveTo>
                    <a:pt x="0" y="0"/>
                  </a:moveTo>
                  <a:lnTo>
                    <a:pt x="400050" y="0"/>
                  </a:lnTo>
                  <a:lnTo>
                    <a:pt x="40005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914400" y="3180312"/>
            <a:ext cx="1028700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2563EB"/>
                </a:solidFill>
                <a:latin typeface="Inter Bold"/>
                <a:ea typeface="Inter Bold"/>
                <a:cs typeface="Inter Bold"/>
                <a:sym typeface="Inter Bold"/>
              </a:rPr>
              <a:t>CASO ACTUAL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14400" y="3713712"/>
            <a:ext cx="10801350" cy="735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38"/>
              </a:lnSpc>
            </a:pPr>
            <a:r>
              <a:rPr lang="en-US" sz="540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Implementación Klarna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43038" y="5134794"/>
            <a:ext cx="9758362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2563EB"/>
                </a:solidFill>
                <a:latin typeface="Inter Bold"/>
                <a:ea typeface="Inter Bold"/>
                <a:cs typeface="Inter Bold"/>
                <a:sym typeface="Inter Bold"/>
              </a:rPr>
              <a:t>Asistente IA reemplazó 700 agentes.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43038" y="5906319"/>
            <a:ext cx="9758362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2563EB"/>
                </a:solidFill>
                <a:latin typeface="Inter Bold"/>
                <a:ea typeface="Inter Bold"/>
                <a:cs typeface="Inter Bold"/>
                <a:sym typeface="Inter Bold"/>
              </a:rPr>
              <a:t>2.3 millones de interacciones.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43038" y="6677844"/>
            <a:ext cx="9758362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2563EB"/>
                </a:solidFill>
                <a:latin typeface="Inter Bold"/>
                <a:ea typeface="Inter Bold"/>
                <a:cs typeface="Inter Bold"/>
                <a:sym typeface="Inter Bold"/>
              </a:rPr>
              <a:t>Resolución en 2 minutos exactos.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07256" y="3150394"/>
            <a:ext cx="16473488" cy="1828800"/>
            <a:chOff x="0" y="0"/>
            <a:chExt cx="21964650" cy="2438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6465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1964650">
                  <a:moveTo>
                    <a:pt x="0" y="307213"/>
                  </a:moveTo>
                  <a:cubicBezTo>
                    <a:pt x="0" y="137541"/>
                    <a:pt x="137541" y="0"/>
                    <a:pt x="307213" y="0"/>
                  </a:cubicBezTo>
                  <a:lnTo>
                    <a:pt x="21657438" y="0"/>
                  </a:lnTo>
                  <a:cubicBezTo>
                    <a:pt x="21827110" y="0"/>
                    <a:pt x="21964650" y="137541"/>
                    <a:pt x="21964650" y="307213"/>
                  </a:cubicBezTo>
                  <a:lnTo>
                    <a:pt x="21964650" y="2131187"/>
                  </a:lnTo>
                  <a:cubicBezTo>
                    <a:pt x="21964650" y="2300859"/>
                    <a:pt x="21827110" y="2438400"/>
                    <a:pt x="21657438" y="2438400"/>
                  </a:cubicBezTo>
                  <a:lnTo>
                    <a:pt x="307213" y="2438400"/>
                  </a:lnTo>
                  <a:cubicBezTo>
                    <a:pt x="137541" y="2438400"/>
                    <a:pt x="0" y="2300859"/>
                    <a:pt x="0" y="2131187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07256" y="5307806"/>
            <a:ext cx="16473488" cy="1828800"/>
            <a:chOff x="0" y="0"/>
            <a:chExt cx="21964650" cy="2438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6465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1964650">
                  <a:moveTo>
                    <a:pt x="0" y="307213"/>
                  </a:moveTo>
                  <a:cubicBezTo>
                    <a:pt x="0" y="137541"/>
                    <a:pt x="137541" y="0"/>
                    <a:pt x="307213" y="0"/>
                  </a:cubicBezTo>
                  <a:lnTo>
                    <a:pt x="21657438" y="0"/>
                  </a:lnTo>
                  <a:cubicBezTo>
                    <a:pt x="21827110" y="0"/>
                    <a:pt x="21964650" y="137541"/>
                    <a:pt x="21964650" y="307213"/>
                  </a:cubicBezTo>
                  <a:lnTo>
                    <a:pt x="21964650" y="2131187"/>
                  </a:lnTo>
                  <a:cubicBezTo>
                    <a:pt x="21964650" y="2300859"/>
                    <a:pt x="21827110" y="2438400"/>
                    <a:pt x="21657438" y="2438400"/>
                  </a:cubicBezTo>
                  <a:lnTo>
                    <a:pt x="307213" y="2438400"/>
                  </a:lnTo>
                  <a:cubicBezTo>
                    <a:pt x="137541" y="2438400"/>
                    <a:pt x="0" y="2300859"/>
                    <a:pt x="0" y="2131187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907256" y="7465219"/>
            <a:ext cx="16473488" cy="1828800"/>
            <a:chOff x="0" y="0"/>
            <a:chExt cx="21964650" cy="2438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6465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1964650">
                  <a:moveTo>
                    <a:pt x="0" y="307213"/>
                  </a:moveTo>
                  <a:cubicBezTo>
                    <a:pt x="0" y="137541"/>
                    <a:pt x="137541" y="0"/>
                    <a:pt x="307213" y="0"/>
                  </a:cubicBezTo>
                  <a:lnTo>
                    <a:pt x="21657438" y="0"/>
                  </a:lnTo>
                  <a:cubicBezTo>
                    <a:pt x="21827110" y="0"/>
                    <a:pt x="21964650" y="137541"/>
                    <a:pt x="21964650" y="307213"/>
                  </a:cubicBezTo>
                  <a:lnTo>
                    <a:pt x="21964650" y="2131187"/>
                  </a:lnTo>
                  <a:cubicBezTo>
                    <a:pt x="21964650" y="2300859"/>
                    <a:pt x="21827110" y="2438400"/>
                    <a:pt x="21657438" y="2438400"/>
                  </a:cubicBezTo>
                  <a:lnTo>
                    <a:pt x="307213" y="2438400"/>
                  </a:lnTo>
                  <a:cubicBezTo>
                    <a:pt x="137541" y="2438400"/>
                    <a:pt x="0" y="2300859"/>
                    <a:pt x="0" y="2131187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614488" y="3836194"/>
            <a:ext cx="914400" cy="457200"/>
            <a:chOff x="0" y="0"/>
            <a:chExt cx="1219200" cy="60960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1219200" cy="609600"/>
            </a:xfrm>
            <a:custGeom>
              <a:avLst/>
              <a:gdLst/>
              <a:ahLst/>
              <a:cxnLst/>
              <a:rect r="r" b="b" t="t" l="l"/>
              <a:pathLst>
                <a:path h="6096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562" r="0" b="-1562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614488" y="5993606"/>
            <a:ext cx="914400" cy="457200"/>
            <a:chOff x="0" y="0"/>
            <a:chExt cx="1219200" cy="609600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1219200" cy="609600"/>
            </a:xfrm>
            <a:custGeom>
              <a:avLst/>
              <a:gdLst/>
              <a:ahLst/>
              <a:cxnLst/>
              <a:rect r="r" b="b" t="t" l="l"/>
              <a:pathLst>
                <a:path h="6096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562" r="0" b="-1562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14488" y="8151019"/>
            <a:ext cx="914400" cy="457200"/>
            <a:chOff x="0" y="0"/>
            <a:chExt cx="1219200" cy="609600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1219200" cy="609600"/>
            </a:xfrm>
            <a:custGeom>
              <a:avLst/>
              <a:gdLst/>
              <a:ahLst/>
              <a:cxnLst/>
              <a:rect r="r" b="b" t="t" l="l"/>
              <a:pathLst>
                <a:path h="6096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562" r="0" b="-1562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914400" y="914400"/>
            <a:ext cx="1737360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2563EB"/>
                </a:solidFill>
                <a:latin typeface="Inter Bold"/>
                <a:ea typeface="Inter Bold"/>
                <a:cs typeface="Inter Bold"/>
                <a:sym typeface="Inter Bold"/>
              </a:rPr>
              <a:t>BENEFICIOS Y OPORTUNIDADES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14400" y="1400175"/>
            <a:ext cx="17373600" cy="757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Ventajas Estratégicas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528888" y="3629025"/>
            <a:ext cx="6000750" cy="414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Hiper-Productividad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528888" y="4148137"/>
            <a:ext cx="5715000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Eliminación total de deuda digital.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528888" y="5786438"/>
            <a:ext cx="6338287" cy="414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Enfoque Creativo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528888" y="6305550"/>
            <a:ext cx="6036469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Priorización de tareas de alto valor.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528888" y="7943850"/>
            <a:ext cx="6619580" cy="414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Velocidad Extrema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528888" y="8462963"/>
            <a:ext cx="6304359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Ejecución de procesos en segundos.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4550569"/>
            <a:ext cx="5257800" cy="3571875"/>
            <a:chOff x="0" y="0"/>
            <a:chExt cx="7010400" cy="4762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010400" cy="4762500"/>
            </a:xfrm>
            <a:custGeom>
              <a:avLst/>
              <a:gdLst/>
              <a:ahLst/>
              <a:cxnLst/>
              <a:rect r="r" b="b" t="t" l="l"/>
              <a:pathLst>
                <a:path h="4762500" w="7010400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lnTo>
                    <a:pt x="6781800" y="0"/>
                  </a:lnTo>
                  <a:cubicBezTo>
                    <a:pt x="6908038" y="0"/>
                    <a:pt x="7010400" y="102362"/>
                    <a:pt x="7010400" y="228600"/>
                  </a:cubicBezTo>
                  <a:lnTo>
                    <a:pt x="7010400" y="4533900"/>
                  </a:lnTo>
                  <a:cubicBezTo>
                    <a:pt x="7010400" y="4660138"/>
                    <a:pt x="6908038" y="4762500"/>
                    <a:pt x="6781800" y="4762500"/>
                  </a:cubicBezTo>
                  <a:lnTo>
                    <a:pt x="228600" y="4762500"/>
                  </a:lnTo>
                  <a:cubicBezTo>
                    <a:pt x="102362" y="4762500"/>
                    <a:pt x="0" y="4660138"/>
                    <a:pt x="0" y="4533900"/>
                  </a:cubicBezTo>
                  <a:close/>
                </a:path>
              </a:pathLst>
            </a:custGeom>
            <a:solidFill>
              <a:srgbClr val="F8FAF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515100" y="4550569"/>
            <a:ext cx="5257800" cy="3571875"/>
            <a:chOff x="0" y="0"/>
            <a:chExt cx="7010400" cy="47625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010400" cy="4762500"/>
            </a:xfrm>
            <a:custGeom>
              <a:avLst/>
              <a:gdLst/>
              <a:ahLst/>
              <a:cxnLst/>
              <a:rect r="r" b="b" t="t" l="l"/>
              <a:pathLst>
                <a:path h="4762500" w="7010400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lnTo>
                    <a:pt x="6781800" y="0"/>
                  </a:lnTo>
                  <a:cubicBezTo>
                    <a:pt x="6908038" y="0"/>
                    <a:pt x="7010400" y="102362"/>
                    <a:pt x="7010400" y="228600"/>
                  </a:cubicBezTo>
                  <a:lnTo>
                    <a:pt x="7010400" y="4533900"/>
                  </a:lnTo>
                  <a:cubicBezTo>
                    <a:pt x="7010400" y="4660138"/>
                    <a:pt x="6908038" y="4762500"/>
                    <a:pt x="6781800" y="4762500"/>
                  </a:cubicBezTo>
                  <a:lnTo>
                    <a:pt x="228600" y="4762500"/>
                  </a:lnTo>
                  <a:cubicBezTo>
                    <a:pt x="102362" y="4762500"/>
                    <a:pt x="0" y="4660138"/>
                    <a:pt x="0" y="4533900"/>
                  </a:cubicBezTo>
                  <a:close/>
                </a:path>
              </a:pathLst>
            </a:custGeom>
            <a:solidFill>
              <a:srgbClr val="F8FAFC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115800" y="4550569"/>
            <a:ext cx="5257800" cy="3571875"/>
            <a:chOff x="0" y="0"/>
            <a:chExt cx="7010400" cy="47625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010400" cy="4762500"/>
            </a:xfrm>
            <a:custGeom>
              <a:avLst/>
              <a:gdLst/>
              <a:ahLst/>
              <a:cxnLst/>
              <a:rect r="r" b="b" t="t" l="l"/>
              <a:pathLst>
                <a:path h="4762500" w="7010400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lnTo>
                    <a:pt x="6781800" y="0"/>
                  </a:lnTo>
                  <a:cubicBezTo>
                    <a:pt x="6908038" y="0"/>
                    <a:pt x="7010400" y="102362"/>
                    <a:pt x="7010400" y="228600"/>
                  </a:cubicBezTo>
                  <a:lnTo>
                    <a:pt x="7010400" y="4533900"/>
                  </a:lnTo>
                  <a:cubicBezTo>
                    <a:pt x="7010400" y="4660138"/>
                    <a:pt x="6908038" y="4762500"/>
                    <a:pt x="6781800" y="4762500"/>
                  </a:cubicBezTo>
                  <a:lnTo>
                    <a:pt x="228600" y="4762500"/>
                  </a:lnTo>
                  <a:cubicBezTo>
                    <a:pt x="102362" y="4762500"/>
                    <a:pt x="0" y="4660138"/>
                    <a:pt x="0" y="4533900"/>
                  </a:cubicBezTo>
                  <a:close/>
                </a:path>
              </a:pathLst>
            </a:custGeom>
            <a:solidFill>
              <a:srgbClr val="F8FAFC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914400" y="914400"/>
            <a:ext cx="1737360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2563EB"/>
                </a:solidFill>
                <a:latin typeface="Inter Bold"/>
                <a:ea typeface="Inter Bold"/>
                <a:cs typeface="Inter Bold"/>
                <a:sym typeface="Inter Bold"/>
              </a:rPr>
              <a:t>RIESGOS Y DESAFÍOS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4400" y="1400175"/>
            <a:ext cx="17373600" cy="757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Barreras Actuales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85900" y="5093494"/>
            <a:ext cx="5143500" cy="900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>
                <a:solidFill>
                  <a:srgbClr val="2563EB"/>
                </a:solidFill>
                <a:latin typeface="Arimo"/>
                <a:ea typeface="Arimo"/>
                <a:cs typeface="Arimo"/>
                <a:sym typeface="Arimo"/>
              </a:rPr>
              <a:t>01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85900" y="6222206"/>
            <a:ext cx="5400675" cy="414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Brecha Técnica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85900" y="6855619"/>
            <a:ext cx="4257675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63% de empresas carecen de talento.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086600" y="5093494"/>
            <a:ext cx="5143500" cy="900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>
                <a:solidFill>
                  <a:srgbClr val="2563EB"/>
                </a:solidFill>
                <a:latin typeface="Arimo"/>
                <a:ea typeface="Arimo"/>
                <a:cs typeface="Arimo"/>
                <a:sym typeface="Arimo"/>
              </a:rPr>
              <a:t>02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086600" y="6222206"/>
            <a:ext cx="5400675" cy="414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Desplazamiento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086600" y="6855619"/>
            <a:ext cx="4257675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Riesgo alto para roles operativos.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687300" y="5093494"/>
            <a:ext cx="5143500" cy="900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>
                <a:solidFill>
                  <a:srgbClr val="2563EB"/>
                </a:solidFill>
                <a:latin typeface="Arimo"/>
                <a:ea typeface="Arimo"/>
                <a:cs typeface="Arimo"/>
                <a:sym typeface="Arimo"/>
              </a:rPr>
              <a:t>03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687300" y="6222206"/>
            <a:ext cx="5400675" cy="414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Dependencia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687300" y="6855619"/>
            <a:ext cx="4257675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Pérdida de pensamiento analítico humano.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020494"/>
            <a:ext cx="57150" cy="871538"/>
            <a:chOff x="0" y="0"/>
            <a:chExt cx="76200" cy="11620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6200" cy="1162050"/>
            </a:xfrm>
            <a:custGeom>
              <a:avLst/>
              <a:gdLst/>
              <a:ahLst/>
              <a:cxnLst/>
              <a:rect r="r" b="b" t="t" l="l"/>
              <a:pathLst>
                <a:path h="1162050" w="76200">
                  <a:moveTo>
                    <a:pt x="0" y="0"/>
                  </a:moveTo>
                  <a:lnTo>
                    <a:pt x="76200" y="0"/>
                  </a:lnTo>
                  <a:lnTo>
                    <a:pt x="76200" y="1162050"/>
                  </a:lnTo>
                  <a:lnTo>
                    <a:pt x="0" y="1162050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6349232"/>
            <a:ext cx="57150" cy="871538"/>
            <a:chOff x="0" y="0"/>
            <a:chExt cx="76200" cy="11620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6200" cy="1162050"/>
            </a:xfrm>
            <a:custGeom>
              <a:avLst/>
              <a:gdLst/>
              <a:ahLst/>
              <a:cxnLst/>
              <a:rect r="r" b="b" t="t" l="l"/>
              <a:pathLst>
                <a:path h="1162050" w="76200">
                  <a:moveTo>
                    <a:pt x="0" y="0"/>
                  </a:moveTo>
                  <a:lnTo>
                    <a:pt x="76200" y="0"/>
                  </a:lnTo>
                  <a:lnTo>
                    <a:pt x="76200" y="1162050"/>
                  </a:lnTo>
                  <a:lnTo>
                    <a:pt x="0" y="1162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058400" y="0"/>
            <a:ext cx="8229600" cy="10287000"/>
            <a:chOff x="0" y="0"/>
            <a:chExt cx="10972800" cy="1371600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109728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058400" y="0"/>
            <a:ext cx="8229600" cy="10287000"/>
            <a:chOff x="0" y="0"/>
            <a:chExt cx="10972800" cy="1371600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109728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14400" y="3066012"/>
            <a:ext cx="1028700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2563EB"/>
                </a:solidFill>
                <a:latin typeface="Inter Bold"/>
                <a:ea typeface="Inter Bold"/>
                <a:cs typeface="Inter Bold"/>
                <a:sym typeface="Inter Bold"/>
              </a:rPr>
              <a:t>SITUACIÓN Y FUTURO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14400" y="3599412"/>
            <a:ext cx="10801350" cy="735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38"/>
              </a:lnSpc>
            </a:pPr>
            <a:r>
              <a:rPr lang="en-US" sz="540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Inteligencia Híbrida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14450" y="5020494"/>
            <a:ext cx="9786938" cy="414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Colaboración Directa.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14450" y="5539607"/>
            <a:ext cx="9786938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Humano y máquina en sinergia.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14450" y="6349232"/>
            <a:ext cx="9786938" cy="414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Copiloto Diario.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14450" y="6868344"/>
            <a:ext cx="9786938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IA integrada en rutinas operativas.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836944" y="4757738"/>
            <a:ext cx="157162" cy="214312"/>
            <a:chOff x="0" y="0"/>
            <a:chExt cx="209550" cy="28575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09550" cy="285750"/>
            </a:xfrm>
            <a:custGeom>
              <a:avLst/>
              <a:gdLst/>
              <a:ahLst/>
              <a:cxnLst/>
              <a:rect r="r" b="b" t="t" l="l"/>
              <a:pathLst>
                <a:path h="285750" w="209550">
                  <a:moveTo>
                    <a:pt x="0" y="0"/>
                  </a:moveTo>
                  <a:lnTo>
                    <a:pt x="209550" y="0"/>
                  </a:lnTo>
                  <a:lnTo>
                    <a:pt x="209550" y="285750"/>
                  </a:lnTo>
                  <a:lnTo>
                    <a:pt x="0" y="285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836944" y="5286375"/>
            <a:ext cx="157162" cy="214312"/>
            <a:chOff x="0" y="0"/>
            <a:chExt cx="209550" cy="28575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209550" cy="285750"/>
            </a:xfrm>
            <a:custGeom>
              <a:avLst/>
              <a:gdLst/>
              <a:ahLst/>
              <a:cxnLst/>
              <a:rect r="r" b="b" t="t" l="l"/>
              <a:pathLst>
                <a:path h="285750" w="209550">
                  <a:moveTo>
                    <a:pt x="0" y="0"/>
                  </a:moveTo>
                  <a:lnTo>
                    <a:pt x="209550" y="0"/>
                  </a:lnTo>
                  <a:lnTo>
                    <a:pt x="209550" y="285750"/>
                  </a:lnTo>
                  <a:lnTo>
                    <a:pt x="0" y="285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836944" y="5815012"/>
            <a:ext cx="157162" cy="214312"/>
            <a:chOff x="0" y="0"/>
            <a:chExt cx="209550" cy="28575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209550" cy="285750"/>
            </a:xfrm>
            <a:custGeom>
              <a:avLst/>
              <a:gdLst/>
              <a:ahLst/>
              <a:cxnLst/>
              <a:rect r="r" b="b" t="t" l="l"/>
              <a:pathLst>
                <a:path h="285750" w="209550">
                  <a:moveTo>
                    <a:pt x="0" y="0"/>
                  </a:moveTo>
                  <a:lnTo>
                    <a:pt x="209550" y="0"/>
                  </a:lnTo>
                  <a:lnTo>
                    <a:pt x="209550" y="285750"/>
                  </a:lnTo>
                  <a:lnTo>
                    <a:pt x="0" y="285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836944" y="6343650"/>
            <a:ext cx="157162" cy="214312"/>
            <a:chOff x="0" y="0"/>
            <a:chExt cx="209550" cy="28575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209550" cy="285750"/>
            </a:xfrm>
            <a:custGeom>
              <a:avLst/>
              <a:gdLst/>
              <a:ahLst/>
              <a:cxnLst/>
              <a:rect r="r" b="b" t="t" l="l"/>
              <a:pathLst>
                <a:path h="285750" w="209550">
                  <a:moveTo>
                    <a:pt x="0" y="0"/>
                  </a:moveTo>
                  <a:lnTo>
                    <a:pt x="209550" y="0"/>
                  </a:lnTo>
                  <a:lnTo>
                    <a:pt x="209550" y="285750"/>
                  </a:lnTo>
                  <a:lnTo>
                    <a:pt x="0" y="285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14400" y="3490389"/>
            <a:ext cx="9891865" cy="757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true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Conclusión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14400" y="4676251"/>
            <a:ext cx="9420816" cy="548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93"/>
              </a:lnSpc>
            </a:pPr>
            <a:r>
              <a:rPr lang="en-US" sz="315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Adaptarse o quedar obsoleto.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4400" y="5520033"/>
            <a:ext cx="7679531" cy="1247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La inteligencia artificial no reemplazará a los humanos. Los humanos con IA reemplazarán a quienes no la usen.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836944" y="3657600"/>
            <a:ext cx="8451056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Fuentes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0222706" y="4714875"/>
            <a:ext cx="8065294" cy="300038"/>
            <a:chOff x="0" y="0"/>
            <a:chExt cx="10753725" cy="4000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753724" cy="400050"/>
            </a:xfrm>
            <a:custGeom>
              <a:avLst/>
              <a:gdLst/>
              <a:ahLst/>
              <a:cxnLst/>
              <a:rect r="r" b="b" t="t" l="l"/>
              <a:pathLst>
                <a:path h="400050" w="10753724">
                  <a:moveTo>
                    <a:pt x="0" y="0"/>
                  </a:moveTo>
                  <a:lnTo>
                    <a:pt x="10753724" y="0"/>
                  </a:lnTo>
                  <a:lnTo>
                    <a:pt x="10753724" y="400050"/>
                  </a:lnTo>
                  <a:lnTo>
                    <a:pt x="0" y="4000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3776" r="0" b="-473776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10753725" cy="400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b="true">
                  <a:solidFill>
                    <a:srgbClr val="38BDF8"/>
                  </a:solidFill>
                  <a:latin typeface="Inter Bold"/>
                  <a:ea typeface="Inter Bold"/>
                  <a:cs typeface="Inter Bold"/>
                  <a:sym typeface="Inter Bold"/>
                </a:rPr>
                <a:t>WEF: The Future of Jobs Report 2025.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222706" y="5243512"/>
            <a:ext cx="8065294" cy="300038"/>
            <a:chOff x="0" y="0"/>
            <a:chExt cx="10753725" cy="40005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753724" cy="400050"/>
            </a:xfrm>
            <a:custGeom>
              <a:avLst/>
              <a:gdLst/>
              <a:ahLst/>
              <a:cxnLst/>
              <a:rect r="r" b="b" t="t" l="l"/>
              <a:pathLst>
                <a:path h="400050" w="10753724">
                  <a:moveTo>
                    <a:pt x="0" y="0"/>
                  </a:moveTo>
                  <a:lnTo>
                    <a:pt x="10753724" y="0"/>
                  </a:lnTo>
                  <a:lnTo>
                    <a:pt x="10753724" y="400050"/>
                  </a:lnTo>
                  <a:lnTo>
                    <a:pt x="0" y="4000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3776" r="0" b="-473776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10753725" cy="400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b="true">
                  <a:solidFill>
                    <a:srgbClr val="38BDF8"/>
                  </a:solidFill>
                  <a:latin typeface="Inter Bold"/>
                  <a:ea typeface="Inter Bold"/>
                  <a:cs typeface="Inter Bold"/>
                  <a:sym typeface="Inter Bold"/>
                </a:rPr>
                <a:t>Microsoft: Work Trend Index 2024.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222706" y="5772150"/>
            <a:ext cx="8065294" cy="300038"/>
            <a:chOff x="0" y="0"/>
            <a:chExt cx="10753725" cy="4000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753724" cy="400050"/>
            </a:xfrm>
            <a:custGeom>
              <a:avLst/>
              <a:gdLst/>
              <a:ahLst/>
              <a:cxnLst/>
              <a:rect r="r" b="b" t="t" l="l"/>
              <a:pathLst>
                <a:path h="400050" w="10753724">
                  <a:moveTo>
                    <a:pt x="0" y="0"/>
                  </a:moveTo>
                  <a:lnTo>
                    <a:pt x="10753724" y="0"/>
                  </a:lnTo>
                  <a:lnTo>
                    <a:pt x="10753724" y="400050"/>
                  </a:lnTo>
                  <a:lnTo>
                    <a:pt x="0" y="4000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3776" r="0" b="-473776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10753725" cy="400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b="true">
                  <a:solidFill>
                    <a:srgbClr val="38BDF8"/>
                  </a:solidFill>
                  <a:latin typeface="Inter Bold"/>
                  <a:ea typeface="Inter Bold"/>
                  <a:cs typeface="Inter Bold"/>
                  <a:sym typeface="Inter Bold"/>
                </a:rPr>
                <a:t>OpenAI: Reporte de Adopción Klarna (2024).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0222706" y="6300788"/>
            <a:ext cx="8065294" cy="300038"/>
            <a:chOff x="0" y="0"/>
            <a:chExt cx="10753725" cy="4000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753724" cy="400050"/>
            </a:xfrm>
            <a:custGeom>
              <a:avLst/>
              <a:gdLst/>
              <a:ahLst/>
              <a:cxnLst/>
              <a:rect r="r" b="b" t="t" l="l"/>
              <a:pathLst>
                <a:path h="400050" w="10753724">
                  <a:moveTo>
                    <a:pt x="0" y="0"/>
                  </a:moveTo>
                  <a:lnTo>
                    <a:pt x="10753724" y="0"/>
                  </a:lnTo>
                  <a:lnTo>
                    <a:pt x="10753724" y="400050"/>
                  </a:lnTo>
                  <a:lnTo>
                    <a:pt x="0" y="4000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3776" r="0" b="-473776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10753725" cy="400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b="true">
                  <a:solidFill>
                    <a:srgbClr val="38BDF8"/>
                  </a:solidFill>
                  <a:latin typeface="Inter Bold"/>
                  <a:ea typeface="Inter Bold"/>
                  <a:cs typeface="Inter Bold"/>
                  <a:sym typeface="Inter Bold"/>
                </a:rPr>
                <a:t>WSJ: Reestructuración Corporativa IBM (2025).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DAHVpYeBcd0</dc:identifier>
  <dcterms:modified xsi:type="dcterms:W3CDTF">2011-08-01T06:04:30Z</dcterms:modified>
  <cp:revision>1</cp:revision>
  <dc:title>IA-Futuro.pptx</dc:title>
</cp:coreProperties>
</file>