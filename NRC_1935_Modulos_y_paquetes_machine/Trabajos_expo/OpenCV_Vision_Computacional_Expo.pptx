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1965960"/>
            <a:ext cx="2926080" cy="2926080"/>
          </a:xfrm>
          <a:prstGeom prst="ellipse">
            <a:avLst/>
          </a:prstGeom>
          <a:ln w="12700">
            <a:solidFill>
              <a:srgbClr val="1E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1463040"/>
            <a:ext cx="3931920" cy="3931920"/>
          </a:xfrm>
          <a:prstGeom prst="ellipse">
            <a:avLst/>
          </a:prstGeom>
          <a:ln w="12700">
            <a:solidFill>
              <a:srgbClr val="1E3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960120"/>
            <a:ext cx="4937760" cy="4937760"/>
          </a:xfrm>
          <a:prstGeom prst="ellipse">
            <a:avLst/>
          </a:prstGeom>
          <a:ln w="12700">
            <a:solidFill>
              <a:srgbClr val="1E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457200"/>
            <a:ext cx="5943600" cy="5943600"/>
          </a:xfrm>
          <a:prstGeom prst="ellipse">
            <a:avLst/>
          </a:prstGeom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2926080"/>
            <a:ext cx="1005840" cy="10058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8668512" y="3227832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ARTIFICIAL · PYTHON · MACHINE LEARNING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1460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 y Visión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Computacional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348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las máquinas aprenden a interpretar imágenes y vídeo en tiempo real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5212080"/>
            <a:ext cx="109728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5349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técnica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OpenCV?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02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 Source Computer Vision Library) es una biblioteca de código abierto, escrita originalmente en C/C++, orientada al procesamiento de imágenes y vídeo en tiempo real.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computacional (o visión artificial)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campo de la inteligencia artificial que busca que las computadoras "entiendan" el contenido de imágenes y vídeos: reconocer objetos, medir distancias, seguir movimiento o interpretar escenas, igual que lo hace el sistema visual humano.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98348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7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5212080"/>
            <a:ext cx="777240" cy="7772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212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513892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creada por Intel en 1999, mantenida hoy por la organización sin fines de lucro OpenCV.org, con licencia Apache 2.0.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1508760"/>
            <a:ext cx="4434840" cy="4709160"/>
          </a:xfrm>
          <a:prstGeom prst="roundRect">
            <a:avLst>
              <a:gd name="adj" fmla="val 2062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PÍXELES A SIGNIFICADO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63356" y="2286000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8855964" y="2286000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8572" y="2286000"/>
            <a:ext cx="265176" cy="265176"/>
          </a:xfrm>
          <a:prstGeom prst="rect">
            <a:avLst/>
          </a:prstGeom>
          <a:solidFill>
            <a:srgbClr val="1E3B5C"/>
          </a:solidFill>
          <a:ln/>
        </p:spPr>
      </p:sp>
      <p:sp>
        <p:nvSpPr>
          <p:cNvPr id="15" name="Shape 13"/>
          <p:cNvSpPr/>
          <p:nvPr/>
        </p:nvSpPr>
        <p:spPr>
          <a:xfrm>
            <a:off x="9441180" y="2286000"/>
            <a:ext cx="265176" cy="265176"/>
          </a:xfrm>
          <a:prstGeom prst="rect">
            <a:avLst/>
          </a:prstGeom>
          <a:solidFill>
            <a:srgbClr val="1E3B5C"/>
          </a:solidFill>
          <a:ln/>
        </p:spPr>
      </p:sp>
      <p:sp>
        <p:nvSpPr>
          <p:cNvPr id="16" name="Shape 14"/>
          <p:cNvSpPr/>
          <p:nvPr/>
        </p:nvSpPr>
        <p:spPr>
          <a:xfrm>
            <a:off x="9733788" y="2286000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26396" y="2286000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Shape 16"/>
          <p:cNvSpPr/>
          <p:nvPr/>
        </p:nvSpPr>
        <p:spPr>
          <a:xfrm>
            <a:off x="8563356" y="2578608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Shape 17"/>
          <p:cNvSpPr/>
          <p:nvPr/>
        </p:nvSpPr>
        <p:spPr>
          <a:xfrm>
            <a:off x="8855964" y="2578608"/>
            <a:ext cx="265176" cy="265176"/>
          </a:xfrm>
          <a:prstGeom prst="rect">
            <a:avLst/>
          </a:prstGeom>
          <a:solidFill>
            <a:srgbClr val="1E3B5C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8572" y="2578608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Shape 19"/>
          <p:cNvSpPr/>
          <p:nvPr/>
        </p:nvSpPr>
        <p:spPr>
          <a:xfrm>
            <a:off x="9441180" y="2578608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Shape 20"/>
          <p:cNvSpPr/>
          <p:nvPr/>
        </p:nvSpPr>
        <p:spPr>
          <a:xfrm>
            <a:off x="9733788" y="2578608"/>
            <a:ext cx="265176" cy="265176"/>
          </a:xfrm>
          <a:prstGeom prst="rect">
            <a:avLst/>
          </a:prstGeom>
          <a:solidFill>
            <a:srgbClr val="1E3B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26396" y="2578608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Shape 22"/>
          <p:cNvSpPr/>
          <p:nvPr/>
        </p:nvSpPr>
        <p:spPr>
          <a:xfrm>
            <a:off x="8563356" y="2871216"/>
            <a:ext cx="265176" cy="265176"/>
          </a:xfrm>
          <a:prstGeom prst="rect">
            <a:avLst/>
          </a:prstGeom>
          <a:solidFill>
            <a:srgbClr val="1E3B5C"/>
          </a:solidFill>
          <a:ln/>
        </p:spPr>
      </p:sp>
      <p:sp>
        <p:nvSpPr>
          <p:cNvPr id="25" name="Shape 23"/>
          <p:cNvSpPr/>
          <p:nvPr/>
        </p:nvSpPr>
        <p:spPr>
          <a:xfrm>
            <a:off x="8855964" y="2871216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8572" y="2871216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Shape 25"/>
          <p:cNvSpPr/>
          <p:nvPr/>
        </p:nvSpPr>
        <p:spPr>
          <a:xfrm>
            <a:off x="9441180" y="2871216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Shape 26"/>
          <p:cNvSpPr/>
          <p:nvPr/>
        </p:nvSpPr>
        <p:spPr>
          <a:xfrm>
            <a:off x="9733788" y="2871216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26396" y="2871216"/>
            <a:ext cx="265176" cy="265176"/>
          </a:xfrm>
          <a:prstGeom prst="rect">
            <a:avLst/>
          </a:prstGeom>
          <a:solidFill>
            <a:srgbClr val="1E3B5C"/>
          </a:solidFill>
          <a:ln/>
        </p:spPr>
      </p:sp>
      <p:sp>
        <p:nvSpPr>
          <p:cNvPr id="30" name="Shape 28"/>
          <p:cNvSpPr/>
          <p:nvPr/>
        </p:nvSpPr>
        <p:spPr>
          <a:xfrm>
            <a:off x="8563356" y="3163824"/>
            <a:ext cx="265176" cy="265176"/>
          </a:xfrm>
          <a:prstGeom prst="rect">
            <a:avLst/>
          </a:prstGeom>
          <a:solidFill>
            <a:srgbClr val="1E3B5C"/>
          </a:solidFill>
          <a:ln/>
        </p:spPr>
      </p:sp>
      <p:sp>
        <p:nvSpPr>
          <p:cNvPr id="31" name="Shape 29"/>
          <p:cNvSpPr/>
          <p:nvPr/>
        </p:nvSpPr>
        <p:spPr>
          <a:xfrm>
            <a:off x="8855964" y="3163824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Shape 30"/>
          <p:cNvSpPr/>
          <p:nvPr/>
        </p:nvSpPr>
        <p:spPr>
          <a:xfrm>
            <a:off x="9148572" y="3163824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Shape 31"/>
          <p:cNvSpPr/>
          <p:nvPr/>
        </p:nvSpPr>
        <p:spPr>
          <a:xfrm>
            <a:off x="9441180" y="3163824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Shape 32"/>
          <p:cNvSpPr/>
          <p:nvPr/>
        </p:nvSpPr>
        <p:spPr>
          <a:xfrm>
            <a:off x="9733788" y="3163824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26396" y="3163824"/>
            <a:ext cx="265176" cy="265176"/>
          </a:xfrm>
          <a:prstGeom prst="rect">
            <a:avLst/>
          </a:prstGeom>
          <a:solidFill>
            <a:srgbClr val="1E3B5C"/>
          </a:solidFill>
          <a:ln/>
        </p:spPr>
      </p:sp>
      <p:sp>
        <p:nvSpPr>
          <p:cNvPr id="36" name="Shape 34"/>
          <p:cNvSpPr/>
          <p:nvPr/>
        </p:nvSpPr>
        <p:spPr>
          <a:xfrm>
            <a:off x="8563356" y="3456432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Shape 35"/>
          <p:cNvSpPr/>
          <p:nvPr/>
        </p:nvSpPr>
        <p:spPr>
          <a:xfrm>
            <a:off x="8855964" y="3456432"/>
            <a:ext cx="265176" cy="265176"/>
          </a:xfrm>
          <a:prstGeom prst="rect">
            <a:avLst/>
          </a:prstGeom>
          <a:solidFill>
            <a:srgbClr val="1E3B5C"/>
          </a:solidFill>
          <a:ln/>
        </p:spPr>
      </p:sp>
      <p:sp>
        <p:nvSpPr>
          <p:cNvPr id="38" name="Shape 36"/>
          <p:cNvSpPr/>
          <p:nvPr/>
        </p:nvSpPr>
        <p:spPr>
          <a:xfrm>
            <a:off x="9148572" y="3456432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9" name="Shape 37"/>
          <p:cNvSpPr/>
          <p:nvPr/>
        </p:nvSpPr>
        <p:spPr>
          <a:xfrm>
            <a:off x="9441180" y="3456432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0" name="Shape 38"/>
          <p:cNvSpPr/>
          <p:nvPr/>
        </p:nvSpPr>
        <p:spPr>
          <a:xfrm>
            <a:off x="9733788" y="3456432"/>
            <a:ext cx="265176" cy="265176"/>
          </a:xfrm>
          <a:prstGeom prst="rect">
            <a:avLst/>
          </a:prstGeom>
          <a:solidFill>
            <a:srgbClr val="1E3B5C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26396" y="3456432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2" name="Shape 40"/>
          <p:cNvSpPr/>
          <p:nvPr/>
        </p:nvSpPr>
        <p:spPr>
          <a:xfrm>
            <a:off x="8563356" y="3749040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3" name="Shape 41"/>
          <p:cNvSpPr/>
          <p:nvPr/>
        </p:nvSpPr>
        <p:spPr>
          <a:xfrm>
            <a:off x="8855964" y="3749040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4" name="Shape 42"/>
          <p:cNvSpPr/>
          <p:nvPr/>
        </p:nvSpPr>
        <p:spPr>
          <a:xfrm>
            <a:off x="9148572" y="3749040"/>
            <a:ext cx="265176" cy="265176"/>
          </a:xfrm>
          <a:prstGeom prst="rect">
            <a:avLst/>
          </a:prstGeom>
          <a:solidFill>
            <a:srgbClr val="1E3B5C"/>
          </a:solidFill>
          <a:ln/>
        </p:spPr>
      </p:sp>
      <p:sp>
        <p:nvSpPr>
          <p:cNvPr id="45" name="Shape 43"/>
          <p:cNvSpPr/>
          <p:nvPr/>
        </p:nvSpPr>
        <p:spPr>
          <a:xfrm>
            <a:off x="9441180" y="3749040"/>
            <a:ext cx="265176" cy="265176"/>
          </a:xfrm>
          <a:prstGeom prst="rect">
            <a:avLst/>
          </a:prstGeom>
          <a:solidFill>
            <a:srgbClr val="1E3B5C"/>
          </a:solidFill>
          <a:ln/>
        </p:spPr>
      </p:sp>
      <p:sp>
        <p:nvSpPr>
          <p:cNvPr id="46" name="Shape 44"/>
          <p:cNvSpPr/>
          <p:nvPr/>
        </p:nvSpPr>
        <p:spPr>
          <a:xfrm>
            <a:off x="9733788" y="3749040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26396" y="3749040"/>
            <a:ext cx="265176" cy="2651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8" name="Shape 46"/>
          <p:cNvSpPr/>
          <p:nvPr/>
        </p:nvSpPr>
        <p:spPr>
          <a:xfrm>
            <a:off x="9441180" y="4096512"/>
            <a:ext cx="0" cy="164592"/>
          </a:xfrm>
          <a:prstGeom prst="line">
            <a:avLst/>
          </a:prstGeom>
          <a:noFill/>
          <a:ln w="19050">
            <a:solidFill>
              <a:srgbClr val="4A6B8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9203436" y="4261104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203436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8106156" y="4791456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detectado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498080" y="5184648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convierte cada imagen en matrices numéricas (píxeles) sobre las que aplica algoritmos matemáticos para extraer patrones, bordes, formas y, finalmente, significado.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y Visión Computacional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¿Para qué se utiliza?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02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motor de visión resuelve tareas muy distintas según el sector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39112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 reconocimiento de objetos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79192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personas, vehículos, productos o defectos dentro de una imagen o vídeo.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06824" y="187452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5424" y="2103120"/>
            <a:ext cx="548640" cy="54864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35424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☺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21224" y="2039112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facial y biometría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2679192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identidad, control de accesos y análisis de emociones.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65008" y="187452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93608" y="2103120"/>
            <a:ext cx="548640" cy="54864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360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✚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979408" y="2039112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médica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93608" y="2679192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al diagnóstico en radiografías, resonancias y análisis de tejidos.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749040"/>
            <a:ext cx="548640" cy="54864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685032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 aumentada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325112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Superponer objetos virtuales alineados con el mundo real en tiempo real.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06824" y="352044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35424" y="3749040"/>
            <a:ext cx="548640" cy="54864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35424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221224" y="3685032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industrial (control de calidad)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35424" y="4325112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defectos de fabricación a alta velocidad en líneas de producción.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65008" y="352044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93608" y="3749040"/>
            <a:ext cx="548640" cy="54864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93608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979408" y="3685032"/>
            <a:ext cx="2404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 autónomos y robótica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293608" y="4325112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 del entorno, detección de carriles, obstáculos y navegación.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y Visión Computacional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OpenCV, Python y Machine Learning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6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ofrece bindings oficiales para Python (paquete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opencv-python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6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lo que lo convirtió en el estándar de facto para prototipar y desplegar visión artificial rápidamente, combinando el rendimiento de su núcleo en C++ con la simplicidad de Python.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relación con el Machine Learning es directa: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6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se encarga de capturar y preprocesar imágenes (redimensionar, filtrar, segmentar), mientras los modelos de aprendizaje automático o profundo se encargan de clasificar, detectar o predecir sobre esos datos.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123250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5257800"/>
            <a:ext cx="777240" cy="7772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51663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dnn: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versión 3, OpenCV puede cargar y ejecutar redes neuronales entrenadas en TensorFlow, PyTorch, Caffe u ONNX directamente.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0" y="155448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123250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178308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168249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20848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/ orquestación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0" y="2606040"/>
            <a:ext cx="0" cy="13716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274320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123250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297180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287121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32735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y preprocesado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0" y="3794760"/>
            <a:ext cx="0" cy="13716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393192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123250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416052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0" y="4160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405993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ML/DL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4462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· PyTorch · ONNX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0" y="4983480"/>
            <a:ext cx="0" cy="13716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512064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00B4D8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534924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0" y="5349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635240" y="524865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635240" y="565099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Detección, clasificación, predicción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y Visión Computacional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características y posibilidades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502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imágenes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Filtros, transformaciones geométricas, umbralización y mejora de color.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41732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69164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468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bordes y formas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como Canny, Sobel o Hough para contornos y figuras geométricas.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41732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69164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468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vídeo en tiempo real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9900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objetos (tracking), sustracción de fondo y flujo óptico.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y visión 3D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5504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lentes, estéreo-visión y reconstrucción tridimensional.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397764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2519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ML integrados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5504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k-NN, redes neuronales y el módulo dnn para modelos preentrenados.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397764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42519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 y multilenguaje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555040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C++, Python, Java; funciona en Windows, Linux, macOS, Android e iOS.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y Visión Computacional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y herramientas relacionadas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502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rara vez trabaja solo: forma parte de un ecosistema más amplio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24328" cy="4206240"/>
          </a:xfrm>
          <a:prstGeom prst="roundRect">
            <a:avLst>
              <a:gd name="adj" fmla="val 3484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5740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2258568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04495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92608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493008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17880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059936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74573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626864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55848" y="1828800"/>
            <a:ext cx="2624328" cy="4206240"/>
          </a:xfrm>
          <a:prstGeom prst="roundRect">
            <a:avLst>
              <a:gd name="adj" fmla="val 3484"/>
            </a:avLst>
          </a:prstGeom>
          <a:solidFill>
            <a:srgbClr val="114B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38728" y="205740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científico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538728" y="2743200"/>
            <a:ext cx="2258568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38728" y="304495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721608" y="292608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38728" y="361188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721608" y="3493008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38728" y="417880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721608" y="4059936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scikit-image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38728" y="474573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721608" y="4626864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63056" y="1828800"/>
            <a:ext cx="2624328" cy="4206240"/>
          </a:xfrm>
          <a:prstGeom prst="roundRect">
            <a:avLst>
              <a:gd name="adj" fmla="val 3484"/>
            </a:avLst>
          </a:prstGeom>
          <a:solidFill>
            <a:srgbClr val="0E6E8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45936" y="205740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/ tracking especializado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45936" y="2743200"/>
            <a:ext cx="2258568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45936" y="304495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28816" y="292608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(Ultralytics)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45936" y="361188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528816" y="3493008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45936" y="417880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28816" y="4059936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45936" y="474573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28816" y="4626864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Detectron2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970264" y="1828800"/>
            <a:ext cx="2624328" cy="4206240"/>
          </a:xfrm>
          <a:prstGeom prst="roundRect">
            <a:avLst>
              <a:gd name="adj" fmla="val 3484"/>
            </a:avLst>
          </a:prstGeom>
          <a:solidFill>
            <a:srgbClr val="1C729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153144" y="205740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Aceleración y despliegue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9153144" y="2743200"/>
            <a:ext cx="2258568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53144" y="3044952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336024" y="292608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/ cuDNN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153144" y="361188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336024" y="3493008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OpenVINO (Intel)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153144" y="4178808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336024" y="4059936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(NVIDIA)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153144" y="4745736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336024" y="4626864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y Visión Computacional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Aplicaciones desarrolladas con esta tecnología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02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474720" cy="73152"/>
          </a:xfrm>
          <a:prstGeom prst="roundRect">
            <a:avLst/>
          </a:prstGeom>
          <a:solidFill>
            <a:srgbClr val="114B5F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801368"/>
            <a:ext cx="594360" cy="59436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1801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1460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realidad aumentada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44952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Snapchat, Instagram y Meta usan seguimiento facial en tiempo real para filtros y máscaras.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50876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508760"/>
            <a:ext cx="3474720" cy="73152"/>
          </a:xfrm>
          <a:prstGeom prst="roundRect">
            <a:avLst/>
          </a:prstGeom>
          <a:solidFill>
            <a:srgbClr val="114B5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07992" y="1801368"/>
            <a:ext cx="594360" cy="59436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07992" y="1801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07992" y="251460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de fitness y salud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07992" y="3044952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 pose corporal (MediaPipe/OpenPose) para corregir ejercicios y contar repeticiones.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150876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0" y="1508760"/>
            <a:ext cx="3474720" cy="73152"/>
          </a:xfrm>
          <a:prstGeom prst="roundRect">
            <a:avLst/>
          </a:prstGeom>
          <a:solidFill>
            <a:srgbClr val="114B5F"/>
          </a:solidFill>
          <a:ln/>
        </p:spPr>
      </p:sp>
      <p:sp>
        <p:nvSpPr>
          <p:cNvPr id="18" name="Shape 16"/>
          <p:cNvSpPr/>
          <p:nvPr/>
        </p:nvSpPr>
        <p:spPr>
          <a:xfrm>
            <a:off x="8211312" y="1801368"/>
            <a:ext cx="594360" cy="59436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11312" y="1801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11312" y="251460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al conductor (ADAS)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211312" y="3044952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carriles, señales y peatones en sistemas de conducción asistida y autónoma.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069080"/>
            <a:ext cx="3474720" cy="73152"/>
          </a:xfrm>
          <a:prstGeom prst="roundRect">
            <a:avLst/>
          </a:prstGeom>
          <a:solidFill>
            <a:srgbClr val="114B5F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4361688"/>
            <a:ext cx="594360" cy="59436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4672" y="43616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" y="507492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 de precisión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5605272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con visión artificial que detectan plagas y estiman el rendimiento de cultivos.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51960" y="406908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51960" y="4069080"/>
            <a:ext cx="3474720" cy="73152"/>
          </a:xfrm>
          <a:prstGeom prst="roundRect">
            <a:avLst/>
          </a:prstGeom>
          <a:solidFill>
            <a:srgbClr val="114B5F"/>
          </a:solidFill>
          <a:ln/>
        </p:spPr>
      </p:sp>
      <p:sp>
        <p:nvSpPr>
          <p:cNvPr id="30" name="Shape 28"/>
          <p:cNvSpPr/>
          <p:nvPr/>
        </p:nvSpPr>
        <p:spPr>
          <a:xfrm>
            <a:off x="4507992" y="4361688"/>
            <a:ext cx="594360" cy="59436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07992" y="43616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4507992" y="507492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códigos y documentos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4507992" y="5605272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 códigos QR/de barras y OCR para digitalizar documentos automáticamente.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55280" y="406908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55280" y="4069080"/>
            <a:ext cx="3474720" cy="73152"/>
          </a:xfrm>
          <a:prstGeom prst="roundRect">
            <a:avLst/>
          </a:prstGeom>
          <a:solidFill>
            <a:srgbClr val="114B5F"/>
          </a:solidFill>
          <a:ln/>
        </p:spPr>
      </p:sp>
      <p:sp>
        <p:nvSpPr>
          <p:cNvPr id="36" name="Shape 34"/>
          <p:cNvSpPr/>
          <p:nvPr/>
        </p:nvSpPr>
        <p:spPr>
          <a:xfrm>
            <a:off x="8211312" y="4361688"/>
            <a:ext cx="594360" cy="59436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11312" y="43616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8211312" y="507492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y efectos de vídeo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211312" y="5605272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Sustracción de fondo (chroma sin croma) y seguimiento de objetos para postproducción.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y Visión Computacional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éxito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502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9164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123250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659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— Autopilot / FSD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cámaras y redes neuronales de visión (heredera de técnicas clásicas de visión por computadora) que interpretan el entorno vial en tiempo real para conducción asistida.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123250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96596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659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Go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6060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"Just Walk Out": cámaras cenitales con visión artificial identifican qué productos toma cada cliente, eliminando las cajas registradoras.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123250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3891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Lens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visual que reconoce objetos, texto, plantas y productos a partir de una foto tomada con el móvil.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1148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123250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3891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3891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médico por imagen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50292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Hospitales usan visión artificial para detectar patrones sospechosos en radiografías y biopsias digitales, acelerando el cribado.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y Visión Computacional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Proyectos desarrollados por grandes empresas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02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502920" cy="50292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148840"/>
            <a:ext cx="3072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Creadora original de OpenCV (1999) y de OpenVINO, un toolkit para optimizar y desplegar modelos de visión en hardware Intel.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146304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53128" y="1664208"/>
            <a:ext cx="502920" cy="50292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5312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93208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53128" y="2148840"/>
            <a:ext cx="3072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Desarrolló MediaPipe (visión y seguimiento en tiempo real) y TensorFlow, ampliamente usados junto a OpenCV.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0" y="146304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56448" y="1664208"/>
            <a:ext cx="502920" cy="50292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5644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796528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56448" y="2148840"/>
            <a:ext cx="3072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Vision y el sensor Kinect, pioneros en captura de profundidad y reconocimiento de gestos.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264408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465576"/>
            <a:ext cx="502920" cy="50292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89888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(Facebook)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3950208"/>
            <a:ext cx="3072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Anything Model (SAM) y Detectron2, referentes en segmentación y detección de objetos.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51960" y="3264408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53128" y="3465576"/>
            <a:ext cx="502920" cy="50292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53128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093208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453128" y="3950208"/>
            <a:ext cx="3072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DeepStream SDK y TensorRT para acelerar por GPU aplicaciones de visión en tiempo real a gran escala.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55280" y="3264408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sx="100000" sy="100000" kx="0" ky="0" algn="bl" rotWithShape="0" blurRad="63500" dist="25400" dir="5400000">
              <a:srgbClr val="1A2733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56448" y="3465576"/>
            <a:ext cx="502920" cy="502920"/>
          </a:xfrm>
          <a:prstGeom prst="ellipse">
            <a:avLst/>
          </a:prstGeom>
          <a:solidFill>
            <a:srgbClr val="114B5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56448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156448" y="3950208"/>
            <a:ext cx="3072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Rekognition, servicio en la nube para análisis de imágenes y vídeo, y la tecnología detrás de Amazon Go.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y Visión Computacional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Visión computacional en las organizaciones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502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123250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585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por imagen, cirugía asistida y monitorización de pacientes.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16002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123250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2880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2585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flujo de clientes, checkout automático y gestión de inventario visual.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0" y="16002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123250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82880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2585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calidad automatizado y mantenimiento predictivo por cámara.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123250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90448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Videovigilancia inteligente, control de accesos y detección de intrusos.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51960" y="32461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123250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4747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805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390448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cultivos por dron y clasificación automática de cosechas.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55280" y="32461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123250"/>
          </a:solidFill>
          <a:ln w="12700">
            <a:solidFill>
              <a:srgbClr val="1E3B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34747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838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882396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Movilidad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390448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 autónomos, gestión de tráfico y peaje automático por matrícula.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650992"/>
            <a:ext cx="11064240" cy="0"/>
          </a:xfrm>
          <a:prstGeom prst="line">
            <a:avLst/>
          </a:prstGeom>
          <a:noFill/>
          <a:ln w="12700">
            <a:solidFill>
              <a:srgbClr val="1E3B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síntesis: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D6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OpenCV, combinado con Python y Machine Learning, permite a cualquier organización pasar de una simple imagen a una decisión automatizada.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y Visión Computacional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2026-08-29T02:29:45Z</dcterms:created>
  <dcterms:modified xsi:type="dcterms:W3CDTF">2026-08-29T02:29:45Z</dcterms:modified>
</cp:coreProperties>
</file>