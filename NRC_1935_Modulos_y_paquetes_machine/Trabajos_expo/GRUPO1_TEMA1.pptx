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46C08-FE64-E036-5E04-3B83EB888C94}" v="65" dt="2026-08-22T15:55:29.866"/>
    <p1510:client id="{AAB9FAB1-AFB9-A37D-66A6-7F680339162E}" v="12" dt="2026-08-22T15:20:37.488"/>
    <p1510:client id="{ABAFDC52-B302-3472-1635-6D8DFCD49E26}" v="26" dt="2026-08-22T15:26:38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4567237"/>
            <a:ext cx="481965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1749" y="2757487"/>
            <a:ext cx="3008501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Space Grotesk"/>
              </a:rPr>
              <a:t>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5112" y="3871912"/>
            <a:ext cx="6581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El Framework Líder en Inteligencia Artificial y Aprendizaje Profundo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966912"/>
            <a:ext cx="7810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6B6D4"/>
                </a:solidFill>
                <a:latin typeface="Plus Jakarta Sans"/>
              </a:rPr>
              <a:t>SENATI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6700" y="4772025"/>
            <a:ext cx="1143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EE4C2C"/>
                </a:solidFill>
                <a:latin typeface="Plus Jakarta Sans"/>
              </a:rPr>
              <a:t>ESTUDIANTES: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5450" y="4748212"/>
            <a:ext cx="26098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FFFFFF"/>
                </a:solidFill>
                <a:latin typeface="Plus Jakarta Sans SemiBold"/>
              </a:rPr>
              <a:t>Guillermo Nieto  |  </a:t>
            </a:r>
            <a:r>
              <a:rPr lang="en-US" sz="1400">
                <a:solidFill>
                  <a:srgbClr val="FFFFFF"/>
                </a:solidFill>
                <a:latin typeface="Plus Jakarta Sans SemiBold"/>
              </a:rPr>
              <a:t>Azziz </a:t>
            </a:r>
            <a:r>
              <a:rPr lang="en-US" sz="1400" err="1">
                <a:solidFill>
                  <a:srgbClr val="FFFFFF"/>
                </a:solidFill>
                <a:latin typeface="Plus Jakarta Sans SemiBold"/>
              </a:rPr>
              <a:t>Isrra</a:t>
            </a:r>
            <a:r>
              <a:rPr lang="en-US" sz="1400">
                <a:solidFill>
                  <a:srgbClr val="FFFFFF"/>
                </a:solidFill>
                <a:latin typeface="Plus Jakarta Sans SemiBold"/>
              </a:rPr>
              <a:t>el</a:t>
            </a:r>
            <a:endParaRPr sz="1425" b="0" i="0" u="none">
              <a:solidFill>
                <a:srgbClr val="FFFFFF"/>
              </a:solidFill>
              <a:latin typeface="Plus Jakarta Sans SemiBold"/>
            </a:endParaRPr>
          </a:p>
        </p:txBody>
      </p:sp>
      <p:pic>
        <p:nvPicPr>
          <p:cNvPr id="12" name="Imagen 11" descr="Logo SENATI">
            <a:extLst>
              <a:ext uri="{FF2B5EF4-FFF2-40B4-BE49-F238E27FC236}">
                <a16:creationId xmlns:a16="http://schemas.microsoft.com/office/drawing/2014/main" id="{14DF5C69-C081-44F2-6844-50E08FC5B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738" y="1812454"/>
            <a:ext cx="1450632" cy="5455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0903" y="476250"/>
            <a:ext cx="5057819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¿Qué es PyTorch?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925"/>
            <a:ext cx="336053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20015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EE4C2C"/>
                </a:solidFill>
                <a:latin typeface="Space Grotesk"/>
              </a:rPr>
              <a:t>Framework de Aprendizaje Profundo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676400"/>
            <a:ext cx="528637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PyTorch es una biblioteca de código abierto para Machine Learning y Deep Learning desarrollada originalmente por </a:t>
            </a:r>
            <a:r>
              <a:rPr sz="1275" b="1" i="0" u="none">
                <a:solidFill>
                  <a:srgbClr val="CBD5E1"/>
                </a:solidFill>
                <a:latin typeface="Plus Jakarta Sans"/>
              </a:rPr>
              <a:t>Meta FAIR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y administrada actualmente por la </a:t>
            </a:r>
            <a:r>
              <a:rPr sz="1275" b="1" i="0" u="none">
                <a:solidFill>
                  <a:srgbClr val="CBD5E1"/>
                </a:solidFill>
                <a:latin typeface="Plus Jakarta Sans"/>
              </a:rPr>
              <a:t>PyTorch Foundation (Linux Foundation)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883693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Combina la potencia de cálculo de tensores acelerados por GPU con un motor de diferenciación automática dinámico (Autograd), permitiendo construir redes neuronales complejas de forma intuitiva.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4600"/>
            <a:ext cx="3530649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14600"/>
            <a:ext cx="3530649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14600"/>
            <a:ext cx="3530649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2925"/>
            <a:ext cx="297953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09875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533775"/>
            <a:ext cx="27448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Modelos de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14775"/>
            <a:ext cx="29400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Diseño y entrenamiento de redes neuronales convolucionales (CNN), recurrentes (RNN) y Transformers para tareas avanzadas de IA.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809875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26024" y="3533775"/>
            <a:ext cx="277597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Investigación e Innovación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024" y="3914775"/>
            <a:ext cx="29400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Es la herramienta preferida por la comunidad científica para prototipar rápidamente hipótesis e investigaciones de vanguardia.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809875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5274" y="3533775"/>
            <a:ext cx="22079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Despliegue Industrial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274" y="3914775"/>
            <a:ext cx="29400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Escalabilidad desde prototipos en Jupyter Notebooks hasta sistemas de producción masivos con ejecución distribuida en miles de GPUs.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25" y="2943225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662" y="2943225"/>
            <a:ext cx="238125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624" y="2943225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2803" y="476250"/>
            <a:ext cx="1114858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¿Para Qué se Utiliza?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7126"/>
            <a:ext cx="5381625" cy="21276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727126"/>
            <a:ext cx="5381625" cy="21276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925"/>
            <a:ext cx="259853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070026"/>
            <a:ext cx="4930616" cy="295275"/>
          </a:xfrm>
          <a:prstGeom prst="rect">
            <a:avLst/>
          </a:prstGeom>
          <a:noFill/>
        </p:spPr>
        <p:txBody>
          <a:bodyPr wrap="square" lIns="19556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Space Grotesk"/>
              </a:rPr>
              <a:t> Integración Nativa "Pythonic"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17701"/>
            <a:ext cx="4695825" cy="994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PyTorch fue diseñado pensando en Python primero. A diferencia de otros frameworks rígidos, permite usar estructuras de control nativas (bucles for, condicionales if) y depurar directamente con herramientas estándar como pdb.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070026"/>
            <a:ext cx="4930616" cy="295275"/>
          </a:xfrm>
          <a:prstGeom prst="rect">
            <a:avLst/>
          </a:prstGeom>
          <a:noFill/>
        </p:spPr>
        <p:txBody>
          <a:bodyPr wrap="square" lIns="22413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Space Grotesk"/>
              </a:rPr>
              <a:t>Columna Vertebral del ML Moderno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517701"/>
            <a:ext cx="469582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Se integra perfectamente con el ecosistema científico de Python (NumPy, SciPy, Pandas). Los tensores de PyTorch pueden convertirse a arrays de NumPy de forma casi instantánea compartiendo memoria.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98601"/>
            <a:ext cx="19556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098601"/>
            <a:ext cx="22413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4703" y="476250"/>
            <a:ext cx="11188585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 Relación con Python y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2925"/>
            <a:ext cx="336053" cy="30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609725"/>
            <a:ext cx="11049000" cy="938212"/>
          </a:xfrm>
          <a:prstGeom prst="roundRect">
            <a:avLst>
              <a:gd name="adj" fmla="val 12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90625" y="1800225"/>
            <a:ext cx="102012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Tensores y Aceleración CUDA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Estructuras n-dimensionales similares a NumPy pero optimizadas para cómputo masivo en GPUs y TPUs.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700337"/>
            <a:ext cx="11049000" cy="938212"/>
          </a:xfrm>
          <a:prstGeom prst="roundRect">
            <a:avLst>
              <a:gd name="adj" fmla="val 12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90625" y="2890837"/>
            <a:ext cx="102012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Grafos de Computación Dinámica (Autograd)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El grafo computacional se construye al vuelo durante la ejecución, lo que facilita modificar la red dinámicamente.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790950"/>
            <a:ext cx="11049000" cy="938212"/>
          </a:xfrm>
          <a:prstGeom prst="roundRect">
            <a:avLst>
              <a:gd name="adj" fmla="val 12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90625" y="3981450"/>
            <a:ext cx="102012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Módulos Flexibles (torch.nn)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Arquitectura modular limpia para crear capas personalizada, funciones de pérdida y optimizadores.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881562"/>
            <a:ext cx="11049000" cy="938212"/>
          </a:xfrm>
          <a:prstGeom prst="roundRect">
            <a:avLst>
              <a:gd name="adj" fmla="val 1218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0625" y="5072062"/>
            <a:ext cx="1020127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FFFFF"/>
                </a:solidFill>
                <a:latin typeface="Plus Jakarta Sans"/>
              </a:rPr>
              <a:t>Soporte Distribuido y torch.compile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Compilación JIT de alto rendimiento y paralelización FSDP para modelos gigantescos de IA generativa.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538412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6290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719637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810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824037"/>
            <a:ext cx="2381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14650"/>
            <a:ext cx="23812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005262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095875"/>
            <a:ext cx="180975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0903" y="476250"/>
            <a:ext cx="11108575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Principales Características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2925"/>
            <a:ext cx="297953" cy="304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43162"/>
          <a:ext cx="11029949" cy="2695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5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E4C2C"/>
                          </a:solidFill>
                          <a:latin typeface="Space Grotesk"/>
                        </a:rPr>
                        <a:t>Categoría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E4C2C"/>
                          </a:solidFill>
                          <a:latin typeface="Space Grotesk"/>
                        </a:rPr>
                        <a:t>Librería / Herramienta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E4C2C"/>
                          </a:solidFill>
                          <a:latin typeface="Space Grotesk"/>
                        </a:rPr>
                        <a:t>Propósito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Ecosistema Oficial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Torchvision / Torchaudio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Procesamiento de datos de visión computacional y audio.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IA Generativa &amp; LLMs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Hugging Face Transformers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Modelos preentrenados (Llama, BERT, GPT, Whisper).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Optimización y Producción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ONNX &amp; TensorRT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Exportación e inferencia ultrarrápida entre plataformas.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Estructuración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PyTorch Lightning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Organización de código limpio sin boilerplate técnico.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14662"/>
            <a:ext cx="2775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56223" y="3014662"/>
            <a:ext cx="28344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0654" y="3014662"/>
            <a:ext cx="54203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43300"/>
            <a:ext cx="2775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56223" y="3543300"/>
            <a:ext cx="28344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0654" y="3543300"/>
            <a:ext cx="54203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071937"/>
            <a:ext cx="2775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56223" y="4071937"/>
            <a:ext cx="28344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654" y="4071937"/>
            <a:ext cx="54203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600575"/>
            <a:ext cx="2775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6223" y="4600575"/>
            <a:ext cx="28344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0654" y="4600575"/>
            <a:ext cx="54203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2803" y="476250"/>
            <a:ext cx="1114858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Herramientas y Librerías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81200"/>
            <a:ext cx="53816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925"/>
            <a:ext cx="374153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81200"/>
            <a:ext cx="51149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Visión por Computadora: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Clasificación de imágenes, detección de objetos en tiempo real y segmentación médica.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600325"/>
            <a:ext cx="51149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Procesamiento de Lenguaje (NLP):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Traductores automáticos, análisis de sentimiento y asistentes de voz.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19450"/>
            <a:ext cx="51149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IA Generativa: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Síntesis de voz, generación de imágenes con modelos de Difusión y creación de texto.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838575"/>
            <a:ext cx="51149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Robótica y Control: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Aprendizaje por refuerzo para navegación autónoma y brazos robóticos industriales.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990725"/>
            <a:ext cx="536257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9003" y="476250"/>
            <a:ext cx="1106857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Aplicaciones Desarrolladas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00250"/>
            <a:ext cx="142875" cy="161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19375"/>
            <a:ext cx="14287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38500"/>
            <a:ext cx="1428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57625"/>
            <a:ext cx="1428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9862"/>
            <a:ext cx="5381625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925"/>
            <a:ext cx="336053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100387"/>
            <a:ext cx="460057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EE4C2C"/>
                </a:solidFill>
                <a:latin typeface="Space Grotesk"/>
              </a:rPr>
              <a:t>84%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243387"/>
            <a:ext cx="46005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Preferencia en Investigación de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148012"/>
            <a:ext cx="565070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FFFFF"/>
                </a:solidFill>
                <a:latin typeface="Space Grotesk"/>
              </a:rPr>
              <a:t>Hitos Mundiales impulsados por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3367087"/>
            <a:ext cx="53816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OpenAI: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Migró su infraestructura central a PyTorch para entrenar modelos revolucionarios como ChatGPT, GPT-4, DALL-E 3 y Sora.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3948112"/>
            <a:ext cx="53816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Tesla Autopilot: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Utiliza PyTorch para procesar millones de imágenes de cámaras en tiempo real para conducción autónoma (FSD).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903" y="476250"/>
            <a:ext cx="11108575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Casos de Éxito Emblemáticos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6651"/>
            <a:ext cx="5381625" cy="21085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736651"/>
            <a:ext cx="5381625" cy="21085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2925"/>
            <a:ext cx="374153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079551"/>
            <a:ext cx="4930616" cy="295275"/>
          </a:xfrm>
          <a:prstGeom prst="rect">
            <a:avLst/>
          </a:prstGeom>
          <a:noFill/>
        </p:spPr>
        <p:txBody>
          <a:bodyPr wrap="square" lIns="28128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Space Grotesk"/>
              </a:rPr>
              <a:t> Meta (FAIR)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7226"/>
            <a:ext cx="46958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Desarrolló la familia de modelos abiertos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Llama 3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, el modelo de visión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Segment Anything (SAM)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y sistemas de traducción universal como SeamlessM4T.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079551"/>
            <a:ext cx="4930616" cy="295275"/>
          </a:xfrm>
          <a:prstGeom prst="rect">
            <a:avLst/>
          </a:prstGeom>
          <a:noFill/>
        </p:spPr>
        <p:txBody>
          <a:bodyPr wrap="square" lIns="19556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Space Grotesk"/>
              </a:rPr>
              <a:t> Microsoft &amp; IBM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527226"/>
            <a:ext cx="469582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Microsoft: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Creó DeepSpeed para acelerar el entrenamiento a gran escala en Azure.</a:t>
            </a:r>
            <a:r>
              <a:t>
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IBM: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Desarrolló TerraTorch para visión computacional geoespacial.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08126"/>
            <a:ext cx="28128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108126"/>
            <a:ext cx="19556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003" y="476250"/>
            <a:ext cx="1106857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Space Grotesk"/>
              </a:rPr>
              <a:t>Proyectos Empresariales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Space Grotesk"/>
              </a:rPr>
              <a:t>PyTorch en las Organizaciones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47800"/>
            <a:ext cx="11049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Acelera la transformación digital permitiendo crear productos inteligentes, mantenimiento predictivo y asistentes virtuales de alto impacto.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57450"/>
            <a:ext cx="11049000" cy="3143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 SemiBold"/>
              </a:rPr>
              <a:t>SENATI — Servicio Nacional de Adiestramiento en Trabajo 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47975"/>
            <a:ext cx="11049000" cy="29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FFFFFF"/>
                </a:solidFill>
                <a:latin typeface="Plus Jakarta Sans SemiBold"/>
              </a:rPr>
              <a:t>Presentado</a:t>
            </a:r>
            <a:r>
              <a:rPr sz="1650" b="0" i="0" u="none" dirty="0">
                <a:solidFill>
                  <a:srgbClr val="FFFFFF"/>
                </a:solidFill>
                <a:latin typeface="Plus Jakarta Sans SemiBold"/>
              </a:rPr>
              <a:t> </a:t>
            </a:r>
            <a:r>
              <a:rPr sz="1650" b="0" i="0" u="none" dirty="0" err="1">
                <a:solidFill>
                  <a:srgbClr val="FFFFFF"/>
                </a:solidFill>
                <a:latin typeface="Plus Jakarta Sans SemiBold"/>
              </a:rPr>
              <a:t>por</a:t>
            </a:r>
            <a:r>
              <a:rPr sz="1650" b="0" i="0" u="none" dirty="0">
                <a:solidFill>
                  <a:srgbClr val="FFFFFF"/>
                </a:solidFill>
                <a:latin typeface="Plus Jakarta Sans SemiBold"/>
              </a:rPr>
              <a:t>: Guillermo Nieto </a:t>
            </a:r>
            <a:r>
              <a:rPr lang="en-US" sz="1650" dirty="0">
                <a:solidFill>
                  <a:srgbClr val="FFFFFF"/>
                </a:solidFill>
                <a:latin typeface="Plus Jakarta Sans SemiBold"/>
              </a:rPr>
              <a:t>y </a:t>
            </a:r>
            <a:r>
              <a:rPr lang="en-US" sz="1650" dirty="0">
                <a:solidFill>
                  <a:srgbClr val="FFFFFF"/>
                </a:solidFill>
                <a:latin typeface="Plus Jakarta Sans SemiBold"/>
                <a:ea typeface="+mn-lt"/>
                <a:cs typeface="+mn-lt"/>
              </a:rPr>
              <a:t>Azziz Isrrael</a:t>
            </a:r>
            <a:endParaRPr lang="en-US" sz="1650" dirty="0">
              <a:solidFill>
                <a:srgbClr val="000000"/>
              </a:solidFill>
              <a:latin typeface="Plus Jakarta Sans SemiBold"/>
              <a:ea typeface="+mn-lt"/>
              <a:cs typeface="+mn-lt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5" y="2514600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30</cp:revision>
  <dcterms:created xsi:type="dcterms:W3CDTF">2013-01-27T09:14:16Z</dcterms:created>
  <dcterms:modified xsi:type="dcterms:W3CDTF">2026-08-22T15:56:04Z</dcterms:modified>
  <cp:category/>
</cp:coreProperties>
</file>