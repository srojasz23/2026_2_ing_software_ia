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ITC Avant Garde Gothic Bold" charset="1" panose="020B0802020202020204"/>
      <p:regular r:id="rId19"/>
    </p:embeddedFont>
    <p:embeddedFont>
      <p:font typeface="ITC Avant Garde Gothic" charset="1" panose="020B0502020202020204"/>
      <p:regular r:id="rId20"/>
    </p:embeddedFont>
    <p:embeddedFont>
      <p:font typeface="Helvetica World Bold" charset="1" panose="020B08000400000200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sp>
        <p:nvSpPr>
          <p:cNvPr name="Freeform 2" id="2"/>
          <p:cNvSpPr/>
          <p:nvPr/>
        </p:nvSpPr>
        <p:spPr>
          <a:xfrm flipH="false" flipV="false" rot="0">
            <a:off x="7146968" y="7204276"/>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679753">
            <a:off x="13678067" y="-1780621"/>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509269" y="-1235736"/>
            <a:ext cx="4746507" cy="4568513"/>
          </a:xfrm>
          <a:custGeom>
            <a:avLst/>
            <a:gdLst/>
            <a:ahLst/>
            <a:cxnLst/>
            <a:rect r="r" b="b" t="t" l="l"/>
            <a:pathLst>
              <a:path h="4568513" w="4746507">
                <a:moveTo>
                  <a:pt x="0" y="0"/>
                </a:moveTo>
                <a:lnTo>
                  <a:pt x="4746507" y="0"/>
                </a:lnTo>
                <a:lnTo>
                  <a:pt x="4746507" y="4568512"/>
                </a:lnTo>
                <a:lnTo>
                  <a:pt x="0" y="4568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144000" y="1858287"/>
            <a:ext cx="8428713" cy="8428713"/>
          </a:xfrm>
          <a:custGeom>
            <a:avLst/>
            <a:gdLst/>
            <a:ahLst/>
            <a:cxnLst/>
            <a:rect r="r" b="b" t="t" l="l"/>
            <a:pathLst>
              <a:path h="8428713" w="8428713">
                <a:moveTo>
                  <a:pt x="0" y="0"/>
                </a:moveTo>
                <a:lnTo>
                  <a:pt x="8428713" y="0"/>
                </a:lnTo>
                <a:lnTo>
                  <a:pt x="8428713" y="8428713"/>
                </a:lnTo>
                <a:lnTo>
                  <a:pt x="0" y="84287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2456082"/>
            <a:ext cx="7595319" cy="5374837"/>
            <a:chOff x="0" y="0"/>
            <a:chExt cx="10127092" cy="7166449"/>
          </a:xfrm>
        </p:grpSpPr>
        <p:sp>
          <p:nvSpPr>
            <p:cNvPr name="TextBox 7" id="7"/>
            <p:cNvSpPr txBox="true"/>
            <p:nvPr/>
          </p:nvSpPr>
          <p:spPr>
            <a:xfrm rot="0">
              <a:off x="0" y="-152400"/>
              <a:ext cx="10127092" cy="5176474"/>
            </a:xfrm>
            <a:prstGeom prst="rect">
              <a:avLst/>
            </a:prstGeom>
          </p:spPr>
          <p:txBody>
            <a:bodyPr anchor="t" rtlCol="false" tIns="0" lIns="0" bIns="0" rIns="0">
              <a:spAutoFit/>
            </a:bodyPr>
            <a:lstStyle/>
            <a:p>
              <a:pPr algn="l">
                <a:lnSpc>
                  <a:spcPts val="9877"/>
                </a:lnSpc>
              </a:pPr>
              <a:r>
                <a:rPr lang="en-US" sz="8370" spc="326" b="true">
                  <a:solidFill>
                    <a:srgbClr val="FFC857"/>
                  </a:solidFill>
                  <a:latin typeface="ITC Avant Garde Gothic Bold"/>
                  <a:ea typeface="ITC Avant Garde Gothic Bold"/>
                  <a:cs typeface="ITC Avant Garde Gothic Bold"/>
                  <a:sym typeface="ITC Avant Garde Gothic Bold"/>
                </a:rPr>
                <a:t>IA Generativa y Python</a:t>
              </a:r>
            </a:p>
          </p:txBody>
        </p:sp>
        <p:sp>
          <p:nvSpPr>
            <p:cNvPr name="TextBox 8" id="8"/>
            <p:cNvSpPr txBox="true"/>
            <p:nvPr/>
          </p:nvSpPr>
          <p:spPr>
            <a:xfrm rot="0">
              <a:off x="0" y="5193462"/>
              <a:ext cx="10127092" cy="1972987"/>
            </a:xfrm>
            <a:prstGeom prst="rect">
              <a:avLst/>
            </a:prstGeom>
          </p:spPr>
          <p:txBody>
            <a:bodyPr anchor="t" rtlCol="false" tIns="0" lIns="0" bIns="0" rIns="0">
              <a:spAutoFit/>
            </a:bodyPr>
            <a:lstStyle/>
            <a:p>
              <a:pPr algn="l">
                <a:lnSpc>
                  <a:spcPts val="3776"/>
                </a:lnSpc>
              </a:pPr>
              <a:r>
                <a:rPr lang="en-US" sz="3200" spc="124">
                  <a:solidFill>
                    <a:srgbClr val="C7C2EF"/>
                  </a:solidFill>
                  <a:latin typeface="ITC Avant Garde Gothic"/>
                  <a:ea typeface="ITC Avant Garde Gothic"/>
                  <a:cs typeface="ITC Avant Garde Gothic"/>
                  <a:sym typeface="ITC Avant Garde Gothic"/>
                </a:rPr>
                <a:t>Qué es la inteligencia artificial generativa y cómo podemos usar Python para hacer uso de ella </a:t>
              </a:r>
            </a:p>
          </p:txBody>
        </p:sp>
      </p:grpSp>
      <p:sp>
        <p:nvSpPr>
          <p:cNvPr name="TextBox 9" id="9"/>
          <p:cNvSpPr txBox="true"/>
          <p:nvPr/>
        </p:nvSpPr>
        <p:spPr>
          <a:xfrm rot="0">
            <a:off x="1028700" y="8712716"/>
            <a:ext cx="4636553" cy="576072"/>
          </a:xfrm>
          <a:prstGeom prst="rect">
            <a:avLst/>
          </a:prstGeom>
        </p:spPr>
        <p:txBody>
          <a:bodyPr anchor="t" rtlCol="false" tIns="0" lIns="0" bIns="0" rIns="0">
            <a:spAutoFit/>
          </a:bodyPr>
          <a:lstStyle/>
          <a:p>
            <a:pPr algn="l">
              <a:lnSpc>
                <a:spcPts val="2124"/>
              </a:lnSpc>
            </a:pPr>
            <a:r>
              <a:rPr lang="en-US" sz="1800" spc="70">
                <a:solidFill>
                  <a:srgbClr val="C7C2EF"/>
                </a:solidFill>
                <a:latin typeface="ITC Avant Garde Gothic"/>
                <a:ea typeface="ITC Avant Garde Gothic"/>
                <a:cs typeface="ITC Avant Garde Gothic"/>
                <a:sym typeface="ITC Avant Garde Gothic"/>
              </a:rPr>
              <a:t>Por Axel Alexis Cotrina Ramirez</a:t>
            </a:r>
          </a:p>
          <a:p>
            <a:pPr algn="l">
              <a:lnSpc>
                <a:spcPts val="2124"/>
              </a:lnSpc>
            </a:pPr>
            <a:r>
              <a:rPr lang="en-US" sz="1800" spc="70">
                <a:solidFill>
                  <a:srgbClr val="C7C2EF"/>
                </a:solidFill>
                <a:latin typeface="ITC Avant Garde Gothic"/>
                <a:ea typeface="ITC Avant Garde Gothic"/>
                <a:cs typeface="ITC Avant Garde Gothic"/>
                <a:sym typeface="ITC Avant Garde Gothic"/>
              </a:rPr>
              <a:t>Sábado, 5 de septiembre de 2026.</a:t>
            </a:r>
          </a:p>
        </p:txBody>
      </p:sp>
      <p:sp>
        <p:nvSpPr>
          <p:cNvPr name="Freeform 10" id="10"/>
          <p:cNvSpPr/>
          <p:nvPr/>
        </p:nvSpPr>
        <p:spPr>
          <a:xfrm flipH="false" flipV="false" rot="0">
            <a:off x="1028700" y="907706"/>
            <a:ext cx="424697" cy="594360"/>
          </a:xfrm>
          <a:custGeom>
            <a:avLst/>
            <a:gdLst/>
            <a:ahLst/>
            <a:cxnLst/>
            <a:rect r="r" b="b" t="t" l="l"/>
            <a:pathLst>
              <a:path h="594360" w="424697">
                <a:moveTo>
                  <a:pt x="0" y="0"/>
                </a:moveTo>
                <a:lnTo>
                  <a:pt x="424697" y="0"/>
                </a:lnTo>
                <a:lnTo>
                  <a:pt x="424697" y="594360"/>
                </a:lnTo>
                <a:lnTo>
                  <a:pt x="0" y="5943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664714" y="945806"/>
            <a:ext cx="1510495" cy="586350"/>
          </a:xfrm>
          <a:prstGeom prst="rect">
            <a:avLst/>
          </a:prstGeom>
        </p:spPr>
        <p:txBody>
          <a:bodyPr anchor="t" rtlCol="false" tIns="0" lIns="0" bIns="0" rIns="0">
            <a:spAutoFit/>
          </a:bodyPr>
          <a:lstStyle/>
          <a:p>
            <a:pPr algn="l">
              <a:lnSpc>
                <a:spcPts val="2092"/>
              </a:lnSpc>
            </a:pPr>
            <a:r>
              <a:rPr lang="en-US" b="true" sz="2031">
                <a:solidFill>
                  <a:srgbClr val="C7C2EF"/>
                </a:solidFill>
                <a:latin typeface="Helvetica World Bold"/>
                <a:ea typeface="Helvetica World Bold"/>
                <a:cs typeface="Helvetica World Bold"/>
                <a:sym typeface="Helvetica World Bold"/>
              </a:rPr>
              <a:t>ESTUDIO SHONOS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sp>
        <p:nvSpPr>
          <p:cNvPr name="Freeform 2" id="2"/>
          <p:cNvSpPr/>
          <p:nvPr/>
        </p:nvSpPr>
        <p:spPr>
          <a:xfrm flipH="false" flipV="false" rot="8402793">
            <a:off x="171364" y="-667348"/>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681570"/>
            <a:ext cx="7605430" cy="7605430"/>
          </a:xfrm>
          <a:custGeom>
            <a:avLst/>
            <a:gdLst/>
            <a:ahLst/>
            <a:cxnLst/>
            <a:rect r="r" b="b" t="t" l="l"/>
            <a:pathLst>
              <a:path h="7605430" w="7605430">
                <a:moveTo>
                  <a:pt x="0" y="0"/>
                </a:moveTo>
                <a:lnTo>
                  <a:pt x="7605430" y="0"/>
                </a:lnTo>
                <a:lnTo>
                  <a:pt x="7605430" y="7605430"/>
                </a:lnTo>
                <a:lnTo>
                  <a:pt x="0" y="76054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084063" y="1500489"/>
            <a:ext cx="6777589" cy="755650"/>
          </a:xfrm>
          <a:prstGeom prst="rect">
            <a:avLst/>
          </a:prstGeom>
        </p:spPr>
        <p:txBody>
          <a:bodyPr anchor="t" rtlCol="false" tIns="0" lIns="0" bIns="0" rIns="0">
            <a:spAutoFit/>
          </a:bodyPr>
          <a:lstStyle/>
          <a:p>
            <a:pPr algn="l">
              <a:lnSpc>
                <a:spcPts val="5599"/>
              </a:lnSpc>
            </a:pPr>
            <a:r>
              <a:rPr lang="en-US" sz="3999" b="true">
                <a:solidFill>
                  <a:srgbClr val="C7C2EF"/>
                </a:solidFill>
                <a:latin typeface="ITC Avant Garde Gothic Bold"/>
                <a:ea typeface="ITC Avant Garde Gothic Bold"/>
                <a:cs typeface="ITC Avant Garde Gothic Bold"/>
                <a:sym typeface="ITC Avant Garde Gothic Bold"/>
              </a:rPr>
              <a:t>Índice</a:t>
            </a:r>
          </a:p>
        </p:txBody>
      </p:sp>
      <p:sp>
        <p:nvSpPr>
          <p:cNvPr name="TextBox 5" id="5"/>
          <p:cNvSpPr txBox="true"/>
          <p:nvPr/>
        </p:nvSpPr>
        <p:spPr>
          <a:xfrm rot="0">
            <a:off x="9870311" y="2510120"/>
            <a:ext cx="979569" cy="6027420"/>
          </a:xfrm>
          <a:prstGeom prst="rect">
            <a:avLst/>
          </a:prstGeom>
        </p:spPr>
        <p:txBody>
          <a:bodyPr anchor="t" rtlCol="false" tIns="0" lIns="0" bIns="0" rIns="0">
            <a:spAutoFit/>
          </a:bodyPr>
          <a:lstStyle/>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01.</a:t>
            </a:r>
          </a:p>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02.</a:t>
            </a:r>
          </a:p>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03.</a:t>
            </a:r>
          </a:p>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04.</a:t>
            </a:r>
          </a:p>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05.</a:t>
            </a:r>
          </a:p>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06.</a:t>
            </a:r>
          </a:p>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07.</a:t>
            </a:r>
          </a:p>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08.</a:t>
            </a:r>
          </a:p>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09</a:t>
            </a:r>
          </a:p>
          <a:p>
            <a:pPr algn="r" marL="0" indent="0" lvl="0">
              <a:lnSpc>
                <a:spcPts val="4740"/>
              </a:lnSpc>
              <a:spcBef>
                <a:spcPct val="0"/>
              </a:spcBef>
            </a:pPr>
            <a:r>
              <a:rPr lang="en-US" b="true" sz="3000" strike="noStrike" u="none">
                <a:solidFill>
                  <a:srgbClr val="FFC857"/>
                </a:solidFill>
                <a:latin typeface="ITC Avant Garde Gothic Bold"/>
                <a:ea typeface="ITC Avant Garde Gothic Bold"/>
                <a:cs typeface="ITC Avant Garde Gothic Bold"/>
                <a:sym typeface="ITC Avant Garde Gothic Bold"/>
              </a:rPr>
              <a:t>10.</a:t>
            </a:r>
          </a:p>
        </p:txBody>
      </p:sp>
      <p:sp>
        <p:nvSpPr>
          <p:cNvPr name="Freeform 6" id="6"/>
          <p:cNvSpPr/>
          <p:nvPr/>
        </p:nvSpPr>
        <p:spPr>
          <a:xfrm flipH="false" flipV="false" rot="-8100000">
            <a:off x="14258345" y="6537780"/>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1206261" y="2510120"/>
            <a:ext cx="5495078" cy="6027420"/>
          </a:xfrm>
          <a:prstGeom prst="rect">
            <a:avLst/>
          </a:prstGeom>
        </p:spPr>
        <p:txBody>
          <a:bodyPr anchor="t" rtlCol="false" tIns="0" lIns="0" bIns="0" rIns="0">
            <a:spAutoFit/>
          </a:bodyPr>
          <a:lstStyle/>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Introducción</a:t>
            </a:r>
          </a:p>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Qué es IA Generativa</a:t>
            </a:r>
          </a:p>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Historia de la IA</a:t>
            </a:r>
          </a:p>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Diferencias IA </a:t>
            </a:r>
          </a:p>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Por qué Python</a:t>
            </a:r>
          </a:p>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Puntos Clave</a:t>
            </a:r>
          </a:p>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Librerías y herramientas</a:t>
            </a:r>
          </a:p>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Fases de desarrollo P1</a:t>
            </a:r>
          </a:p>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Fases de desarrollo P2</a:t>
            </a:r>
          </a:p>
          <a:p>
            <a:pPr algn="l" marL="0" indent="0" lvl="0">
              <a:lnSpc>
                <a:spcPts val="4740"/>
              </a:lnSpc>
              <a:spcBef>
                <a:spcPct val="0"/>
              </a:spcBef>
            </a:pPr>
            <a:r>
              <a:rPr lang="en-US" sz="3000" strike="noStrike" u="none">
                <a:solidFill>
                  <a:srgbClr val="C7C2EF"/>
                </a:solidFill>
                <a:latin typeface="ITC Avant Garde Gothic"/>
                <a:ea typeface="ITC Avant Garde Gothic"/>
                <a:cs typeface="ITC Avant Garde Gothic"/>
                <a:sym typeface="ITC Avant Garde Gothic"/>
              </a:rPr>
              <a:t>Ejemplos de IA Generativa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sp>
        <p:nvSpPr>
          <p:cNvPr name="Freeform 2" id="2"/>
          <p:cNvSpPr/>
          <p:nvPr/>
        </p:nvSpPr>
        <p:spPr>
          <a:xfrm flipH="false" flipV="false" rot="0">
            <a:off x="13530688" y="-423594"/>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58003">
            <a:off x="-528994" y="5799927"/>
            <a:ext cx="5206615" cy="5011367"/>
          </a:xfrm>
          <a:custGeom>
            <a:avLst/>
            <a:gdLst/>
            <a:ahLst/>
            <a:cxnLst/>
            <a:rect r="r" b="b" t="t" l="l"/>
            <a:pathLst>
              <a:path h="5011367" w="5206615">
                <a:moveTo>
                  <a:pt x="0" y="0"/>
                </a:moveTo>
                <a:lnTo>
                  <a:pt x="5206614" y="0"/>
                </a:lnTo>
                <a:lnTo>
                  <a:pt x="5206614"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4159443" y="2333814"/>
            <a:ext cx="9969115" cy="5971797"/>
            <a:chOff x="0" y="0"/>
            <a:chExt cx="2625610" cy="1572819"/>
          </a:xfrm>
        </p:grpSpPr>
        <p:sp>
          <p:nvSpPr>
            <p:cNvPr name="Freeform 5" id="5"/>
            <p:cNvSpPr/>
            <p:nvPr/>
          </p:nvSpPr>
          <p:spPr>
            <a:xfrm flipH="false" flipV="false" rot="0">
              <a:off x="0" y="0"/>
              <a:ext cx="2625610" cy="1572819"/>
            </a:xfrm>
            <a:custGeom>
              <a:avLst/>
              <a:gdLst/>
              <a:ahLst/>
              <a:cxnLst/>
              <a:rect r="r" b="b" t="t" l="l"/>
              <a:pathLst>
                <a:path h="1572819" w="2625610">
                  <a:moveTo>
                    <a:pt x="39606" y="0"/>
                  </a:moveTo>
                  <a:lnTo>
                    <a:pt x="2586004" y="0"/>
                  </a:lnTo>
                  <a:cubicBezTo>
                    <a:pt x="2596509" y="0"/>
                    <a:pt x="2606583" y="4173"/>
                    <a:pt x="2614010" y="11600"/>
                  </a:cubicBezTo>
                  <a:cubicBezTo>
                    <a:pt x="2621438" y="19028"/>
                    <a:pt x="2625610" y="29102"/>
                    <a:pt x="2625610" y="39606"/>
                  </a:cubicBezTo>
                  <a:lnTo>
                    <a:pt x="2625610" y="1533213"/>
                  </a:lnTo>
                  <a:cubicBezTo>
                    <a:pt x="2625610" y="1543717"/>
                    <a:pt x="2621438" y="1553791"/>
                    <a:pt x="2614010" y="1561218"/>
                  </a:cubicBezTo>
                  <a:cubicBezTo>
                    <a:pt x="2606583" y="1568646"/>
                    <a:pt x="2596509" y="1572819"/>
                    <a:pt x="2586004" y="1572819"/>
                  </a:cubicBezTo>
                  <a:lnTo>
                    <a:pt x="39606" y="1572819"/>
                  </a:lnTo>
                  <a:cubicBezTo>
                    <a:pt x="29102" y="1572819"/>
                    <a:pt x="19028" y="1568646"/>
                    <a:pt x="11600" y="1561218"/>
                  </a:cubicBezTo>
                  <a:cubicBezTo>
                    <a:pt x="4173" y="1553791"/>
                    <a:pt x="0" y="1543717"/>
                    <a:pt x="0" y="1533213"/>
                  </a:cubicBezTo>
                  <a:lnTo>
                    <a:pt x="0" y="39606"/>
                  </a:lnTo>
                  <a:cubicBezTo>
                    <a:pt x="0" y="29102"/>
                    <a:pt x="4173" y="19028"/>
                    <a:pt x="11600" y="11600"/>
                  </a:cubicBezTo>
                  <a:cubicBezTo>
                    <a:pt x="19028" y="4173"/>
                    <a:pt x="29102" y="0"/>
                    <a:pt x="39606" y="0"/>
                  </a:cubicBezTo>
                  <a:close/>
                </a:path>
              </a:pathLst>
            </a:custGeom>
            <a:solidFill>
              <a:srgbClr val="1A0E79"/>
            </a:solidFill>
            <a:ln w="38100" cap="rnd">
              <a:solidFill>
                <a:srgbClr val="FFC857"/>
              </a:solidFill>
              <a:prstDash val="solid"/>
              <a:round/>
            </a:ln>
          </p:spPr>
        </p:sp>
        <p:sp>
          <p:nvSpPr>
            <p:cNvPr name="TextBox 6" id="6"/>
            <p:cNvSpPr txBox="true"/>
            <p:nvPr/>
          </p:nvSpPr>
          <p:spPr>
            <a:xfrm>
              <a:off x="0" y="-57150"/>
              <a:ext cx="2625610" cy="1629969"/>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7" id="7"/>
          <p:cNvGrpSpPr/>
          <p:nvPr/>
        </p:nvGrpSpPr>
        <p:grpSpPr>
          <a:xfrm rot="0">
            <a:off x="5536636" y="3031775"/>
            <a:ext cx="7214727" cy="4928300"/>
            <a:chOff x="0" y="0"/>
            <a:chExt cx="9619636" cy="6571066"/>
          </a:xfrm>
        </p:grpSpPr>
        <p:sp>
          <p:nvSpPr>
            <p:cNvPr name="TextBox 8" id="8"/>
            <p:cNvSpPr txBox="true"/>
            <p:nvPr/>
          </p:nvSpPr>
          <p:spPr>
            <a:xfrm rot="0">
              <a:off x="0" y="1384175"/>
              <a:ext cx="9619636" cy="5186892"/>
            </a:xfrm>
            <a:prstGeom prst="rect">
              <a:avLst/>
            </a:prstGeom>
          </p:spPr>
          <p:txBody>
            <a:bodyPr anchor="t" rtlCol="false" tIns="0" lIns="0" bIns="0" rIns="0">
              <a:spAutoFit/>
            </a:bodyPr>
            <a:lstStyle/>
            <a:p>
              <a:pPr algn="ctr">
                <a:lnSpc>
                  <a:spcPts val="2800"/>
                </a:lnSpc>
              </a:pPr>
              <a:r>
                <a:rPr lang="en-US" sz="2000" spc="154">
                  <a:solidFill>
                    <a:srgbClr val="C7C2EF"/>
                  </a:solidFill>
                  <a:latin typeface="ITC Avant Garde Gothic"/>
                  <a:ea typeface="ITC Avant Garde Gothic"/>
                  <a:cs typeface="ITC Avant Garde Gothic"/>
                  <a:sym typeface="ITC Avant Garde Gothic"/>
                </a:rPr>
                <a:t>La inteligencia artificial generativa representa un cambio de paradigma tecnológico, pasando de sistemas que analizan y clasifican información a herramientas capaces de crear contenido original y sofisticado a partir de patrones complejos. Respaldada por arquitecturas como los Transformers y modelos avanzados impulsados por empresas líderes a nivel global, esta tecnología transforma industrias enteras al democratizar la producción multimedia, la programación y la resolución creativa de problemas.</a:t>
              </a:r>
            </a:p>
          </p:txBody>
        </p:sp>
        <p:sp>
          <p:nvSpPr>
            <p:cNvPr name="TextBox 9" id="9"/>
            <p:cNvSpPr txBox="true"/>
            <p:nvPr/>
          </p:nvSpPr>
          <p:spPr>
            <a:xfrm rot="0">
              <a:off x="0" y="-152400"/>
              <a:ext cx="9619636" cy="956733"/>
            </a:xfrm>
            <a:prstGeom prst="rect">
              <a:avLst/>
            </a:prstGeom>
          </p:spPr>
          <p:txBody>
            <a:bodyPr anchor="t" rtlCol="false" tIns="0" lIns="0" bIns="0" rIns="0">
              <a:spAutoFit/>
            </a:bodyPr>
            <a:lstStyle/>
            <a:p>
              <a:pPr algn="ctr">
                <a:lnSpc>
                  <a:spcPts val="5599"/>
                </a:lnSpc>
              </a:pPr>
              <a:r>
                <a:rPr lang="en-US" b="true" sz="3999">
                  <a:solidFill>
                    <a:srgbClr val="C7C2EF"/>
                  </a:solidFill>
                  <a:latin typeface="ITC Avant Garde Gothic Bold"/>
                  <a:ea typeface="ITC Avant Garde Gothic Bold"/>
                  <a:cs typeface="ITC Avant Garde Gothic Bold"/>
                  <a:sym typeface="ITC Avant Garde Gothic Bold"/>
                </a:rPr>
                <a:t>INTRODUCCIÓN</a:t>
              </a:r>
            </a:p>
          </p:txBody>
        </p:sp>
      </p:grpSp>
      <p:sp>
        <p:nvSpPr>
          <p:cNvPr name="Freeform 10" id="10"/>
          <p:cNvSpPr/>
          <p:nvPr/>
        </p:nvSpPr>
        <p:spPr>
          <a:xfrm flipH="false" flipV="false" rot="0">
            <a:off x="13901750" y="5839686"/>
            <a:ext cx="4746771" cy="4746771"/>
          </a:xfrm>
          <a:custGeom>
            <a:avLst/>
            <a:gdLst/>
            <a:ahLst/>
            <a:cxnLst/>
            <a:rect r="r" b="b" t="t" l="l"/>
            <a:pathLst>
              <a:path h="4746771" w="4746771">
                <a:moveTo>
                  <a:pt x="0" y="0"/>
                </a:moveTo>
                <a:lnTo>
                  <a:pt x="4746770" y="0"/>
                </a:lnTo>
                <a:lnTo>
                  <a:pt x="4746770" y="4746770"/>
                </a:lnTo>
                <a:lnTo>
                  <a:pt x="0" y="47467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19617" y="-423594"/>
            <a:ext cx="4927334" cy="4927334"/>
          </a:xfrm>
          <a:custGeom>
            <a:avLst/>
            <a:gdLst/>
            <a:ahLst/>
            <a:cxnLst/>
            <a:rect r="r" b="b" t="t" l="l"/>
            <a:pathLst>
              <a:path h="4927334" w="4927334">
                <a:moveTo>
                  <a:pt x="0" y="0"/>
                </a:moveTo>
                <a:lnTo>
                  <a:pt x="4927334" y="0"/>
                </a:lnTo>
                <a:lnTo>
                  <a:pt x="4927334" y="4927334"/>
                </a:lnTo>
                <a:lnTo>
                  <a:pt x="0" y="49273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sp>
        <p:nvSpPr>
          <p:cNvPr name="Freeform 2" id="2"/>
          <p:cNvSpPr/>
          <p:nvPr/>
        </p:nvSpPr>
        <p:spPr>
          <a:xfrm flipH="false" flipV="false" rot="-4657228">
            <a:off x="7651713" y="-722494"/>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243975">
            <a:off x="-1025852" y="6096007"/>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750139" y="1685310"/>
            <a:ext cx="7393861" cy="6706830"/>
            <a:chOff x="0" y="0"/>
            <a:chExt cx="9858482" cy="8942441"/>
          </a:xfrm>
        </p:grpSpPr>
        <p:grpSp>
          <p:nvGrpSpPr>
            <p:cNvPr name="Group 5" id="5"/>
            <p:cNvGrpSpPr/>
            <p:nvPr/>
          </p:nvGrpSpPr>
          <p:grpSpPr>
            <a:xfrm rot="0">
              <a:off x="0" y="0"/>
              <a:ext cx="9858482" cy="8942441"/>
              <a:chOff x="0" y="0"/>
              <a:chExt cx="1947354" cy="1766408"/>
            </a:xfrm>
          </p:grpSpPr>
          <p:sp>
            <p:nvSpPr>
              <p:cNvPr name="Freeform 6" id="6"/>
              <p:cNvSpPr/>
              <p:nvPr/>
            </p:nvSpPr>
            <p:spPr>
              <a:xfrm flipH="false" flipV="false" rot="0">
                <a:off x="0" y="0"/>
                <a:ext cx="1947354" cy="1766408"/>
              </a:xfrm>
              <a:custGeom>
                <a:avLst/>
                <a:gdLst/>
                <a:ahLst/>
                <a:cxnLst/>
                <a:rect r="r" b="b" t="t" l="l"/>
                <a:pathLst>
                  <a:path h="1766408" w="1947354">
                    <a:moveTo>
                      <a:pt x="53401" y="0"/>
                    </a:moveTo>
                    <a:lnTo>
                      <a:pt x="1893954" y="0"/>
                    </a:lnTo>
                    <a:cubicBezTo>
                      <a:pt x="1908116" y="0"/>
                      <a:pt x="1921699" y="5626"/>
                      <a:pt x="1931714" y="15641"/>
                    </a:cubicBezTo>
                    <a:cubicBezTo>
                      <a:pt x="1941728" y="25655"/>
                      <a:pt x="1947354" y="39238"/>
                      <a:pt x="1947354" y="53401"/>
                    </a:cubicBezTo>
                    <a:lnTo>
                      <a:pt x="1947354" y="1713007"/>
                    </a:lnTo>
                    <a:cubicBezTo>
                      <a:pt x="1947354" y="1727170"/>
                      <a:pt x="1941728" y="1740753"/>
                      <a:pt x="1931714" y="1750767"/>
                    </a:cubicBezTo>
                    <a:cubicBezTo>
                      <a:pt x="1921699" y="1760782"/>
                      <a:pt x="1908116" y="1766408"/>
                      <a:pt x="1893954" y="1766408"/>
                    </a:cubicBezTo>
                    <a:lnTo>
                      <a:pt x="53401" y="1766408"/>
                    </a:lnTo>
                    <a:cubicBezTo>
                      <a:pt x="23908" y="1766408"/>
                      <a:pt x="0" y="1742500"/>
                      <a:pt x="0" y="1713007"/>
                    </a:cubicBezTo>
                    <a:lnTo>
                      <a:pt x="0" y="53401"/>
                    </a:lnTo>
                    <a:cubicBezTo>
                      <a:pt x="0" y="39238"/>
                      <a:pt x="5626" y="25655"/>
                      <a:pt x="15641" y="15641"/>
                    </a:cubicBezTo>
                    <a:cubicBezTo>
                      <a:pt x="25655" y="5626"/>
                      <a:pt x="39238" y="0"/>
                      <a:pt x="53401" y="0"/>
                    </a:cubicBezTo>
                    <a:close/>
                  </a:path>
                </a:pathLst>
              </a:custGeom>
              <a:solidFill>
                <a:srgbClr val="1A0E79"/>
              </a:solidFill>
              <a:ln w="38100" cap="rnd">
                <a:solidFill>
                  <a:srgbClr val="FFC857"/>
                </a:solidFill>
                <a:prstDash val="solid"/>
                <a:round/>
              </a:ln>
            </p:spPr>
          </p:sp>
          <p:sp>
            <p:nvSpPr>
              <p:cNvPr name="TextBox 7" id="7"/>
              <p:cNvSpPr txBox="true"/>
              <p:nvPr/>
            </p:nvSpPr>
            <p:spPr>
              <a:xfrm>
                <a:off x="0" y="-9525"/>
                <a:ext cx="1947354" cy="1775933"/>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8" id="8"/>
            <p:cNvSpPr txBox="true"/>
            <p:nvPr/>
          </p:nvSpPr>
          <p:spPr>
            <a:xfrm rot="0">
              <a:off x="1160256" y="3193159"/>
              <a:ext cx="7842031" cy="4591050"/>
            </a:xfrm>
            <a:prstGeom prst="rect">
              <a:avLst/>
            </a:prstGeom>
          </p:spPr>
          <p:txBody>
            <a:bodyPr anchor="t" rtlCol="false" tIns="0" lIns="0" bIns="0" rIns="0">
              <a:spAutoFit/>
            </a:bodyPr>
            <a:lstStyle/>
            <a:p>
              <a:pPr algn="l">
                <a:lnSpc>
                  <a:spcPts val="3449"/>
                </a:lnSpc>
              </a:pPr>
              <a:r>
                <a:rPr lang="en-US" sz="2499">
                  <a:solidFill>
                    <a:srgbClr val="C7C2EF"/>
                  </a:solidFill>
                  <a:latin typeface="ITC Avant Garde Gothic"/>
                  <a:ea typeface="ITC Avant Garde Gothic"/>
                  <a:cs typeface="ITC Avant Garde Gothic"/>
                  <a:sym typeface="ITC Avant Garde Gothic"/>
                </a:rPr>
                <a:t>La IA generativa es una rama de la inteligencia artificial centrada en el desarrollo de modelos capaces de producir contenido totalmente nuevo y original (como texto, imágenes, código, audio o video) a partir de los patrones aprendidos en vastos conjuntos de datos previos.</a:t>
              </a:r>
            </a:p>
          </p:txBody>
        </p:sp>
        <p:sp>
          <p:nvSpPr>
            <p:cNvPr name="TextBox 9" id="9"/>
            <p:cNvSpPr txBox="true"/>
            <p:nvPr/>
          </p:nvSpPr>
          <p:spPr>
            <a:xfrm rot="0">
              <a:off x="1160256" y="1043932"/>
              <a:ext cx="7069536" cy="1780540"/>
            </a:xfrm>
            <a:prstGeom prst="rect">
              <a:avLst/>
            </a:prstGeom>
          </p:spPr>
          <p:txBody>
            <a:bodyPr anchor="t" rtlCol="false" tIns="0" lIns="0" bIns="0" rIns="0">
              <a:spAutoFit/>
            </a:bodyPr>
            <a:lstStyle/>
            <a:p>
              <a:pPr algn="l">
                <a:lnSpc>
                  <a:spcPts val="5159"/>
                </a:lnSpc>
              </a:pPr>
              <a:r>
                <a:rPr lang="en-US" sz="3999" spc="235" b="true">
                  <a:solidFill>
                    <a:srgbClr val="C7C2EF"/>
                  </a:solidFill>
                  <a:latin typeface="ITC Avant Garde Gothic Bold"/>
                  <a:ea typeface="ITC Avant Garde Gothic Bold"/>
                  <a:cs typeface="ITC Avant Garde Gothic Bold"/>
                  <a:sym typeface="ITC Avant Garde Gothic Bold"/>
                </a:rPr>
                <a:t>¿Qué es IA generativa?</a:t>
              </a:r>
            </a:p>
          </p:txBody>
        </p:sp>
      </p:grpSp>
      <p:sp>
        <p:nvSpPr>
          <p:cNvPr name="Freeform 10" id="10"/>
          <p:cNvSpPr/>
          <p:nvPr/>
        </p:nvSpPr>
        <p:spPr>
          <a:xfrm flipH="false" flipV="false" rot="0">
            <a:off x="10004191" y="1363878"/>
            <a:ext cx="7559244" cy="7559244"/>
          </a:xfrm>
          <a:custGeom>
            <a:avLst/>
            <a:gdLst/>
            <a:ahLst/>
            <a:cxnLst/>
            <a:rect r="r" b="b" t="t" l="l"/>
            <a:pathLst>
              <a:path h="7559244" w="7559244">
                <a:moveTo>
                  <a:pt x="0" y="0"/>
                </a:moveTo>
                <a:lnTo>
                  <a:pt x="7559244" y="0"/>
                </a:lnTo>
                <a:lnTo>
                  <a:pt x="7559244" y="7559244"/>
                </a:lnTo>
                <a:lnTo>
                  <a:pt x="0" y="75592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grpSp>
        <p:nvGrpSpPr>
          <p:cNvPr name="Group 2" id="2"/>
          <p:cNvGrpSpPr/>
          <p:nvPr/>
        </p:nvGrpSpPr>
        <p:grpSpPr>
          <a:xfrm rot="0">
            <a:off x="1110761" y="5997000"/>
            <a:ext cx="3106383" cy="909381"/>
            <a:chOff x="0" y="0"/>
            <a:chExt cx="1388235" cy="406400"/>
          </a:xfrm>
        </p:grpSpPr>
        <p:sp>
          <p:nvSpPr>
            <p:cNvPr name="Freeform 3" id="3"/>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C7C2EF"/>
            </a:solidFill>
          </p:spPr>
        </p:sp>
        <p:sp>
          <p:nvSpPr>
            <p:cNvPr name="TextBox 4" id="4"/>
            <p:cNvSpPr txBox="true"/>
            <p:nvPr/>
          </p:nvSpPr>
          <p:spPr>
            <a:xfrm>
              <a:off x="0" y="-123825"/>
              <a:ext cx="1193014" cy="530225"/>
            </a:xfrm>
            <a:prstGeom prst="rect">
              <a:avLst/>
            </a:prstGeom>
          </p:spPr>
          <p:txBody>
            <a:bodyPr anchor="ctr" rtlCol="false" tIns="50800" lIns="50800" bIns="50800" rIns="50800"/>
            <a:lstStyle/>
            <a:p>
              <a:pPr algn="ctr">
                <a:lnSpc>
                  <a:spcPts val="4480"/>
                </a:lnSpc>
              </a:pPr>
              <a:r>
                <a:rPr lang="en-US" b="true" sz="3200">
                  <a:solidFill>
                    <a:srgbClr val="1A0E79"/>
                  </a:solidFill>
                  <a:latin typeface="ITC Avant Garde Gothic Bold"/>
                  <a:ea typeface="ITC Avant Garde Gothic Bold"/>
                  <a:cs typeface="ITC Avant Garde Gothic Bold"/>
                  <a:sym typeface="ITC Avant Garde Gothic Bold"/>
                </a:rPr>
                <a:t>1950 - 1956</a:t>
              </a:r>
            </a:p>
          </p:txBody>
        </p:sp>
      </p:grpSp>
      <p:grpSp>
        <p:nvGrpSpPr>
          <p:cNvPr name="Group 5" id="5"/>
          <p:cNvGrpSpPr/>
          <p:nvPr/>
        </p:nvGrpSpPr>
        <p:grpSpPr>
          <a:xfrm rot="0">
            <a:off x="4338482" y="5997000"/>
            <a:ext cx="3106383" cy="909381"/>
            <a:chOff x="0" y="0"/>
            <a:chExt cx="1388235" cy="406400"/>
          </a:xfrm>
        </p:grpSpPr>
        <p:sp>
          <p:nvSpPr>
            <p:cNvPr name="Freeform 6" id="6"/>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FFC857"/>
            </a:solidFill>
          </p:spPr>
        </p:sp>
        <p:sp>
          <p:nvSpPr>
            <p:cNvPr name="TextBox 7" id="7"/>
            <p:cNvSpPr txBox="true"/>
            <p:nvPr/>
          </p:nvSpPr>
          <p:spPr>
            <a:xfrm>
              <a:off x="0" y="-123825"/>
              <a:ext cx="1193014" cy="530225"/>
            </a:xfrm>
            <a:prstGeom prst="rect">
              <a:avLst/>
            </a:prstGeom>
          </p:spPr>
          <p:txBody>
            <a:bodyPr anchor="ctr" rtlCol="false" tIns="50800" lIns="50800" bIns="50800" rIns="50800"/>
            <a:lstStyle/>
            <a:p>
              <a:pPr algn="ctr">
                <a:lnSpc>
                  <a:spcPts val="4480"/>
                </a:lnSpc>
              </a:pPr>
              <a:r>
                <a:rPr lang="en-US" b="true" sz="3200">
                  <a:solidFill>
                    <a:srgbClr val="1A0E79"/>
                  </a:solidFill>
                  <a:latin typeface="ITC Avant Garde Gothic Bold"/>
                  <a:ea typeface="ITC Avant Garde Gothic Bold"/>
                  <a:cs typeface="ITC Avant Garde Gothic Bold"/>
                  <a:sym typeface="ITC Avant Garde Gothic Bold"/>
                </a:rPr>
                <a:t>1957-1980</a:t>
              </a:r>
            </a:p>
          </p:txBody>
        </p:sp>
      </p:grpSp>
      <p:grpSp>
        <p:nvGrpSpPr>
          <p:cNvPr name="Group 8" id="8"/>
          <p:cNvGrpSpPr/>
          <p:nvPr/>
        </p:nvGrpSpPr>
        <p:grpSpPr>
          <a:xfrm rot="0">
            <a:off x="7590808" y="5997000"/>
            <a:ext cx="3106383" cy="909381"/>
            <a:chOff x="0" y="0"/>
            <a:chExt cx="1388235" cy="406400"/>
          </a:xfrm>
        </p:grpSpPr>
        <p:sp>
          <p:nvSpPr>
            <p:cNvPr name="Freeform 9" id="9"/>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C7C2EF"/>
            </a:solidFill>
          </p:spPr>
        </p:sp>
        <p:sp>
          <p:nvSpPr>
            <p:cNvPr name="TextBox 10" id="10"/>
            <p:cNvSpPr txBox="true"/>
            <p:nvPr/>
          </p:nvSpPr>
          <p:spPr>
            <a:xfrm>
              <a:off x="0" y="-123825"/>
              <a:ext cx="1193014" cy="530225"/>
            </a:xfrm>
            <a:prstGeom prst="rect">
              <a:avLst/>
            </a:prstGeom>
          </p:spPr>
          <p:txBody>
            <a:bodyPr anchor="ctr" rtlCol="false" tIns="50800" lIns="50800" bIns="50800" rIns="50800"/>
            <a:lstStyle/>
            <a:p>
              <a:pPr algn="ctr">
                <a:lnSpc>
                  <a:spcPts val="4480"/>
                </a:lnSpc>
              </a:pPr>
              <a:r>
                <a:rPr lang="en-US" b="true" sz="3200">
                  <a:solidFill>
                    <a:srgbClr val="1A0E79"/>
                  </a:solidFill>
                  <a:latin typeface="ITC Avant Garde Gothic Bold"/>
                  <a:ea typeface="ITC Avant Garde Gothic Bold"/>
                  <a:cs typeface="ITC Avant Garde Gothic Bold"/>
                  <a:sym typeface="ITC Avant Garde Gothic Bold"/>
                </a:rPr>
                <a:t>1997-2012</a:t>
              </a:r>
            </a:p>
          </p:txBody>
        </p:sp>
      </p:grpSp>
      <p:grpSp>
        <p:nvGrpSpPr>
          <p:cNvPr name="Group 11" id="11"/>
          <p:cNvGrpSpPr/>
          <p:nvPr/>
        </p:nvGrpSpPr>
        <p:grpSpPr>
          <a:xfrm rot="0">
            <a:off x="10840067" y="5997000"/>
            <a:ext cx="3106383" cy="909381"/>
            <a:chOff x="0" y="0"/>
            <a:chExt cx="1388235" cy="406400"/>
          </a:xfrm>
        </p:grpSpPr>
        <p:sp>
          <p:nvSpPr>
            <p:cNvPr name="Freeform 12" id="12"/>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FFC857"/>
            </a:solidFill>
          </p:spPr>
        </p:sp>
        <p:sp>
          <p:nvSpPr>
            <p:cNvPr name="TextBox 13" id="13"/>
            <p:cNvSpPr txBox="true"/>
            <p:nvPr/>
          </p:nvSpPr>
          <p:spPr>
            <a:xfrm>
              <a:off x="0" y="-123825"/>
              <a:ext cx="1193014" cy="530225"/>
            </a:xfrm>
            <a:prstGeom prst="rect">
              <a:avLst/>
            </a:prstGeom>
          </p:spPr>
          <p:txBody>
            <a:bodyPr anchor="ctr" rtlCol="false" tIns="50800" lIns="50800" bIns="50800" rIns="50800"/>
            <a:lstStyle/>
            <a:p>
              <a:pPr algn="ctr">
                <a:lnSpc>
                  <a:spcPts val="4480"/>
                </a:lnSpc>
              </a:pPr>
              <a:r>
                <a:rPr lang="en-US" b="true" sz="3200">
                  <a:solidFill>
                    <a:srgbClr val="1A0E79"/>
                  </a:solidFill>
                  <a:latin typeface="ITC Avant Garde Gothic Bold"/>
                  <a:ea typeface="ITC Avant Garde Gothic Bold"/>
                  <a:cs typeface="ITC Avant Garde Gothic Bold"/>
                  <a:sym typeface="ITC Avant Garde Gothic Bold"/>
                </a:rPr>
                <a:t>2014</a:t>
              </a:r>
            </a:p>
          </p:txBody>
        </p:sp>
      </p:grpSp>
      <p:grpSp>
        <p:nvGrpSpPr>
          <p:cNvPr name="Group 14" id="14"/>
          <p:cNvGrpSpPr/>
          <p:nvPr/>
        </p:nvGrpSpPr>
        <p:grpSpPr>
          <a:xfrm rot="0">
            <a:off x="14089325" y="5997000"/>
            <a:ext cx="3106383" cy="909381"/>
            <a:chOff x="0" y="0"/>
            <a:chExt cx="1388235" cy="406400"/>
          </a:xfrm>
        </p:grpSpPr>
        <p:sp>
          <p:nvSpPr>
            <p:cNvPr name="Freeform 15" id="15"/>
            <p:cNvSpPr/>
            <p:nvPr/>
          </p:nvSpPr>
          <p:spPr>
            <a:xfrm flipH="false" flipV="false" rot="0">
              <a:off x="0" y="0"/>
              <a:ext cx="1388235" cy="406400"/>
            </a:xfrm>
            <a:custGeom>
              <a:avLst/>
              <a:gdLst/>
              <a:ahLst/>
              <a:cxnLst/>
              <a:rect r="r" b="b" t="t" l="l"/>
              <a:pathLst>
                <a:path h="406400" w="1388235">
                  <a:moveTo>
                    <a:pt x="1041176" y="0"/>
                  </a:moveTo>
                  <a:lnTo>
                    <a:pt x="0" y="0"/>
                  </a:lnTo>
                  <a:lnTo>
                    <a:pt x="0" y="406400"/>
                  </a:lnTo>
                  <a:lnTo>
                    <a:pt x="1041176" y="406400"/>
                  </a:lnTo>
                  <a:lnTo>
                    <a:pt x="1388235" y="203200"/>
                  </a:lnTo>
                  <a:lnTo>
                    <a:pt x="1041176" y="0"/>
                  </a:lnTo>
                  <a:close/>
                </a:path>
              </a:pathLst>
            </a:custGeom>
            <a:solidFill>
              <a:srgbClr val="C7C2EF"/>
            </a:solidFill>
          </p:spPr>
        </p:sp>
        <p:sp>
          <p:nvSpPr>
            <p:cNvPr name="TextBox 16" id="16"/>
            <p:cNvSpPr txBox="true"/>
            <p:nvPr/>
          </p:nvSpPr>
          <p:spPr>
            <a:xfrm>
              <a:off x="0" y="-123825"/>
              <a:ext cx="1193014" cy="530225"/>
            </a:xfrm>
            <a:prstGeom prst="rect">
              <a:avLst/>
            </a:prstGeom>
          </p:spPr>
          <p:txBody>
            <a:bodyPr anchor="ctr" rtlCol="false" tIns="50800" lIns="50800" bIns="50800" rIns="50800"/>
            <a:lstStyle/>
            <a:p>
              <a:pPr algn="ctr">
                <a:lnSpc>
                  <a:spcPts val="4480"/>
                </a:lnSpc>
              </a:pPr>
              <a:r>
                <a:rPr lang="en-US" b="true" sz="3200">
                  <a:solidFill>
                    <a:srgbClr val="1A0E79"/>
                  </a:solidFill>
                  <a:latin typeface="ITC Avant Garde Gothic Bold"/>
                  <a:ea typeface="ITC Avant Garde Gothic Bold"/>
                  <a:cs typeface="ITC Avant Garde Gothic Bold"/>
                  <a:sym typeface="ITC Avant Garde Gothic Bold"/>
                </a:rPr>
                <a:t>2017-2020</a:t>
              </a:r>
            </a:p>
          </p:txBody>
        </p:sp>
      </p:grpSp>
      <p:sp>
        <p:nvSpPr>
          <p:cNvPr name="Freeform 17" id="17"/>
          <p:cNvSpPr/>
          <p:nvPr/>
        </p:nvSpPr>
        <p:spPr>
          <a:xfrm flipH="false" flipV="false" rot="0">
            <a:off x="12062413" y="-975079"/>
            <a:ext cx="3768075" cy="3626772"/>
          </a:xfrm>
          <a:custGeom>
            <a:avLst/>
            <a:gdLst/>
            <a:ahLst/>
            <a:cxnLst/>
            <a:rect r="r" b="b" t="t" l="l"/>
            <a:pathLst>
              <a:path h="3626772" w="3768075">
                <a:moveTo>
                  <a:pt x="0" y="0"/>
                </a:moveTo>
                <a:lnTo>
                  <a:pt x="3768075" y="0"/>
                </a:lnTo>
                <a:lnTo>
                  <a:pt x="3768075" y="3626772"/>
                </a:lnTo>
                <a:lnTo>
                  <a:pt x="0" y="36267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1834522">
            <a:off x="15526879" y="-3591"/>
            <a:ext cx="2918473" cy="2918473"/>
          </a:xfrm>
          <a:custGeom>
            <a:avLst/>
            <a:gdLst/>
            <a:ahLst/>
            <a:cxnLst/>
            <a:rect r="r" b="b" t="t" l="l"/>
            <a:pathLst>
              <a:path h="2918473" w="2918473">
                <a:moveTo>
                  <a:pt x="0" y="0"/>
                </a:moveTo>
                <a:lnTo>
                  <a:pt x="2918473" y="0"/>
                </a:lnTo>
                <a:lnTo>
                  <a:pt x="2918473" y="2918473"/>
                </a:lnTo>
                <a:lnTo>
                  <a:pt x="0" y="29184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9" id="19"/>
          <p:cNvGrpSpPr/>
          <p:nvPr/>
        </p:nvGrpSpPr>
        <p:grpSpPr>
          <a:xfrm rot="0">
            <a:off x="1119893" y="3544360"/>
            <a:ext cx="3097251" cy="2404093"/>
            <a:chOff x="0" y="0"/>
            <a:chExt cx="4129669" cy="3205457"/>
          </a:xfrm>
        </p:grpSpPr>
        <p:sp>
          <p:nvSpPr>
            <p:cNvPr name="TextBox 20" id="20"/>
            <p:cNvSpPr txBox="true"/>
            <p:nvPr/>
          </p:nvSpPr>
          <p:spPr>
            <a:xfrm rot="0">
              <a:off x="0" y="-38100"/>
              <a:ext cx="3836054" cy="972820"/>
            </a:xfrm>
            <a:prstGeom prst="rect">
              <a:avLst/>
            </a:prstGeom>
          </p:spPr>
          <p:txBody>
            <a:bodyPr anchor="t" rtlCol="false" tIns="0" lIns="0" bIns="0" rIns="0">
              <a:spAutoFit/>
            </a:bodyPr>
            <a:lstStyle/>
            <a:p>
              <a:pPr algn="l" marL="0" indent="0" lvl="0">
                <a:lnSpc>
                  <a:spcPts val="2760"/>
                </a:lnSpc>
                <a:spcBef>
                  <a:spcPct val="0"/>
                </a:spcBef>
              </a:pPr>
              <a:r>
                <a:rPr lang="en-US" b="true" sz="2400">
                  <a:solidFill>
                    <a:srgbClr val="FFC857"/>
                  </a:solidFill>
                  <a:latin typeface="ITC Avant Garde Gothic Bold"/>
                  <a:ea typeface="ITC Avant Garde Gothic Bold"/>
                  <a:cs typeface="ITC Avant Garde Gothic Bold"/>
                  <a:sym typeface="ITC Avant Garde Gothic Bold"/>
                </a:rPr>
                <a:t>Orígenes y Test de Turing</a:t>
              </a:r>
            </a:p>
          </p:txBody>
        </p:sp>
        <p:sp>
          <p:nvSpPr>
            <p:cNvPr name="TextBox 21" id="21"/>
            <p:cNvSpPr txBox="true"/>
            <p:nvPr/>
          </p:nvSpPr>
          <p:spPr>
            <a:xfrm rot="0">
              <a:off x="0" y="1124816"/>
              <a:ext cx="4129669" cy="2080641"/>
            </a:xfrm>
            <a:prstGeom prst="rect">
              <a:avLst/>
            </a:prstGeom>
          </p:spPr>
          <p:txBody>
            <a:bodyPr anchor="t" rtlCol="false" tIns="0" lIns="0" bIns="0" rIns="0">
              <a:spAutoFit/>
            </a:bodyPr>
            <a:lstStyle/>
            <a:p>
              <a:pPr algn="l" marL="0" indent="0" lvl="0">
                <a:lnSpc>
                  <a:spcPts val="2063"/>
                </a:lnSpc>
                <a:spcBef>
                  <a:spcPct val="0"/>
                </a:spcBef>
              </a:pPr>
              <a:r>
                <a:rPr lang="en-US" sz="1599">
                  <a:solidFill>
                    <a:srgbClr val="C7C2EF"/>
                  </a:solidFill>
                  <a:latin typeface="ITC Avant Garde Gothic"/>
                  <a:ea typeface="ITC Avant Garde Gothic"/>
                  <a:cs typeface="ITC Avant Garde Gothic"/>
                  <a:sym typeface="ITC Avant Garde Gothic"/>
                </a:rPr>
                <a:t>Alan Turing publica su artículo fundacional proponiendo el juego de imitación para evaluar si una máquina puede exhibir un comportamiento indistinguible del humano</a:t>
              </a:r>
            </a:p>
          </p:txBody>
        </p:sp>
      </p:grpSp>
      <p:grpSp>
        <p:nvGrpSpPr>
          <p:cNvPr name="Group 22" id="22"/>
          <p:cNvGrpSpPr/>
          <p:nvPr/>
        </p:nvGrpSpPr>
        <p:grpSpPr>
          <a:xfrm rot="0">
            <a:off x="4347614" y="7263048"/>
            <a:ext cx="3927482" cy="2746993"/>
            <a:chOff x="0" y="0"/>
            <a:chExt cx="5236643" cy="3662657"/>
          </a:xfrm>
        </p:grpSpPr>
        <p:sp>
          <p:nvSpPr>
            <p:cNvPr name="TextBox 23" id="23"/>
            <p:cNvSpPr txBox="true"/>
            <p:nvPr/>
          </p:nvSpPr>
          <p:spPr>
            <a:xfrm rot="0">
              <a:off x="0" y="-38100"/>
              <a:ext cx="3836054" cy="1430020"/>
            </a:xfrm>
            <a:prstGeom prst="rect">
              <a:avLst/>
            </a:prstGeom>
          </p:spPr>
          <p:txBody>
            <a:bodyPr anchor="t" rtlCol="false" tIns="0" lIns="0" bIns="0" rIns="0">
              <a:spAutoFit/>
            </a:bodyPr>
            <a:lstStyle/>
            <a:p>
              <a:pPr algn="l" marL="0" indent="0" lvl="0">
                <a:lnSpc>
                  <a:spcPts val="2759"/>
                </a:lnSpc>
                <a:spcBef>
                  <a:spcPct val="0"/>
                </a:spcBef>
              </a:pPr>
              <a:r>
                <a:rPr lang="en-US" b="true" sz="2399">
                  <a:solidFill>
                    <a:srgbClr val="FFC857"/>
                  </a:solidFill>
                  <a:latin typeface="ITC Avant Garde Gothic Bold"/>
                  <a:ea typeface="ITC Avant Garde Gothic Bold"/>
                  <a:cs typeface="ITC Avant Garde Gothic Bold"/>
                  <a:sym typeface="ITC Avant Garde Gothic Bold"/>
                </a:rPr>
                <a:t>Las Bases del Aprendizaje y los Inviernos de la IA</a:t>
              </a:r>
            </a:p>
          </p:txBody>
        </p:sp>
        <p:sp>
          <p:nvSpPr>
            <p:cNvPr name="TextBox 24" id="24"/>
            <p:cNvSpPr txBox="true"/>
            <p:nvPr/>
          </p:nvSpPr>
          <p:spPr>
            <a:xfrm rot="0">
              <a:off x="0" y="1582016"/>
              <a:ext cx="5236643" cy="2080641"/>
            </a:xfrm>
            <a:prstGeom prst="rect">
              <a:avLst/>
            </a:prstGeom>
          </p:spPr>
          <p:txBody>
            <a:bodyPr anchor="t" rtlCol="false" tIns="0" lIns="0" bIns="0" rIns="0">
              <a:spAutoFit/>
            </a:bodyPr>
            <a:lstStyle/>
            <a:p>
              <a:pPr algn="l" marL="0" indent="0" lvl="0">
                <a:lnSpc>
                  <a:spcPts val="2063"/>
                </a:lnSpc>
                <a:spcBef>
                  <a:spcPct val="0"/>
                </a:spcBef>
              </a:pPr>
              <a:r>
                <a:rPr lang="en-US" sz="1599">
                  <a:solidFill>
                    <a:srgbClr val="C7C2EF"/>
                  </a:solidFill>
                  <a:latin typeface="ITC Avant Garde Gothic"/>
                  <a:ea typeface="ITC Avant Garde Gothic"/>
                  <a:cs typeface="ITC Avant Garde Gothic"/>
                  <a:sym typeface="ITC Avant Garde Gothic"/>
                </a:rPr>
                <a:t>Frank Rosenblatt crea el Perceptrón, la primera red neuronal rudimentaria, aunque las limitaciones técnicas y de hardware provocan posteriores periodos de estancamiento conocidos como los "inviernos de la IA".</a:t>
              </a:r>
            </a:p>
          </p:txBody>
        </p:sp>
      </p:grpSp>
      <p:grpSp>
        <p:nvGrpSpPr>
          <p:cNvPr name="Group 25" id="25"/>
          <p:cNvGrpSpPr/>
          <p:nvPr/>
        </p:nvGrpSpPr>
        <p:grpSpPr>
          <a:xfrm rot="0">
            <a:off x="7599940" y="3544360"/>
            <a:ext cx="4176027" cy="2407241"/>
            <a:chOff x="0" y="0"/>
            <a:chExt cx="5568037" cy="3209654"/>
          </a:xfrm>
        </p:grpSpPr>
        <p:sp>
          <p:nvSpPr>
            <p:cNvPr name="TextBox 26" id="26"/>
            <p:cNvSpPr txBox="true"/>
            <p:nvPr/>
          </p:nvSpPr>
          <p:spPr>
            <a:xfrm rot="0">
              <a:off x="0" y="-38100"/>
              <a:ext cx="4024319" cy="972820"/>
            </a:xfrm>
            <a:prstGeom prst="rect">
              <a:avLst/>
            </a:prstGeom>
          </p:spPr>
          <p:txBody>
            <a:bodyPr anchor="t" rtlCol="false" tIns="0" lIns="0" bIns="0" rIns="0">
              <a:spAutoFit/>
            </a:bodyPr>
            <a:lstStyle/>
            <a:p>
              <a:pPr algn="l" marL="0" indent="0" lvl="0">
                <a:lnSpc>
                  <a:spcPts val="2759"/>
                </a:lnSpc>
              </a:pPr>
              <a:r>
                <a:rPr lang="en-US" b="true" sz="2399">
                  <a:solidFill>
                    <a:srgbClr val="FFC857"/>
                  </a:solidFill>
                  <a:latin typeface="ITC Avant Garde Gothic Bold"/>
                  <a:ea typeface="ITC Avant Garde Gothic Bold"/>
                  <a:cs typeface="ITC Avant Garde Gothic Bold"/>
                  <a:sym typeface="ITC Avant Garde Gothic Bold"/>
                </a:rPr>
                <a:t>Del Ajedrez al Deep Learning</a:t>
              </a:r>
            </a:p>
          </p:txBody>
        </p:sp>
        <p:sp>
          <p:nvSpPr>
            <p:cNvPr name="TextBox 27" id="27"/>
            <p:cNvSpPr txBox="true"/>
            <p:nvPr/>
          </p:nvSpPr>
          <p:spPr>
            <a:xfrm rot="0">
              <a:off x="0" y="1124816"/>
              <a:ext cx="5568037" cy="2084838"/>
            </a:xfrm>
            <a:prstGeom prst="rect">
              <a:avLst/>
            </a:prstGeom>
          </p:spPr>
          <p:txBody>
            <a:bodyPr anchor="t" rtlCol="false" tIns="0" lIns="0" bIns="0" rIns="0">
              <a:spAutoFit/>
            </a:bodyPr>
            <a:lstStyle/>
            <a:p>
              <a:pPr algn="l" marL="0" indent="0" lvl="0">
                <a:lnSpc>
                  <a:spcPts val="2063"/>
                </a:lnSpc>
                <a:spcBef>
                  <a:spcPct val="0"/>
                </a:spcBef>
              </a:pPr>
              <a:r>
                <a:rPr lang="en-US" sz="1599">
                  <a:solidFill>
                    <a:srgbClr val="C7C2EF"/>
                  </a:solidFill>
                  <a:latin typeface="ITC Avant Garde Gothic"/>
                  <a:ea typeface="ITC Avant Garde Gothic"/>
                  <a:cs typeface="ITC Avant Garde Gothic"/>
                  <a:sym typeface="ITC Avant Garde Gothic"/>
                </a:rPr>
                <a:t>La supercomputadora Deep Blue de IBM vence al campeón mundial de ajedrez Garry Kasparov, sentando las bases para que en 2012 la revolución del aprendizaje profundo (Deep Learning) despegue con redes neuronales masivas.</a:t>
              </a:r>
            </a:p>
          </p:txBody>
        </p:sp>
      </p:grpSp>
      <p:grpSp>
        <p:nvGrpSpPr>
          <p:cNvPr name="Group 28" id="28"/>
          <p:cNvGrpSpPr/>
          <p:nvPr/>
        </p:nvGrpSpPr>
        <p:grpSpPr>
          <a:xfrm rot="0">
            <a:off x="10849199" y="7263048"/>
            <a:ext cx="3745886" cy="2619636"/>
            <a:chOff x="0" y="0"/>
            <a:chExt cx="4994515" cy="3492848"/>
          </a:xfrm>
        </p:grpSpPr>
        <p:sp>
          <p:nvSpPr>
            <p:cNvPr name="TextBox 29" id="29"/>
            <p:cNvSpPr txBox="true"/>
            <p:nvPr/>
          </p:nvSpPr>
          <p:spPr>
            <a:xfrm rot="0">
              <a:off x="0" y="-38100"/>
              <a:ext cx="4994515" cy="988160"/>
            </a:xfrm>
            <a:prstGeom prst="rect">
              <a:avLst/>
            </a:prstGeom>
          </p:spPr>
          <p:txBody>
            <a:bodyPr anchor="t" rtlCol="false" tIns="0" lIns="0" bIns="0" rIns="0">
              <a:spAutoFit/>
            </a:bodyPr>
            <a:lstStyle/>
            <a:p>
              <a:pPr algn="l" marL="0" indent="0" lvl="0">
                <a:lnSpc>
                  <a:spcPts val="2760"/>
                </a:lnSpc>
                <a:spcBef>
                  <a:spcPct val="0"/>
                </a:spcBef>
              </a:pPr>
              <a:r>
                <a:rPr lang="en-US" b="true" sz="2400">
                  <a:solidFill>
                    <a:srgbClr val="FFC857"/>
                  </a:solidFill>
                  <a:latin typeface="ITC Avant Garde Gothic Bold"/>
                  <a:ea typeface="ITC Avant Garde Gothic Bold"/>
                  <a:cs typeface="ITC Avant Garde Gothic Bold"/>
                  <a:sym typeface="ITC Avant Garde Gothic Bold"/>
                </a:rPr>
                <a:t>La Explosión Generativa con GANs</a:t>
              </a:r>
            </a:p>
          </p:txBody>
        </p:sp>
        <p:sp>
          <p:nvSpPr>
            <p:cNvPr name="TextBox 30" id="30"/>
            <p:cNvSpPr txBox="true"/>
            <p:nvPr/>
          </p:nvSpPr>
          <p:spPr>
            <a:xfrm rot="0">
              <a:off x="0" y="1064411"/>
              <a:ext cx="4129669" cy="2428438"/>
            </a:xfrm>
            <a:prstGeom prst="rect">
              <a:avLst/>
            </a:prstGeom>
          </p:spPr>
          <p:txBody>
            <a:bodyPr anchor="t" rtlCol="false" tIns="0" lIns="0" bIns="0" rIns="0">
              <a:spAutoFit/>
            </a:bodyPr>
            <a:lstStyle/>
            <a:p>
              <a:pPr algn="l" marL="0" indent="0" lvl="0">
                <a:lnSpc>
                  <a:spcPts val="2063"/>
                </a:lnSpc>
                <a:spcBef>
                  <a:spcPct val="0"/>
                </a:spcBef>
              </a:pPr>
              <a:r>
                <a:rPr lang="en-US" sz="1599">
                  <a:solidFill>
                    <a:srgbClr val="C7C2EF"/>
                  </a:solidFill>
                  <a:latin typeface="ITC Avant Garde Gothic"/>
                  <a:ea typeface="ITC Avant Garde Gothic"/>
                  <a:cs typeface="ITC Avant Garde Gothic"/>
                  <a:sym typeface="ITC Avant Garde Gothic"/>
                </a:rPr>
                <a:t>Ian Goodfellow introduce las Redes Generativas Antagónicas, permitiendo que dos inteligencias compitan para generar contenido sintético hiperrealista por primera vez.</a:t>
              </a:r>
            </a:p>
          </p:txBody>
        </p:sp>
      </p:grpSp>
      <p:grpSp>
        <p:nvGrpSpPr>
          <p:cNvPr name="Group 31" id="31"/>
          <p:cNvGrpSpPr/>
          <p:nvPr/>
        </p:nvGrpSpPr>
        <p:grpSpPr>
          <a:xfrm rot="0">
            <a:off x="13698083" y="2969052"/>
            <a:ext cx="3888867" cy="2710589"/>
            <a:chOff x="0" y="0"/>
            <a:chExt cx="5185156" cy="3614119"/>
          </a:xfrm>
        </p:grpSpPr>
        <p:sp>
          <p:nvSpPr>
            <p:cNvPr name="TextBox 32" id="32"/>
            <p:cNvSpPr txBox="true"/>
            <p:nvPr/>
          </p:nvSpPr>
          <p:spPr>
            <a:xfrm rot="0">
              <a:off x="0" y="-38100"/>
              <a:ext cx="4994515" cy="1453030"/>
            </a:xfrm>
            <a:prstGeom prst="rect">
              <a:avLst/>
            </a:prstGeom>
          </p:spPr>
          <p:txBody>
            <a:bodyPr anchor="t" rtlCol="false" tIns="0" lIns="0" bIns="0" rIns="0">
              <a:spAutoFit/>
            </a:bodyPr>
            <a:lstStyle/>
            <a:p>
              <a:pPr algn="l" marL="0" indent="0" lvl="0">
                <a:lnSpc>
                  <a:spcPts val="2760"/>
                </a:lnSpc>
                <a:spcBef>
                  <a:spcPct val="0"/>
                </a:spcBef>
              </a:pPr>
              <a:r>
                <a:rPr lang="en-US" b="true" sz="2400">
                  <a:solidFill>
                    <a:srgbClr val="FFC857"/>
                  </a:solidFill>
                  <a:latin typeface="ITC Avant Garde Gothic Bold"/>
                  <a:ea typeface="ITC Avant Garde Gothic Bold"/>
                  <a:cs typeface="ITC Avant Garde Gothic Bold"/>
                  <a:sym typeface="ITC Avant Garde Gothic Bold"/>
                </a:rPr>
                <a:t>La Era de los Transformers y Modelos de Lenguaje</a:t>
              </a:r>
            </a:p>
          </p:txBody>
        </p:sp>
        <p:sp>
          <p:nvSpPr>
            <p:cNvPr name="TextBox 33" id="33"/>
            <p:cNvSpPr txBox="true"/>
            <p:nvPr/>
          </p:nvSpPr>
          <p:spPr>
            <a:xfrm rot="0">
              <a:off x="0" y="1529281"/>
              <a:ext cx="5185156" cy="2084838"/>
            </a:xfrm>
            <a:prstGeom prst="rect">
              <a:avLst/>
            </a:prstGeom>
          </p:spPr>
          <p:txBody>
            <a:bodyPr anchor="t" rtlCol="false" tIns="0" lIns="0" bIns="0" rIns="0">
              <a:spAutoFit/>
            </a:bodyPr>
            <a:lstStyle/>
            <a:p>
              <a:pPr algn="l" marL="0" indent="0" lvl="0">
                <a:lnSpc>
                  <a:spcPts val="2063"/>
                </a:lnSpc>
                <a:spcBef>
                  <a:spcPct val="0"/>
                </a:spcBef>
              </a:pPr>
              <a:r>
                <a:rPr lang="en-US" sz="1599">
                  <a:solidFill>
                    <a:srgbClr val="C7C2EF"/>
                  </a:solidFill>
                  <a:latin typeface="ITC Avant Garde Gothic"/>
                  <a:ea typeface="ITC Avant Garde Gothic"/>
                  <a:cs typeface="ITC Avant Garde Gothic"/>
                  <a:sym typeface="ITC Avant Garde Gothic"/>
                </a:rPr>
                <a:t>Google publica la arquitectura Transformer ("Attention Is All You Need"), convirtiéndose en el cimiento técnico que impulsa la era moderna de los grandes modelos de lenguaje y la IA generativa multimodal actual.</a:t>
              </a:r>
            </a:p>
          </p:txBody>
        </p:sp>
      </p:grpSp>
      <p:sp>
        <p:nvSpPr>
          <p:cNvPr name="TextBox 34" id="34"/>
          <p:cNvSpPr txBox="true"/>
          <p:nvPr/>
        </p:nvSpPr>
        <p:spPr>
          <a:xfrm rot="0">
            <a:off x="1016513" y="1303246"/>
            <a:ext cx="12396227" cy="755650"/>
          </a:xfrm>
          <a:prstGeom prst="rect">
            <a:avLst/>
          </a:prstGeom>
        </p:spPr>
        <p:txBody>
          <a:bodyPr anchor="t" rtlCol="false" tIns="0" lIns="0" bIns="0" rIns="0">
            <a:spAutoFit/>
          </a:bodyPr>
          <a:lstStyle/>
          <a:p>
            <a:pPr algn="l">
              <a:lnSpc>
                <a:spcPts val="5599"/>
              </a:lnSpc>
            </a:pPr>
            <a:r>
              <a:rPr lang="en-US" sz="3999" b="true">
                <a:solidFill>
                  <a:srgbClr val="C7C2EF"/>
                </a:solidFill>
                <a:latin typeface="ITC Avant Garde Gothic Bold"/>
                <a:ea typeface="ITC Avant Garde Gothic Bold"/>
                <a:cs typeface="ITC Avant Garde Gothic Bold"/>
                <a:sym typeface="ITC Avant Garde Gothic Bold"/>
              </a:rPr>
              <a:t>Historia de la Inteligencia Artificial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sp>
        <p:nvSpPr>
          <p:cNvPr name="Freeform 2" id="2"/>
          <p:cNvSpPr/>
          <p:nvPr/>
        </p:nvSpPr>
        <p:spPr>
          <a:xfrm flipH="false" flipV="false" rot="0">
            <a:off x="13081385" y="-358854"/>
            <a:ext cx="5206615" cy="5011367"/>
          </a:xfrm>
          <a:custGeom>
            <a:avLst/>
            <a:gdLst/>
            <a:ahLst/>
            <a:cxnLst/>
            <a:rect r="r" b="b" t="t" l="l"/>
            <a:pathLst>
              <a:path h="5011367" w="5206615">
                <a:moveTo>
                  <a:pt x="0" y="0"/>
                </a:moveTo>
                <a:lnTo>
                  <a:pt x="5206615" y="0"/>
                </a:lnTo>
                <a:lnTo>
                  <a:pt x="5206615" y="5011366"/>
                </a:lnTo>
                <a:lnTo>
                  <a:pt x="0" y="50113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892398" y="2696592"/>
            <a:ext cx="7366902" cy="6055642"/>
            <a:chOff x="0" y="0"/>
            <a:chExt cx="1940254" cy="1594902"/>
          </a:xfrm>
        </p:grpSpPr>
        <p:sp>
          <p:nvSpPr>
            <p:cNvPr name="Freeform 4" id="4"/>
            <p:cNvSpPr/>
            <p:nvPr/>
          </p:nvSpPr>
          <p:spPr>
            <a:xfrm flipH="false" flipV="false" rot="0">
              <a:off x="0" y="0"/>
              <a:ext cx="1940254" cy="1594901"/>
            </a:xfrm>
            <a:custGeom>
              <a:avLst/>
              <a:gdLst/>
              <a:ahLst/>
              <a:cxnLst/>
              <a:rect r="r" b="b" t="t" l="l"/>
              <a:pathLst>
                <a:path h="1594901" w="1940254">
                  <a:moveTo>
                    <a:pt x="53596" y="0"/>
                  </a:moveTo>
                  <a:lnTo>
                    <a:pt x="1886658" y="0"/>
                  </a:lnTo>
                  <a:cubicBezTo>
                    <a:pt x="1916258" y="0"/>
                    <a:pt x="1940254" y="23996"/>
                    <a:pt x="1940254" y="53596"/>
                  </a:cubicBezTo>
                  <a:lnTo>
                    <a:pt x="1940254" y="1541305"/>
                  </a:lnTo>
                  <a:cubicBezTo>
                    <a:pt x="1940254" y="1555520"/>
                    <a:pt x="1934607" y="1569152"/>
                    <a:pt x="1924556" y="1579204"/>
                  </a:cubicBezTo>
                  <a:cubicBezTo>
                    <a:pt x="1914505" y="1589255"/>
                    <a:pt x="1900873" y="1594901"/>
                    <a:pt x="1886658" y="1594901"/>
                  </a:cubicBezTo>
                  <a:lnTo>
                    <a:pt x="53596" y="1594901"/>
                  </a:lnTo>
                  <a:cubicBezTo>
                    <a:pt x="39382" y="1594901"/>
                    <a:pt x="25749" y="1589255"/>
                    <a:pt x="15698" y="1579204"/>
                  </a:cubicBezTo>
                  <a:cubicBezTo>
                    <a:pt x="5647" y="1569152"/>
                    <a:pt x="0" y="1555520"/>
                    <a:pt x="0" y="1541305"/>
                  </a:cubicBezTo>
                  <a:lnTo>
                    <a:pt x="0" y="53596"/>
                  </a:lnTo>
                  <a:cubicBezTo>
                    <a:pt x="0" y="39382"/>
                    <a:pt x="5647" y="25749"/>
                    <a:pt x="15698" y="15698"/>
                  </a:cubicBezTo>
                  <a:cubicBezTo>
                    <a:pt x="25749" y="5647"/>
                    <a:pt x="39382" y="0"/>
                    <a:pt x="53596" y="0"/>
                  </a:cubicBezTo>
                  <a:close/>
                </a:path>
              </a:pathLst>
            </a:custGeom>
            <a:solidFill>
              <a:srgbClr val="1A0E79"/>
            </a:solidFill>
            <a:ln w="38100" cap="rnd">
              <a:solidFill>
                <a:srgbClr val="FFC857"/>
              </a:solidFill>
              <a:prstDash val="solid"/>
              <a:round/>
            </a:ln>
          </p:spPr>
        </p:sp>
        <p:sp>
          <p:nvSpPr>
            <p:cNvPr name="TextBox 5" id="5"/>
            <p:cNvSpPr txBox="true"/>
            <p:nvPr/>
          </p:nvSpPr>
          <p:spPr>
            <a:xfrm>
              <a:off x="0" y="-57150"/>
              <a:ext cx="1940254" cy="1652052"/>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6" id="6"/>
          <p:cNvGrpSpPr/>
          <p:nvPr/>
        </p:nvGrpSpPr>
        <p:grpSpPr>
          <a:xfrm rot="0">
            <a:off x="996109" y="2696592"/>
            <a:ext cx="7366902" cy="6055642"/>
            <a:chOff x="0" y="0"/>
            <a:chExt cx="1940254" cy="1594902"/>
          </a:xfrm>
        </p:grpSpPr>
        <p:sp>
          <p:nvSpPr>
            <p:cNvPr name="Freeform 7" id="7"/>
            <p:cNvSpPr/>
            <p:nvPr/>
          </p:nvSpPr>
          <p:spPr>
            <a:xfrm flipH="false" flipV="false" rot="0">
              <a:off x="0" y="0"/>
              <a:ext cx="1940254" cy="1594901"/>
            </a:xfrm>
            <a:custGeom>
              <a:avLst/>
              <a:gdLst/>
              <a:ahLst/>
              <a:cxnLst/>
              <a:rect r="r" b="b" t="t" l="l"/>
              <a:pathLst>
                <a:path h="1594901" w="1940254">
                  <a:moveTo>
                    <a:pt x="53596" y="0"/>
                  </a:moveTo>
                  <a:lnTo>
                    <a:pt x="1886658" y="0"/>
                  </a:lnTo>
                  <a:cubicBezTo>
                    <a:pt x="1916258" y="0"/>
                    <a:pt x="1940254" y="23996"/>
                    <a:pt x="1940254" y="53596"/>
                  </a:cubicBezTo>
                  <a:lnTo>
                    <a:pt x="1940254" y="1541305"/>
                  </a:lnTo>
                  <a:cubicBezTo>
                    <a:pt x="1940254" y="1555520"/>
                    <a:pt x="1934607" y="1569152"/>
                    <a:pt x="1924556" y="1579204"/>
                  </a:cubicBezTo>
                  <a:cubicBezTo>
                    <a:pt x="1914505" y="1589255"/>
                    <a:pt x="1900873" y="1594901"/>
                    <a:pt x="1886658" y="1594901"/>
                  </a:cubicBezTo>
                  <a:lnTo>
                    <a:pt x="53596" y="1594901"/>
                  </a:lnTo>
                  <a:cubicBezTo>
                    <a:pt x="39382" y="1594901"/>
                    <a:pt x="25749" y="1589255"/>
                    <a:pt x="15698" y="1579204"/>
                  </a:cubicBezTo>
                  <a:cubicBezTo>
                    <a:pt x="5647" y="1569152"/>
                    <a:pt x="0" y="1555520"/>
                    <a:pt x="0" y="1541305"/>
                  </a:cubicBezTo>
                  <a:lnTo>
                    <a:pt x="0" y="53596"/>
                  </a:lnTo>
                  <a:cubicBezTo>
                    <a:pt x="0" y="39382"/>
                    <a:pt x="5647" y="25749"/>
                    <a:pt x="15698" y="15698"/>
                  </a:cubicBezTo>
                  <a:cubicBezTo>
                    <a:pt x="25749" y="5647"/>
                    <a:pt x="39382" y="0"/>
                    <a:pt x="53596" y="0"/>
                  </a:cubicBezTo>
                  <a:close/>
                </a:path>
              </a:pathLst>
            </a:custGeom>
            <a:solidFill>
              <a:srgbClr val="1A0E79"/>
            </a:solidFill>
            <a:ln w="38100" cap="rnd">
              <a:solidFill>
                <a:srgbClr val="FFC857"/>
              </a:solidFill>
              <a:prstDash val="solid"/>
              <a:round/>
            </a:ln>
          </p:spPr>
        </p:sp>
        <p:sp>
          <p:nvSpPr>
            <p:cNvPr name="TextBox 8" id="8"/>
            <p:cNvSpPr txBox="true"/>
            <p:nvPr/>
          </p:nvSpPr>
          <p:spPr>
            <a:xfrm>
              <a:off x="0" y="-57150"/>
              <a:ext cx="1940254" cy="1652052"/>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Freeform 9" id="9"/>
          <p:cNvSpPr/>
          <p:nvPr/>
        </p:nvSpPr>
        <p:spPr>
          <a:xfrm flipH="false" flipV="false" rot="0">
            <a:off x="7898511" y="7796021"/>
            <a:ext cx="2490979" cy="2490979"/>
          </a:xfrm>
          <a:custGeom>
            <a:avLst/>
            <a:gdLst/>
            <a:ahLst/>
            <a:cxnLst/>
            <a:rect r="r" b="b" t="t" l="l"/>
            <a:pathLst>
              <a:path h="2490979" w="2490979">
                <a:moveTo>
                  <a:pt x="0" y="0"/>
                </a:moveTo>
                <a:lnTo>
                  <a:pt x="2490978" y="0"/>
                </a:lnTo>
                <a:lnTo>
                  <a:pt x="2490978" y="2490979"/>
                </a:lnTo>
                <a:lnTo>
                  <a:pt x="0" y="24909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558295" y="3093652"/>
            <a:ext cx="5436550" cy="666750"/>
          </a:xfrm>
          <a:prstGeom prst="rect">
            <a:avLst/>
          </a:prstGeom>
        </p:spPr>
        <p:txBody>
          <a:bodyPr anchor="t" rtlCol="false" tIns="0" lIns="0" bIns="0" rIns="0">
            <a:spAutoFit/>
          </a:bodyPr>
          <a:lstStyle/>
          <a:p>
            <a:pPr algn="l">
              <a:lnSpc>
                <a:spcPts val="5100"/>
              </a:lnSpc>
            </a:pPr>
            <a:r>
              <a:rPr lang="en-US" b="true" sz="3000" spc="177">
                <a:solidFill>
                  <a:srgbClr val="FFC857"/>
                </a:solidFill>
                <a:latin typeface="ITC Avant Garde Gothic Bold"/>
                <a:ea typeface="ITC Avant Garde Gothic Bold"/>
                <a:cs typeface="ITC Avant Garde Gothic Bold"/>
                <a:sym typeface="ITC Avant Garde Gothic Bold"/>
              </a:rPr>
              <a:t>GENERATIVA</a:t>
            </a:r>
          </a:p>
        </p:txBody>
      </p:sp>
      <p:sp>
        <p:nvSpPr>
          <p:cNvPr name="TextBox 11" id="11"/>
          <p:cNvSpPr txBox="true"/>
          <p:nvPr/>
        </p:nvSpPr>
        <p:spPr>
          <a:xfrm rot="0">
            <a:off x="10522392" y="4049918"/>
            <a:ext cx="6106914" cy="4422775"/>
          </a:xfrm>
          <a:prstGeom prst="rect">
            <a:avLst/>
          </a:prstGeom>
        </p:spPr>
        <p:txBody>
          <a:bodyPr anchor="t" rtlCol="false" tIns="0" lIns="0" bIns="0" rIns="0">
            <a:spAutoFit/>
          </a:bodyPr>
          <a:lstStyle/>
          <a:p>
            <a:pPr algn="l" marL="431801" indent="-215900" lvl="1">
              <a:lnSpc>
                <a:spcPts val="3200"/>
              </a:lnSpc>
              <a:buFont typeface="Arial"/>
              <a:buChar char="•"/>
            </a:pPr>
            <a:r>
              <a:rPr lang="en-US" sz="2000">
                <a:solidFill>
                  <a:srgbClr val="C7C2EF"/>
                </a:solidFill>
                <a:latin typeface="ITC Avant Garde Gothic"/>
                <a:ea typeface="ITC Avant Garde Gothic"/>
                <a:cs typeface="ITC Avant Garde Gothic"/>
                <a:sym typeface="ITC Avant Garde Gothic"/>
              </a:rPr>
              <a:t>Busca crear contenido nuevo y original (texto, imágenes, audio) a partir de los patrones aprendidos.</a:t>
            </a:r>
          </a:p>
          <a:p>
            <a:pPr algn="l" marL="431801" indent="-215900" lvl="1">
              <a:lnSpc>
                <a:spcPts val="3200"/>
              </a:lnSpc>
              <a:buFont typeface="Arial"/>
              <a:buChar char="•"/>
            </a:pPr>
            <a:r>
              <a:rPr lang="en-US" sz="2000">
                <a:solidFill>
                  <a:srgbClr val="C7C2EF"/>
                </a:solidFill>
                <a:latin typeface="ITC Avant Garde Gothic"/>
                <a:ea typeface="ITC Avant Garde Gothic"/>
                <a:cs typeface="ITC Avant Garde Gothic"/>
                <a:sym typeface="ITC Avant Garde Gothic"/>
              </a:rPr>
              <a:t> Exige una potencia de procesamiento, memoria y un volumen de datos masivos muy elevados. </a:t>
            </a:r>
          </a:p>
          <a:p>
            <a:pPr algn="l" marL="431801" indent="-215900" lvl="1">
              <a:lnSpc>
                <a:spcPts val="3200"/>
              </a:lnSpc>
              <a:buFont typeface="Arial"/>
              <a:buChar char="•"/>
            </a:pPr>
            <a:r>
              <a:rPr lang="en-US" sz="2000">
                <a:solidFill>
                  <a:srgbClr val="C7C2EF"/>
                </a:solidFill>
                <a:latin typeface="ITC Avant Garde Gothic"/>
                <a:ea typeface="ITC Avant Garde Gothic"/>
                <a:cs typeface="ITC Avant Garde Gothic"/>
                <a:sym typeface="ITC Avant Garde Gothic"/>
              </a:rPr>
              <a:t>Es propensa a "alucinaciones" o a replicar sesgos profundos al inventar contenido.</a:t>
            </a:r>
          </a:p>
          <a:p>
            <a:pPr algn="l" marL="431801" indent="-215900" lvl="1">
              <a:lnSpc>
                <a:spcPts val="3200"/>
              </a:lnSpc>
              <a:buFont typeface="Arial"/>
              <a:buChar char="•"/>
            </a:pPr>
            <a:r>
              <a:rPr lang="en-US" sz="2000">
                <a:solidFill>
                  <a:srgbClr val="C7C2EF"/>
                </a:solidFill>
                <a:latin typeface="ITC Avant Garde Gothic"/>
                <a:ea typeface="ITC Avant Garde Gothic"/>
                <a:cs typeface="ITC Avant Garde Gothic"/>
                <a:sym typeface="ITC Avant Garde Gothic"/>
              </a:rPr>
              <a:t> Se emplea en la creación de contenido multimedia, asistentes conversacionales y diseño sintético. </a:t>
            </a:r>
          </a:p>
        </p:txBody>
      </p:sp>
      <p:sp>
        <p:nvSpPr>
          <p:cNvPr name="TextBox 12" id="12"/>
          <p:cNvSpPr txBox="true"/>
          <p:nvPr/>
        </p:nvSpPr>
        <p:spPr>
          <a:xfrm rot="0">
            <a:off x="8652189" y="4989718"/>
            <a:ext cx="983621" cy="869950"/>
          </a:xfrm>
          <a:prstGeom prst="rect">
            <a:avLst/>
          </a:prstGeom>
        </p:spPr>
        <p:txBody>
          <a:bodyPr anchor="t" rtlCol="false" tIns="0" lIns="0" bIns="0" rIns="0">
            <a:spAutoFit/>
          </a:bodyPr>
          <a:lstStyle/>
          <a:p>
            <a:pPr algn="ctr" marL="0" indent="0" lvl="0">
              <a:lnSpc>
                <a:spcPts val="6799"/>
              </a:lnSpc>
              <a:spcBef>
                <a:spcPct val="0"/>
              </a:spcBef>
            </a:pPr>
            <a:r>
              <a:rPr lang="en-US" b="true" sz="3999" spc="235" u="none">
                <a:solidFill>
                  <a:srgbClr val="FFC857"/>
                </a:solidFill>
                <a:latin typeface="ITC Avant Garde Gothic Bold"/>
                <a:ea typeface="ITC Avant Garde Gothic Bold"/>
                <a:cs typeface="ITC Avant Garde Gothic Bold"/>
                <a:sym typeface="ITC Avant Garde Gothic Bold"/>
              </a:rPr>
              <a:t>VS</a:t>
            </a:r>
          </a:p>
        </p:txBody>
      </p:sp>
      <p:sp>
        <p:nvSpPr>
          <p:cNvPr name="TextBox 13" id="13"/>
          <p:cNvSpPr txBox="true"/>
          <p:nvPr/>
        </p:nvSpPr>
        <p:spPr>
          <a:xfrm rot="0">
            <a:off x="1682799" y="3093652"/>
            <a:ext cx="5436550" cy="666750"/>
          </a:xfrm>
          <a:prstGeom prst="rect">
            <a:avLst/>
          </a:prstGeom>
        </p:spPr>
        <p:txBody>
          <a:bodyPr anchor="t" rtlCol="false" tIns="0" lIns="0" bIns="0" rIns="0">
            <a:spAutoFit/>
          </a:bodyPr>
          <a:lstStyle/>
          <a:p>
            <a:pPr algn="l">
              <a:lnSpc>
                <a:spcPts val="5100"/>
              </a:lnSpc>
            </a:pPr>
            <a:r>
              <a:rPr lang="en-US" b="true" sz="3000" spc="177">
                <a:solidFill>
                  <a:srgbClr val="FFC857"/>
                </a:solidFill>
                <a:latin typeface="ITC Avant Garde Gothic Bold"/>
                <a:ea typeface="ITC Avant Garde Gothic Bold"/>
                <a:cs typeface="ITC Avant Garde Gothic Bold"/>
                <a:sym typeface="ITC Avant Garde Gothic Bold"/>
              </a:rPr>
              <a:t>DISCRIMINATIVA</a:t>
            </a:r>
          </a:p>
        </p:txBody>
      </p:sp>
      <p:sp>
        <p:nvSpPr>
          <p:cNvPr name="TextBox 14" id="14"/>
          <p:cNvSpPr txBox="true"/>
          <p:nvPr/>
        </p:nvSpPr>
        <p:spPr>
          <a:xfrm rot="0">
            <a:off x="1682799" y="4049918"/>
            <a:ext cx="6106914" cy="4422775"/>
          </a:xfrm>
          <a:prstGeom prst="rect">
            <a:avLst/>
          </a:prstGeom>
        </p:spPr>
        <p:txBody>
          <a:bodyPr anchor="t" rtlCol="false" tIns="0" lIns="0" bIns="0" rIns="0">
            <a:spAutoFit/>
          </a:bodyPr>
          <a:lstStyle/>
          <a:p>
            <a:pPr algn="l" marL="431801" indent="-215900" lvl="1">
              <a:lnSpc>
                <a:spcPts val="3200"/>
              </a:lnSpc>
              <a:buFont typeface="Arial"/>
              <a:buChar char="•"/>
            </a:pPr>
            <a:r>
              <a:rPr lang="en-US" sz="2000">
                <a:solidFill>
                  <a:srgbClr val="C7C2EF"/>
                </a:solidFill>
                <a:latin typeface="ITC Avant Garde Gothic"/>
                <a:ea typeface="ITC Avant Garde Gothic"/>
                <a:cs typeface="ITC Avant Garde Gothic"/>
                <a:sym typeface="ITC Avant Garde Gothic"/>
              </a:rPr>
              <a:t>Se enfoca en clasificar, categorizar o predecir etiquetas para datos existentes</a:t>
            </a:r>
          </a:p>
          <a:p>
            <a:pPr algn="l" marL="431801" indent="-215900" lvl="1">
              <a:lnSpc>
                <a:spcPts val="3200"/>
              </a:lnSpc>
              <a:buFont typeface="Arial"/>
              <a:buChar char="•"/>
            </a:pPr>
            <a:r>
              <a:rPr lang="en-US" sz="2000">
                <a:solidFill>
                  <a:srgbClr val="C7C2EF"/>
                </a:solidFill>
                <a:latin typeface="ITC Avant Garde Gothic"/>
                <a:ea typeface="ITC Avant Garde Gothic"/>
                <a:cs typeface="ITC Avant Garde Gothic"/>
                <a:sym typeface="ITC Avant Garde Gothic"/>
              </a:rPr>
              <a:t>Suele ser computacionalmente más ligera, rápida y eficiente en recursos específicos.</a:t>
            </a:r>
          </a:p>
          <a:p>
            <a:pPr algn="l" marL="431801" indent="-215900" lvl="1">
              <a:lnSpc>
                <a:spcPts val="3200"/>
              </a:lnSpc>
              <a:buFont typeface="Arial"/>
              <a:buChar char="•"/>
            </a:pPr>
            <a:r>
              <a:rPr lang="en-US" sz="2000">
                <a:solidFill>
                  <a:srgbClr val="C7C2EF"/>
                </a:solidFill>
                <a:latin typeface="ITC Avant Garde Gothic"/>
                <a:ea typeface="ITC Avant Garde Gothic"/>
                <a:cs typeface="ITC Avant Garde Gothic"/>
                <a:sym typeface="ITC Avant Garde Gothic"/>
              </a:rPr>
              <a:t>Depende críticamente de la calidad y precisión del etiquetado previo de los datos para no fallar en sus predicciones.</a:t>
            </a:r>
          </a:p>
          <a:p>
            <a:pPr algn="l" marL="431801" indent="-215900" lvl="1">
              <a:lnSpc>
                <a:spcPts val="3200"/>
              </a:lnSpc>
              <a:buFont typeface="Arial"/>
              <a:buChar char="•"/>
            </a:pPr>
            <a:r>
              <a:rPr lang="en-US" sz="2000">
                <a:solidFill>
                  <a:srgbClr val="C7C2EF"/>
                </a:solidFill>
                <a:latin typeface="ITC Avant Garde Gothic"/>
                <a:ea typeface="ITC Avant Garde Gothic"/>
                <a:cs typeface="ITC Avant Garde Gothic"/>
                <a:sym typeface="ITC Avant Garde Gothic"/>
              </a:rPr>
              <a:t>Se utiliza en diagnósticos médicos (detectar anomalías en radiografías), reconocimiento facial, filtros de correo no deseado y evaluación de riesgos crediticios.</a:t>
            </a:r>
          </a:p>
        </p:txBody>
      </p:sp>
      <p:sp>
        <p:nvSpPr>
          <p:cNvPr name="TextBox 15" id="15"/>
          <p:cNvSpPr txBox="true"/>
          <p:nvPr/>
        </p:nvSpPr>
        <p:spPr>
          <a:xfrm rot="0">
            <a:off x="1016513" y="1071228"/>
            <a:ext cx="12396227" cy="1460500"/>
          </a:xfrm>
          <a:prstGeom prst="rect">
            <a:avLst/>
          </a:prstGeom>
        </p:spPr>
        <p:txBody>
          <a:bodyPr anchor="t" rtlCol="false" tIns="0" lIns="0" bIns="0" rIns="0">
            <a:spAutoFit/>
          </a:bodyPr>
          <a:lstStyle/>
          <a:p>
            <a:pPr algn="l">
              <a:lnSpc>
                <a:spcPts val="5599"/>
              </a:lnSpc>
            </a:pPr>
            <a:r>
              <a:rPr lang="en-US" sz="3999" b="true">
                <a:solidFill>
                  <a:srgbClr val="C7C2EF"/>
                </a:solidFill>
                <a:latin typeface="ITC Avant Garde Gothic Bold"/>
                <a:ea typeface="ITC Avant Garde Gothic Bold"/>
                <a:cs typeface="ITC Avant Garde Gothic Bold"/>
                <a:sym typeface="ITC Avant Garde Gothic Bold"/>
              </a:rPr>
              <a:t>Diferencias entre IA generativa y discriminativa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sp>
        <p:nvSpPr>
          <p:cNvPr name="Freeform 2" id="2"/>
          <p:cNvSpPr/>
          <p:nvPr/>
        </p:nvSpPr>
        <p:spPr>
          <a:xfrm flipH="false" flipV="false" rot="0">
            <a:off x="13737125" y="-371733"/>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544062">
            <a:off x="-987459" y="5541249"/>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3660405" y="2660312"/>
            <a:ext cx="10967189" cy="5971797"/>
            <a:chOff x="0" y="0"/>
            <a:chExt cx="2888478" cy="1572819"/>
          </a:xfrm>
        </p:grpSpPr>
        <p:sp>
          <p:nvSpPr>
            <p:cNvPr name="Freeform 5" id="5"/>
            <p:cNvSpPr/>
            <p:nvPr/>
          </p:nvSpPr>
          <p:spPr>
            <a:xfrm flipH="false" flipV="false" rot="0">
              <a:off x="0" y="0"/>
              <a:ext cx="2888478" cy="1572819"/>
            </a:xfrm>
            <a:custGeom>
              <a:avLst/>
              <a:gdLst/>
              <a:ahLst/>
              <a:cxnLst/>
              <a:rect r="r" b="b" t="t" l="l"/>
              <a:pathLst>
                <a:path h="1572819" w="2888478">
                  <a:moveTo>
                    <a:pt x="36002" y="0"/>
                  </a:moveTo>
                  <a:lnTo>
                    <a:pt x="2852476" y="0"/>
                  </a:lnTo>
                  <a:cubicBezTo>
                    <a:pt x="2862024" y="0"/>
                    <a:pt x="2871182" y="3793"/>
                    <a:pt x="2877933" y="10545"/>
                  </a:cubicBezTo>
                  <a:cubicBezTo>
                    <a:pt x="2884685" y="17296"/>
                    <a:pt x="2888478" y="26453"/>
                    <a:pt x="2888478" y="36002"/>
                  </a:cubicBezTo>
                  <a:lnTo>
                    <a:pt x="2888478" y="1536817"/>
                  </a:lnTo>
                  <a:cubicBezTo>
                    <a:pt x="2888478" y="1546365"/>
                    <a:pt x="2884685" y="1555522"/>
                    <a:pt x="2877933" y="1562274"/>
                  </a:cubicBezTo>
                  <a:cubicBezTo>
                    <a:pt x="2871182" y="1569026"/>
                    <a:pt x="2862024" y="1572819"/>
                    <a:pt x="2852476" y="1572819"/>
                  </a:cubicBezTo>
                  <a:lnTo>
                    <a:pt x="36002" y="1572819"/>
                  </a:lnTo>
                  <a:cubicBezTo>
                    <a:pt x="26453" y="1572819"/>
                    <a:pt x="17296" y="1569026"/>
                    <a:pt x="10545" y="1562274"/>
                  </a:cubicBezTo>
                  <a:cubicBezTo>
                    <a:pt x="3793" y="1555522"/>
                    <a:pt x="0" y="1546365"/>
                    <a:pt x="0" y="1536817"/>
                  </a:cubicBezTo>
                  <a:lnTo>
                    <a:pt x="0" y="36002"/>
                  </a:lnTo>
                  <a:cubicBezTo>
                    <a:pt x="0" y="26453"/>
                    <a:pt x="3793" y="17296"/>
                    <a:pt x="10545" y="10545"/>
                  </a:cubicBezTo>
                  <a:cubicBezTo>
                    <a:pt x="17296" y="3793"/>
                    <a:pt x="26453" y="0"/>
                    <a:pt x="36002" y="0"/>
                  </a:cubicBezTo>
                  <a:close/>
                </a:path>
              </a:pathLst>
            </a:custGeom>
            <a:solidFill>
              <a:srgbClr val="1A0E79"/>
            </a:solidFill>
            <a:ln w="38100" cap="rnd">
              <a:solidFill>
                <a:srgbClr val="FFC857"/>
              </a:solidFill>
              <a:prstDash val="solid"/>
              <a:round/>
            </a:ln>
          </p:spPr>
        </p:sp>
        <p:sp>
          <p:nvSpPr>
            <p:cNvPr name="TextBox 6" id="6"/>
            <p:cNvSpPr txBox="true"/>
            <p:nvPr/>
          </p:nvSpPr>
          <p:spPr>
            <a:xfrm>
              <a:off x="0" y="-57150"/>
              <a:ext cx="2888478" cy="1629969"/>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7" id="7"/>
          <p:cNvSpPr txBox="true"/>
          <p:nvPr/>
        </p:nvSpPr>
        <p:spPr>
          <a:xfrm rot="0">
            <a:off x="5311486" y="3950275"/>
            <a:ext cx="7665029" cy="755650"/>
          </a:xfrm>
          <a:prstGeom prst="rect">
            <a:avLst/>
          </a:prstGeom>
        </p:spPr>
        <p:txBody>
          <a:bodyPr anchor="t" rtlCol="false" tIns="0" lIns="0" bIns="0" rIns="0">
            <a:spAutoFit/>
          </a:bodyPr>
          <a:lstStyle/>
          <a:p>
            <a:pPr algn="ctr" marL="0" indent="0" lvl="0">
              <a:lnSpc>
                <a:spcPts val="5599"/>
              </a:lnSpc>
              <a:spcBef>
                <a:spcPct val="0"/>
              </a:spcBef>
            </a:pPr>
            <a:r>
              <a:rPr lang="en-US" b="true" sz="3999" strike="noStrike" u="none">
                <a:solidFill>
                  <a:srgbClr val="C7C2EF"/>
                </a:solidFill>
                <a:latin typeface="ITC Avant Garde Gothic Bold"/>
                <a:ea typeface="ITC Avant Garde Gothic Bold"/>
                <a:cs typeface="ITC Avant Garde Gothic Bold"/>
                <a:sym typeface="ITC Avant Garde Gothic Bold"/>
              </a:rPr>
              <a:t>¿POR QUÉ SE USA PYTHON?</a:t>
            </a:r>
          </a:p>
        </p:txBody>
      </p:sp>
      <p:sp>
        <p:nvSpPr>
          <p:cNvPr name="TextBox 8" id="8"/>
          <p:cNvSpPr txBox="true"/>
          <p:nvPr/>
        </p:nvSpPr>
        <p:spPr>
          <a:xfrm rot="0">
            <a:off x="4716097" y="5111178"/>
            <a:ext cx="8855807" cy="2501900"/>
          </a:xfrm>
          <a:prstGeom prst="rect">
            <a:avLst/>
          </a:prstGeom>
        </p:spPr>
        <p:txBody>
          <a:bodyPr anchor="t" rtlCol="false" tIns="0" lIns="0" bIns="0" rIns="0">
            <a:spAutoFit/>
          </a:bodyPr>
          <a:lstStyle/>
          <a:p>
            <a:pPr algn="ctr" marL="0" indent="0" lvl="0">
              <a:lnSpc>
                <a:spcPts val="2800"/>
              </a:lnSpc>
              <a:spcBef>
                <a:spcPct val="0"/>
              </a:spcBef>
            </a:pPr>
            <a:r>
              <a:rPr lang="en-US" sz="2000" spc="154">
                <a:solidFill>
                  <a:srgbClr val="C7C2EF"/>
                </a:solidFill>
                <a:latin typeface="ITC Avant Garde Gothic"/>
                <a:ea typeface="ITC Avant Garde Gothic"/>
                <a:cs typeface="ITC Avant Garde Gothic"/>
                <a:sym typeface="ITC Avant Garde Gothic"/>
              </a:rPr>
              <a:t>Pyth</a:t>
            </a:r>
            <a:r>
              <a:rPr lang="en-US" sz="2000" spc="154" strike="noStrike" u="none">
                <a:solidFill>
                  <a:srgbClr val="C7C2EF"/>
                </a:solidFill>
                <a:latin typeface="ITC Avant Garde Gothic"/>
                <a:ea typeface="ITC Avant Garde Gothic"/>
                <a:cs typeface="ITC Avant Garde Gothic"/>
                <a:sym typeface="ITC Avant Garde Gothic"/>
              </a:rPr>
              <a:t>on es el lenguaje principal para la inteligencia artificial debido a su sintaxis simple y su gran variedad de herramientas.</a:t>
            </a:r>
          </a:p>
          <a:p>
            <a:pPr algn="ctr" marL="0" indent="0" lvl="0">
              <a:lnSpc>
                <a:spcPts val="2800"/>
              </a:lnSpc>
              <a:spcBef>
                <a:spcPct val="0"/>
              </a:spcBef>
            </a:pPr>
          </a:p>
          <a:p>
            <a:pPr algn="ctr" marL="0" indent="0" lvl="0">
              <a:lnSpc>
                <a:spcPts val="2800"/>
              </a:lnSpc>
              <a:spcBef>
                <a:spcPct val="0"/>
              </a:spcBef>
            </a:pPr>
            <a:r>
              <a:rPr lang="en-US" sz="2000" spc="154" strike="noStrike" u="none">
                <a:solidFill>
                  <a:srgbClr val="C7C2EF"/>
                </a:solidFill>
                <a:latin typeface="ITC Avant Garde Gothic"/>
                <a:ea typeface="ITC Avant Garde Gothic"/>
                <a:cs typeface="ITC Avant Garde Gothic"/>
                <a:sym typeface="ITC Avant Garde Gothic"/>
              </a:rPr>
              <a:t>La inteligencia artificial generativa y Python se combinan mediante bibliotecas especializadas para crear aplicaciones que generan texto, imágenes y código.</a:t>
            </a:r>
          </a:p>
        </p:txBody>
      </p:sp>
      <p:sp>
        <p:nvSpPr>
          <p:cNvPr name="Freeform 9" id="9"/>
          <p:cNvSpPr/>
          <p:nvPr/>
        </p:nvSpPr>
        <p:spPr>
          <a:xfrm flipH="false" flipV="false" rot="0">
            <a:off x="8370667" y="1572373"/>
            <a:ext cx="2035002" cy="2035002"/>
          </a:xfrm>
          <a:custGeom>
            <a:avLst/>
            <a:gdLst/>
            <a:ahLst/>
            <a:cxnLst/>
            <a:rect r="r" b="b" t="t" l="l"/>
            <a:pathLst>
              <a:path h="2035002" w="2035002">
                <a:moveTo>
                  <a:pt x="0" y="0"/>
                </a:moveTo>
                <a:lnTo>
                  <a:pt x="2035002" y="0"/>
                </a:lnTo>
                <a:lnTo>
                  <a:pt x="2035002" y="2035002"/>
                </a:lnTo>
                <a:lnTo>
                  <a:pt x="0" y="20350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sp>
        <p:nvSpPr>
          <p:cNvPr name="Freeform 2" id="2"/>
          <p:cNvSpPr/>
          <p:nvPr/>
        </p:nvSpPr>
        <p:spPr>
          <a:xfrm flipH="false" flipV="false" rot="-9492025">
            <a:off x="-1345692" y="6552807"/>
            <a:ext cx="5206615" cy="5011367"/>
          </a:xfrm>
          <a:custGeom>
            <a:avLst/>
            <a:gdLst/>
            <a:ahLst/>
            <a:cxnLst/>
            <a:rect r="r" b="b" t="t" l="l"/>
            <a:pathLst>
              <a:path h="5011367" w="5206615">
                <a:moveTo>
                  <a:pt x="0" y="0"/>
                </a:moveTo>
                <a:lnTo>
                  <a:pt x="5206615" y="0"/>
                </a:lnTo>
                <a:lnTo>
                  <a:pt x="5206615" y="5011366"/>
                </a:lnTo>
                <a:lnTo>
                  <a:pt x="0" y="50113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3335588"/>
            <a:ext cx="4905185" cy="5722902"/>
            <a:chOff x="0" y="0"/>
            <a:chExt cx="1291901" cy="1507266"/>
          </a:xfrm>
        </p:grpSpPr>
        <p:sp>
          <p:nvSpPr>
            <p:cNvPr name="Freeform 4" id="4"/>
            <p:cNvSpPr/>
            <p:nvPr/>
          </p:nvSpPr>
          <p:spPr>
            <a:xfrm flipH="false" flipV="false" rot="0">
              <a:off x="0" y="0"/>
              <a:ext cx="1291901" cy="1507266"/>
            </a:xfrm>
            <a:custGeom>
              <a:avLst/>
              <a:gdLst/>
              <a:ahLst/>
              <a:cxnLst/>
              <a:rect r="r" b="b" t="t" l="l"/>
              <a:pathLst>
                <a:path h="1507266" w="1291901">
                  <a:moveTo>
                    <a:pt x="80494" y="0"/>
                  </a:moveTo>
                  <a:lnTo>
                    <a:pt x="1211407" y="0"/>
                  </a:lnTo>
                  <a:cubicBezTo>
                    <a:pt x="1232755" y="0"/>
                    <a:pt x="1253229" y="8481"/>
                    <a:pt x="1268325" y="23576"/>
                  </a:cubicBezTo>
                  <a:cubicBezTo>
                    <a:pt x="1283420" y="38672"/>
                    <a:pt x="1291901" y="59146"/>
                    <a:pt x="1291901" y="80494"/>
                  </a:cubicBezTo>
                  <a:lnTo>
                    <a:pt x="1291901" y="1426772"/>
                  </a:lnTo>
                  <a:cubicBezTo>
                    <a:pt x="1291901" y="1448121"/>
                    <a:pt x="1283420" y="1468595"/>
                    <a:pt x="1268325" y="1483690"/>
                  </a:cubicBezTo>
                  <a:cubicBezTo>
                    <a:pt x="1253229" y="1498786"/>
                    <a:pt x="1232755" y="1507266"/>
                    <a:pt x="1211407" y="1507266"/>
                  </a:cubicBezTo>
                  <a:lnTo>
                    <a:pt x="80494" y="1507266"/>
                  </a:lnTo>
                  <a:cubicBezTo>
                    <a:pt x="36038" y="1507266"/>
                    <a:pt x="0" y="1471228"/>
                    <a:pt x="0" y="1426772"/>
                  </a:cubicBezTo>
                  <a:lnTo>
                    <a:pt x="0" y="80494"/>
                  </a:lnTo>
                  <a:cubicBezTo>
                    <a:pt x="0" y="36038"/>
                    <a:pt x="36038" y="0"/>
                    <a:pt x="80494" y="0"/>
                  </a:cubicBezTo>
                  <a:close/>
                </a:path>
              </a:pathLst>
            </a:custGeom>
            <a:solidFill>
              <a:srgbClr val="1A0E79"/>
            </a:solidFill>
            <a:ln w="38100" cap="rnd">
              <a:solidFill>
                <a:srgbClr val="FFC857"/>
              </a:solidFill>
              <a:prstDash val="solid"/>
              <a:round/>
            </a:ln>
          </p:spPr>
        </p:sp>
        <p:sp>
          <p:nvSpPr>
            <p:cNvPr name="TextBox 5" id="5"/>
            <p:cNvSpPr txBox="true"/>
            <p:nvPr/>
          </p:nvSpPr>
          <p:spPr>
            <a:xfrm>
              <a:off x="0" y="-57150"/>
              <a:ext cx="1291901" cy="1564416"/>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Freeform 6" id="6"/>
          <p:cNvSpPr/>
          <p:nvPr/>
        </p:nvSpPr>
        <p:spPr>
          <a:xfrm flipH="false" flipV="false" rot="-3975186">
            <a:off x="13768048" y="-922899"/>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0107070" y="687083"/>
            <a:ext cx="3727425" cy="3727425"/>
          </a:xfrm>
          <a:custGeom>
            <a:avLst/>
            <a:gdLst/>
            <a:ahLst/>
            <a:cxnLst/>
            <a:rect r="r" b="b" t="t" l="l"/>
            <a:pathLst>
              <a:path h="3727425" w="3727425">
                <a:moveTo>
                  <a:pt x="0" y="0"/>
                </a:moveTo>
                <a:lnTo>
                  <a:pt x="3727425" y="0"/>
                </a:lnTo>
                <a:lnTo>
                  <a:pt x="3727425" y="3727425"/>
                </a:lnTo>
                <a:lnTo>
                  <a:pt x="0" y="3727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2354115" y="3335588"/>
            <a:ext cx="4905185" cy="5722902"/>
            <a:chOff x="0" y="0"/>
            <a:chExt cx="1291901" cy="1507266"/>
          </a:xfrm>
        </p:grpSpPr>
        <p:sp>
          <p:nvSpPr>
            <p:cNvPr name="Freeform 9" id="9"/>
            <p:cNvSpPr/>
            <p:nvPr/>
          </p:nvSpPr>
          <p:spPr>
            <a:xfrm flipH="false" flipV="false" rot="0">
              <a:off x="0" y="0"/>
              <a:ext cx="1291901" cy="1507266"/>
            </a:xfrm>
            <a:custGeom>
              <a:avLst/>
              <a:gdLst/>
              <a:ahLst/>
              <a:cxnLst/>
              <a:rect r="r" b="b" t="t" l="l"/>
              <a:pathLst>
                <a:path h="1507266" w="1291901">
                  <a:moveTo>
                    <a:pt x="80494" y="0"/>
                  </a:moveTo>
                  <a:lnTo>
                    <a:pt x="1211407" y="0"/>
                  </a:lnTo>
                  <a:cubicBezTo>
                    <a:pt x="1232755" y="0"/>
                    <a:pt x="1253229" y="8481"/>
                    <a:pt x="1268325" y="23576"/>
                  </a:cubicBezTo>
                  <a:cubicBezTo>
                    <a:pt x="1283420" y="38672"/>
                    <a:pt x="1291901" y="59146"/>
                    <a:pt x="1291901" y="80494"/>
                  </a:cubicBezTo>
                  <a:lnTo>
                    <a:pt x="1291901" y="1426772"/>
                  </a:lnTo>
                  <a:cubicBezTo>
                    <a:pt x="1291901" y="1448121"/>
                    <a:pt x="1283420" y="1468595"/>
                    <a:pt x="1268325" y="1483690"/>
                  </a:cubicBezTo>
                  <a:cubicBezTo>
                    <a:pt x="1253229" y="1498786"/>
                    <a:pt x="1232755" y="1507266"/>
                    <a:pt x="1211407" y="1507266"/>
                  </a:cubicBezTo>
                  <a:lnTo>
                    <a:pt x="80494" y="1507266"/>
                  </a:lnTo>
                  <a:cubicBezTo>
                    <a:pt x="36038" y="1507266"/>
                    <a:pt x="0" y="1471228"/>
                    <a:pt x="0" y="1426772"/>
                  </a:cubicBezTo>
                  <a:lnTo>
                    <a:pt x="0" y="80494"/>
                  </a:lnTo>
                  <a:cubicBezTo>
                    <a:pt x="0" y="36038"/>
                    <a:pt x="36038" y="0"/>
                    <a:pt x="80494" y="0"/>
                  </a:cubicBezTo>
                  <a:close/>
                </a:path>
              </a:pathLst>
            </a:custGeom>
            <a:solidFill>
              <a:srgbClr val="1A0E79"/>
            </a:solidFill>
            <a:ln w="38100" cap="rnd">
              <a:solidFill>
                <a:srgbClr val="FFC857"/>
              </a:solidFill>
              <a:prstDash val="solid"/>
              <a:round/>
            </a:ln>
          </p:spPr>
        </p:sp>
        <p:sp>
          <p:nvSpPr>
            <p:cNvPr name="TextBox 10" id="10"/>
            <p:cNvSpPr txBox="true"/>
            <p:nvPr/>
          </p:nvSpPr>
          <p:spPr>
            <a:xfrm>
              <a:off x="0" y="-57150"/>
              <a:ext cx="1291901" cy="1564416"/>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1" id="11"/>
          <p:cNvGrpSpPr/>
          <p:nvPr/>
        </p:nvGrpSpPr>
        <p:grpSpPr>
          <a:xfrm rot="0">
            <a:off x="6691407" y="3335588"/>
            <a:ext cx="4905185" cy="5722902"/>
            <a:chOff x="0" y="0"/>
            <a:chExt cx="1291901" cy="1507266"/>
          </a:xfrm>
        </p:grpSpPr>
        <p:sp>
          <p:nvSpPr>
            <p:cNvPr name="Freeform 12" id="12"/>
            <p:cNvSpPr/>
            <p:nvPr/>
          </p:nvSpPr>
          <p:spPr>
            <a:xfrm flipH="false" flipV="false" rot="0">
              <a:off x="0" y="0"/>
              <a:ext cx="1291901" cy="1507266"/>
            </a:xfrm>
            <a:custGeom>
              <a:avLst/>
              <a:gdLst/>
              <a:ahLst/>
              <a:cxnLst/>
              <a:rect r="r" b="b" t="t" l="l"/>
              <a:pathLst>
                <a:path h="1507266" w="1291901">
                  <a:moveTo>
                    <a:pt x="80494" y="0"/>
                  </a:moveTo>
                  <a:lnTo>
                    <a:pt x="1211407" y="0"/>
                  </a:lnTo>
                  <a:cubicBezTo>
                    <a:pt x="1232755" y="0"/>
                    <a:pt x="1253229" y="8481"/>
                    <a:pt x="1268325" y="23576"/>
                  </a:cubicBezTo>
                  <a:cubicBezTo>
                    <a:pt x="1283420" y="38672"/>
                    <a:pt x="1291901" y="59146"/>
                    <a:pt x="1291901" y="80494"/>
                  </a:cubicBezTo>
                  <a:lnTo>
                    <a:pt x="1291901" y="1426772"/>
                  </a:lnTo>
                  <a:cubicBezTo>
                    <a:pt x="1291901" y="1448121"/>
                    <a:pt x="1283420" y="1468595"/>
                    <a:pt x="1268325" y="1483690"/>
                  </a:cubicBezTo>
                  <a:cubicBezTo>
                    <a:pt x="1253229" y="1498786"/>
                    <a:pt x="1232755" y="1507266"/>
                    <a:pt x="1211407" y="1507266"/>
                  </a:cubicBezTo>
                  <a:lnTo>
                    <a:pt x="80494" y="1507266"/>
                  </a:lnTo>
                  <a:cubicBezTo>
                    <a:pt x="36038" y="1507266"/>
                    <a:pt x="0" y="1471228"/>
                    <a:pt x="0" y="1426772"/>
                  </a:cubicBezTo>
                  <a:lnTo>
                    <a:pt x="0" y="80494"/>
                  </a:lnTo>
                  <a:cubicBezTo>
                    <a:pt x="0" y="36038"/>
                    <a:pt x="36038" y="0"/>
                    <a:pt x="80494" y="0"/>
                  </a:cubicBezTo>
                  <a:close/>
                </a:path>
              </a:pathLst>
            </a:custGeom>
            <a:solidFill>
              <a:srgbClr val="1A0E79"/>
            </a:solidFill>
            <a:ln w="38100" cap="rnd">
              <a:solidFill>
                <a:srgbClr val="FFC857"/>
              </a:solidFill>
              <a:prstDash val="solid"/>
              <a:round/>
            </a:ln>
          </p:spPr>
        </p:sp>
        <p:sp>
          <p:nvSpPr>
            <p:cNvPr name="TextBox 13" id="13"/>
            <p:cNvSpPr txBox="true"/>
            <p:nvPr/>
          </p:nvSpPr>
          <p:spPr>
            <a:xfrm>
              <a:off x="0" y="-57150"/>
              <a:ext cx="1291901" cy="1564416"/>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14" id="14"/>
          <p:cNvSpPr txBox="true"/>
          <p:nvPr/>
        </p:nvSpPr>
        <p:spPr>
          <a:xfrm rot="0">
            <a:off x="1351603" y="3284503"/>
            <a:ext cx="666756" cy="1430527"/>
          </a:xfrm>
          <a:prstGeom prst="rect">
            <a:avLst/>
          </a:prstGeom>
        </p:spPr>
        <p:txBody>
          <a:bodyPr anchor="t" rtlCol="false" tIns="0" lIns="0" bIns="0" rIns="0">
            <a:spAutoFit/>
          </a:bodyPr>
          <a:lstStyle/>
          <a:p>
            <a:pPr algn="r">
              <a:lnSpc>
                <a:spcPts val="11172"/>
              </a:lnSpc>
            </a:pPr>
            <a:r>
              <a:rPr lang="en-US" b="true" sz="6572" spc="387">
                <a:solidFill>
                  <a:srgbClr val="FFC857"/>
                </a:solidFill>
                <a:latin typeface="ITC Avant Garde Gothic Bold"/>
                <a:ea typeface="ITC Avant Garde Gothic Bold"/>
                <a:cs typeface="ITC Avant Garde Gothic Bold"/>
                <a:sym typeface="ITC Avant Garde Gothic Bold"/>
              </a:rPr>
              <a:t>1</a:t>
            </a:r>
          </a:p>
        </p:txBody>
      </p:sp>
      <p:sp>
        <p:nvSpPr>
          <p:cNvPr name="TextBox 15" id="15"/>
          <p:cNvSpPr txBox="true"/>
          <p:nvPr/>
        </p:nvSpPr>
        <p:spPr>
          <a:xfrm rot="0">
            <a:off x="7133776" y="3284503"/>
            <a:ext cx="666756" cy="1430527"/>
          </a:xfrm>
          <a:prstGeom prst="rect">
            <a:avLst/>
          </a:prstGeom>
        </p:spPr>
        <p:txBody>
          <a:bodyPr anchor="t" rtlCol="false" tIns="0" lIns="0" bIns="0" rIns="0">
            <a:spAutoFit/>
          </a:bodyPr>
          <a:lstStyle/>
          <a:p>
            <a:pPr algn="r">
              <a:lnSpc>
                <a:spcPts val="11172"/>
              </a:lnSpc>
            </a:pPr>
            <a:r>
              <a:rPr lang="en-US" b="true" sz="6572" spc="387">
                <a:solidFill>
                  <a:srgbClr val="FFC857"/>
                </a:solidFill>
                <a:latin typeface="ITC Avant Garde Gothic Bold"/>
                <a:ea typeface="ITC Avant Garde Gothic Bold"/>
                <a:cs typeface="ITC Avant Garde Gothic Bold"/>
                <a:sym typeface="ITC Avant Garde Gothic Bold"/>
              </a:rPr>
              <a:t>2</a:t>
            </a:r>
          </a:p>
        </p:txBody>
      </p:sp>
      <p:sp>
        <p:nvSpPr>
          <p:cNvPr name="TextBox 16" id="16"/>
          <p:cNvSpPr txBox="true"/>
          <p:nvPr/>
        </p:nvSpPr>
        <p:spPr>
          <a:xfrm rot="0">
            <a:off x="12796743" y="3284503"/>
            <a:ext cx="666756" cy="1430527"/>
          </a:xfrm>
          <a:prstGeom prst="rect">
            <a:avLst/>
          </a:prstGeom>
        </p:spPr>
        <p:txBody>
          <a:bodyPr anchor="t" rtlCol="false" tIns="0" lIns="0" bIns="0" rIns="0">
            <a:spAutoFit/>
          </a:bodyPr>
          <a:lstStyle/>
          <a:p>
            <a:pPr algn="r">
              <a:lnSpc>
                <a:spcPts val="11172"/>
              </a:lnSpc>
            </a:pPr>
            <a:r>
              <a:rPr lang="en-US" b="true" sz="6572" spc="387">
                <a:solidFill>
                  <a:srgbClr val="FFC857"/>
                </a:solidFill>
                <a:latin typeface="ITC Avant Garde Gothic Bold"/>
                <a:ea typeface="ITC Avant Garde Gothic Bold"/>
                <a:cs typeface="ITC Avant Garde Gothic Bold"/>
                <a:sym typeface="ITC Avant Garde Gothic Bold"/>
              </a:rPr>
              <a:t>3</a:t>
            </a:r>
          </a:p>
        </p:txBody>
      </p:sp>
      <p:grpSp>
        <p:nvGrpSpPr>
          <p:cNvPr name="Group 17" id="17"/>
          <p:cNvGrpSpPr/>
          <p:nvPr/>
        </p:nvGrpSpPr>
        <p:grpSpPr>
          <a:xfrm rot="0">
            <a:off x="1618300" y="5075047"/>
            <a:ext cx="3713209" cy="3194356"/>
            <a:chOff x="0" y="0"/>
            <a:chExt cx="4950945" cy="4259141"/>
          </a:xfrm>
        </p:grpSpPr>
        <p:sp>
          <p:nvSpPr>
            <p:cNvPr name="TextBox 18" id="18"/>
            <p:cNvSpPr txBox="true"/>
            <p:nvPr/>
          </p:nvSpPr>
          <p:spPr>
            <a:xfrm rot="0">
              <a:off x="0" y="-95250"/>
              <a:ext cx="4950945" cy="1131570"/>
            </a:xfrm>
            <a:prstGeom prst="rect">
              <a:avLst/>
            </a:prstGeom>
          </p:spPr>
          <p:txBody>
            <a:bodyPr anchor="t" rtlCol="false" tIns="0" lIns="0" bIns="0" rIns="0">
              <a:spAutoFit/>
            </a:bodyPr>
            <a:lstStyle/>
            <a:p>
              <a:pPr algn="l">
                <a:lnSpc>
                  <a:spcPts val="3359"/>
                </a:lnSpc>
              </a:pPr>
              <a:r>
                <a:rPr lang="en-US" sz="2400" spc="141" b="true">
                  <a:solidFill>
                    <a:srgbClr val="C7C2EF"/>
                  </a:solidFill>
                  <a:latin typeface="ITC Avant Garde Gothic Bold"/>
                  <a:ea typeface="ITC Avant Garde Gothic Bold"/>
                  <a:cs typeface="ITC Avant Garde Gothic Bold"/>
                  <a:sym typeface="ITC Avant Garde Gothic Bold"/>
                </a:rPr>
                <a:t>Sintaxis clara y legible:</a:t>
              </a:r>
            </a:p>
          </p:txBody>
        </p:sp>
        <p:sp>
          <p:nvSpPr>
            <p:cNvPr name="TextBox 19" id="19"/>
            <p:cNvSpPr txBox="true"/>
            <p:nvPr/>
          </p:nvSpPr>
          <p:spPr>
            <a:xfrm rot="0">
              <a:off x="0" y="1313630"/>
              <a:ext cx="4950945" cy="2945511"/>
            </a:xfrm>
            <a:prstGeom prst="rect">
              <a:avLst/>
            </a:prstGeom>
          </p:spPr>
          <p:txBody>
            <a:bodyPr anchor="t" rtlCol="false" tIns="0" lIns="0" bIns="0" rIns="0">
              <a:spAutoFit/>
            </a:bodyPr>
            <a:lstStyle/>
            <a:p>
              <a:pPr algn="l">
                <a:lnSpc>
                  <a:spcPts val="2483"/>
                </a:lnSpc>
              </a:pPr>
              <a:r>
                <a:rPr lang="en-US" sz="1800">
                  <a:solidFill>
                    <a:srgbClr val="C7C2EF"/>
                  </a:solidFill>
                  <a:latin typeface="ITC Avant Garde Gothic"/>
                  <a:ea typeface="ITC Avant Garde Gothic"/>
                  <a:cs typeface="ITC Avant Garde Gothic"/>
                  <a:sym typeface="ITC Avant Garde Gothic"/>
                </a:rPr>
                <a:t>Su estructura de código es intuitiva y similar al lenguaje natural o pseudocódigo, lo que permite a científicos y desarrolladores enfocarse en la lógica del algoritmo en lugar de en complejidades de sintaxis.</a:t>
              </a:r>
            </a:p>
          </p:txBody>
        </p:sp>
      </p:grpSp>
      <p:grpSp>
        <p:nvGrpSpPr>
          <p:cNvPr name="Group 20" id="20"/>
          <p:cNvGrpSpPr/>
          <p:nvPr/>
        </p:nvGrpSpPr>
        <p:grpSpPr>
          <a:xfrm rot="0">
            <a:off x="7287395" y="5075047"/>
            <a:ext cx="3713209" cy="3508681"/>
            <a:chOff x="0" y="0"/>
            <a:chExt cx="4950945" cy="4678241"/>
          </a:xfrm>
        </p:grpSpPr>
        <p:sp>
          <p:nvSpPr>
            <p:cNvPr name="TextBox 21" id="21"/>
            <p:cNvSpPr txBox="true"/>
            <p:nvPr/>
          </p:nvSpPr>
          <p:spPr>
            <a:xfrm rot="0">
              <a:off x="0" y="-95250"/>
              <a:ext cx="4950945" cy="1131570"/>
            </a:xfrm>
            <a:prstGeom prst="rect">
              <a:avLst/>
            </a:prstGeom>
          </p:spPr>
          <p:txBody>
            <a:bodyPr anchor="t" rtlCol="false" tIns="0" lIns="0" bIns="0" rIns="0">
              <a:spAutoFit/>
            </a:bodyPr>
            <a:lstStyle/>
            <a:p>
              <a:pPr algn="l" marL="0" indent="0" lvl="0">
                <a:lnSpc>
                  <a:spcPts val="3359"/>
                </a:lnSpc>
                <a:spcBef>
                  <a:spcPct val="0"/>
                </a:spcBef>
              </a:pPr>
              <a:r>
                <a:rPr lang="en-US" b="true" sz="2400" spc="141">
                  <a:solidFill>
                    <a:srgbClr val="C7C2EF"/>
                  </a:solidFill>
                  <a:latin typeface="ITC Avant Garde Gothic Bold"/>
                  <a:ea typeface="ITC Avant Garde Gothic Bold"/>
                  <a:cs typeface="ITC Avant Garde Gothic Bold"/>
                  <a:sym typeface="ITC Avant Garde Gothic Bold"/>
                </a:rPr>
                <a:t>Ecosistema masivo de bibliotecas:</a:t>
              </a:r>
            </a:p>
          </p:txBody>
        </p:sp>
        <p:sp>
          <p:nvSpPr>
            <p:cNvPr name="TextBox 22" id="22"/>
            <p:cNvSpPr txBox="true"/>
            <p:nvPr/>
          </p:nvSpPr>
          <p:spPr>
            <a:xfrm rot="0">
              <a:off x="0" y="1313630"/>
              <a:ext cx="4950945" cy="3364611"/>
            </a:xfrm>
            <a:prstGeom prst="rect">
              <a:avLst/>
            </a:prstGeom>
          </p:spPr>
          <p:txBody>
            <a:bodyPr anchor="t" rtlCol="false" tIns="0" lIns="0" bIns="0" rIns="0">
              <a:spAutoFit/>
            </a:bodyPr>
            <a:lstStyle/>
            <a:p>
              <a:pPr algn="l" marL="0" indent="0" lvl="0">
                <a:lnSpc>
                  <a:spcPts val="2483"/>
                </a:lnSpc>
                <a:spcBef>
                  <a:spcPct val="0"/>
                </a:spcBef>
              </a:pPr>
              <a:r>
                <a:rPr lang="en-US" sz="1800">
                  <a:solidFill>
                    <a:srgbClr val="C7C2EF"/>
                  </a:solidFill>
                  <a:latin typeface="ITC Avant Garde Gothic"/>
                  <a:ea typeface="ITC Avant Garde Gothic"/>
                  <a:cs typeface="ITC Avant Garde Gothic"/>
                  <a:sym typeface="ITC Avant Garde Gothic"/>
                </a:rPr>
                <a:t>Cu</a:t>
              </a:r>
              <a:r>
                <a:rPr lang="en-US" sz="1800" strike="noStrike" u="none">
                  <a:solidFill>
                    <a:srgbClr val="C7C2EF"/>
                  </a:solidFill>
                  <a:latin typeface="ITC Avant Garde Gothic"/>
                  <a:ea typeface="ITC Avant Garde Gothic"/>
                  <a:cs typeface="ITC Avant Garde Gothic"/>
                  <a:sym typeface="ITC Avant Garde Gothic"/>
                </a:rPr>
                <a:t>enta con herramientas especializadas y de código abierto para cada fase del desarrollo, desde manipulación de datos con NumPy y Pandas hasta aprendizaje automático con Scikit-learn, PyTorch y TensorFlow.</a:t>
              </a:r>
            </a:p>
          </p:txBody>
        </p:sp>
      </p:grpSp>
      <p:grpSp>
        <p:nvGrpSpPr>
          <p:cNvPr name="Group 23" id="23"/>
          <p:cNvGrpSpPr/>
          <p:nvPr/>
        </p:nvGrpSpPr>
        <p:grpSpPr>
          <a:xfrm rot="0">
            <a:off x="12958668" y="5075047"/>
            <a:ext cx="3713209" cy="3194356"/>
            <a:chOff x="0" y="0"/>
            <a:chExt cx="4950945" cy="4259141"/>
          </a:xfrm>
        </p:grpSpPr>
        <p:sp>
          <p:nvSpPr>
            <p:cNvPr name="TextBox 24" id="24"/>
            <p:cNvSpPr txBox="true"/>
            <p:nvPr/>
          </p:nvSpPr>
          <p:spPr>
            <a:xfrm rot="0">
              <a:off x="0" y="-95250"/>
              <a:ext cx="4950945" cy="1131570"/>
            </a:xfrm>
            <a:prstGeom prst="rect">
              <a:avLst/>
            </a:prstGeom>
          </p:spPr>
          <p:txBody>
            <a:bodyPr anchor="t" rtlCol="false" tIns="0" lIns="0" bIns="0" rIns="0">
              <a:spAutoFit/>
            </a:bodyPr>
            <a:lstStyle/>
            <a:p>
              <a:pPr algn="l" marL="0" indent="0" lvl="0">
                <a:lnSpc>
                  <a:spcPts val="3359"/>
                </a:lnSpc>
                <a:spcBef>
                  <a:spcPct val="0"/>
                </a:spcBef>
              </a:pPr>
              <a:r>
                <a:rPr lang="en-US" b="true" sz="2400" spc="141">
                  <a:solidFill>
                    <a:srgbClr val="C7C2EF"/>
                  </a:solidFill>
                  <a:latin typeface="ITC Avant Garde Gothic Bold"/>
                  <a:ea typeface="ITC Avant Garde Gothic Bold"/>
                  <a:cs typeface="ITC Avant Garde Gothic Bold"/>
                  <a:sym typeface="ITC Avant Garde Gothic Bold"/>
                </a:rPr>
                <a:t>Comunidad y soporte global:</a:t>
              </a:r>
            </a:p>
          </p:txBody>
        </p:sp>
        <p:sp>
          <p:nvSpPr>
            <p:cNvPr name="TextBox 25" id="25"/>
            <p:cNvSpPr txBox="true"/>
            <p:nvPr/>
          </p:nvSpPr>
          <p:spPr>
            <a:xfrm rot="0">
              <a:off x="0" y="1313630"/>
              <a:ext cx="4950945" cy="2945511"/>
            </a:xfrm>
            <a:prstGeom prst="rect">
              <a:avLst/>
            </a:prstGeom>
          </p:spPr>
          <p:txBody>
            <a:bodyPr anchor="t" rtlCol="false" tIns="0" lIns="0" bIns="0" rIns="0">
              <a:spAutoFit/>
            </a:bodyPr>
            <a:lstStyle/>
            <a:p>
              <a:pPr algn="l" marL="0" indent="0" lvl="0">
                <a:lnSpc>
                  <a:spcPts val="2483"/>
                </a:lnSpc>
                <a:spcBef>
                  <a:spcPct val="0"/>
                </a:spcBef>
              </a:pPr>
              <a:r>
                <a:rPr lang="en-US" sz="1800" strike="noStrike" u="none">
                  <a:solidFill>
                    <a:srgbClr val="C7C2EF"/>
                  </a:solidFill>
                  <a:latin typeface="ITC Avant Garde Gothic"/>
                  <a:ea typeface="ITC Avant Garde Gothic"/>
                  <a:cs typeface="ITC Avant Garde Gothic"/>
                  <a:sym typeface="ITC Avant Garde Gothic"/>
                </a:rPr>
                <a:t>Al ser el lenguaje predilecto en ciencia de datos, cuenta con millones de desarrolladores, documentación extensa, repositorios activos y una solución casi inmediata para cualquier error o reto técnico.</a:t>
              </a:r>
            </a:p>
          </p:txBody>
        </p:sp>
      </p:grpSp>
      <p:sp>
        <p:nvSpPr>
          <p:cNvPr name="TextBox 26" id="26"/>
          <p:cNvSpPr txBox="true"/>
          <p:nvPr/>
        </p:nvSpPr>
        <p:spPr>
          <a:xfrm rot="0">
            <a:off x="1016513" y="1429885"/>
            <a:ext cx="12396227" cy="755650"/>
          </a:xfrm>
          <a:prstGeom prst="rect">
            <a:avLst/>
          </a:prstGeom>
        </p:spPr>
        <p:txBody>
          <a:bodyPr anchor="t" rtlCol="false" tIns="0" lIns="0" bIns="0" rIns="0">
            <a:spAutoFit/>
          </a:bodyPr>
          <a:lstStyle/>
          <a:p>
            <a:pPr algn="l" marL="0" indent="0" lvl="0">
              <a:lnSpc>
                <a:spcPts val="5599"/>
              </a:lnSpc>
              <a:spcBef>
                <a:spcPct val="0"/>
              </a:spcBef>
            </a:pPr>
            <a:r>
              <a:rPr lang="en-US" b="true" sz="3999">
                <a:solidFill>
                  <a:srgbClr val="C7C2EF"/>
                </a:solidFill>
                <a:latin typeface="ITC Avant Garde Gothic Bold"/>
                <a:ea typeface="ITC Avant Garde Gothic Bold"/>
                <a:cs typeface="ITC Avant Garde Gothic Bold"/>
                <a:sym typeface="ITC Avant Garde Gothic Bold"/>
              </a:rPr>
              <a:t>Puntos Clave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grpSp>
        <p:nvGrpSpPr>
          <p:cNvPr name="Group 2" id="2"/>
          <p:cNvGrpSpPr/>
          <p:nvPr/>
        </p:nvGrpSpPr>
        <p:grpSpPr>
          <a:xfrm rot="0">
            <a:off x="1028700" y="4121305"/>
            <a:ext cx="7904447" cy="2432283"/>
            <a:chOff x="0" y="0"/>
            <a:chExt cx="2081830" cy="640601"/>
          </a:xfrm>
        </p:grpSpPr>
        <p:sp>
          <p:nvSpPr>
            <p:cNvPr name="Freeform 3" id="3"/>
            <p:cNvSpPr/>
            <p:nvPr/>
          </p:nvSpPr>
          <p:spPr>
            <a:xfrm flipH="false" flipV="false" rot="0">
              <a:off x="0" y="0"/>
              <a:ext cx="2081830" cy="640601"/>
            </a:xfrm>
            <a:custGeom>
              <a:avLst/>
              <a:gdLst/>
              <a:ahLst/>
              <a:cxnLst/>
              <a:rect r="r" b="b" t="t" l="l"/>
              <a:pathLst>
                <a:path h="640601" w="2081830">
                  <a:moveTo>
                    <a:pt x="49951" y="0"/>
                  </a:moveTo>
                  <a:lnTo>
                    <a:pt x="2031878" y="0"/>
                  </a:lnTo>
                  <a:cubicBezTo>
                    <a:pt x="2059466" y="0"/>
                    <a:pt x="2081830" y="22364"/>
                    <a:pt x="2081830" y="49951"/>
                  </a:cubicBezTo>
                  <a:lnTo>
                    <a:pt x="2081830" y="590650"/>
                  </a:lnTo>
                  <a:cubicBezTo>
                    <a:pt x="2081830" y="618237"/>
                    <a:pt x="2059466" y="640601"/>
                    <a:pt x="2031878" y="640601"/>
                  </a:cubicBezTo>
                  <a:lnTo>
                    <a:pt x="49951" y="640601"/>
                  </a:lnTo>
                  <a:cubicBezTo>
                    <a:pt x="22364" y="640601"/>
                    <a:pt x="0" y="618237"/>
                    <a:pt x="0" y="590650"/>
                  </a:cubicBezTo>
                  <a:lnTo>
                    <a:pt x="0" y="49951"/>
                  </a:lnTo>
                  <a:cubicBezTo>
                    <a:pt x="0" y="22364"/>
                    <a:pt x="22364" y="0"/>
                    <a:pt x="49951" y="0"/>
                  </a:cubicBezTo>
                  <a:close/>
                </a:path>
              </a:pathLst>
            </a:custGeom>
            <a:solidFill>
              <a:srgbClr val="1A0E79"/>
            </a:solidFill>
            <a:ln w="38100" cap="rnd">
              <a:solidFill>
                <a:srgbClr val="FFC857"/>
              </a:solidFill>
              <a:prstDash val="solid"/>
              <a:round/>
            </a:ln>
          </p:spPr>
        </p:sp>
        <p:sp>
          <p:nvSpPr>
            <p:cNvPr name="TextBox 4" id="4"/>
            <p:cNvSpPr txBox="true"/>
            <p:nvPr/>
          </p:nvSpPr>
          <p:spPr>
            <a:xfrm>
              <a:off x="0" y="-57150"/>
              <a:ext cx="2081830" cy="697751"/>
            </a:xfrm>
            <a:prstGeom prst="rect">
              <a:avLst/>
            </a:prstGeom>
          </p:spPr>
          <p:txBody>
            <a:bodyPr anchor="ctr" rtlCol="false" tIns="50800" lIns="50800" bIns="50800" rIns="50800"/>
            <a:lstStyle/>
            <a:p>
              <a:pPr algn="ctr">
                <a:lnSpc>
                  <a:spcPts val="2952"/>
                </a:lnSpc>
              </a:pPr>
            </a:p>
          </p:txBody>
        </p:sp>
      </p:grpSp>
      <p:sp>
        <p:nvSpPr>
          <p:cNvPr name="Freeform 5" id="5"/>
          <p:cNvSpPr/>
          <p:nvPr/>
        </p:nvSpPr>
        <p:spPr>
          <a:xfrm flipH="false" flipV="false" rot="0">
            <a:off x="-1574607" y="6826017"/>
            <a:ext cx="5206615" cy="5011367"/>
          </a:xfrm>
          <a:custGeom>
            <a:avLst/>
            <a:gdLst/>
            <a:ahLst/>
            <a:cxnLst/>
            <a:rect r="r" b="b" t="t" l="l"/>
            <a:pathLst>
              <a:path h="5011367" w="5206615">
                <a:moveTo>
                  <a:pt x="0" y="0"/>
                </a:moveTo>
                <a:lnTo>
                  <a:pt x="5206614" y="0"/>
                </a:lnTo>
                <a:lnTo>
                  <a:pt x="5206614"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240166">
            <a:off x="14225626" y="6726008"/>
            <a:ext cx="5206615" cy="5011367"/>
          </a:xfrm>
          <a:custGeom>
            <a:avLst/>
            <a:gdLst/>
            <a:ahLst/>
            <a:cxnLst/>
            <a:rect r="r" b="b" t="t" l="l"/>
            <a:pathLst>
              <a:path h="5011367" w="5206615">
                <a:moveTo>
                  <a:pt x="0" y="0"/>
                </a:moveTo>
                <a:lnTo>
                  <a:pt x="5206615" y="0"/>
                </a:lnTo>
                <a:lnTo>
                  <a:pt x="5206615" y="5011367"/>
                </a:lnTo>
                <a:lnTo>
                  <a:pt x="0" y="5011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028700" y="6826017"/>
            <a:ext cx="7904447" cy="2432283"/>
            <a:chOff x="0" y="0"/>
            <a:chExt cx="2081830" cy="640601"/>
          </a:xfrm>
        </p:grpSpPr>
        <p:sp>
          <p:nvSpPr>
            <p:cNvPr name="Freeform 8" id="8"/>
            <p:cNvSpPr/>
            <p:nvPr/>
          </p:nvSpPr>
          <p:spPr>
            <a:xfrm flipH="false" flipV="false" rot="0">
              <a:off x="0" y="0"/>
              <a:ext cx="2081830" cy="640601"/>
            </a:xfrm>
            <a:custGeom>
              <a:avLst/>
              <a:gdLst/>
              <a:ahLst/>
              <a:cxnLst/>
              <a:rect r="r" b="b" t="t" l="l"/>
              <a:pathLst>
                <a:path h="640601" w="2081830">
                  <a:moveTo>
                    <a:pt x="49951" y="0"/>
                  </a:moveTo>
                  <a:lnTo>
                    <a:pt x="2031878" y="0"/>
                  </a:lnTo>
                  <a:cubicBezTo>
                    <a:pt x="2059466" y="0"/>
                    <a:pt x="2081830" y="22364"/>
                    <a:pt x="2081830" y="49951"/>
                  </a:cubicBezTo>
                  <a:lnTo>
                    <a:pt x="2081830" y="590650"/>
                  </a:lnTo>
                  <a:cubicBezTo>
                    <a:pt x="2081830" y="618237"/>
                    <a:pt x="2059466" y="640601"/>
                    <a:pt x="2031878" y="640601"/>
                  </a:cubicBezTo>
                  <a:lnTo>
                    <a:pt x="49951" y="640601"/>
                  </a:lnTo>
                  <a:cubicBezTo>
                    <a:pt x="22364" y="640601"/>
                    <a:pt x="0" y="618237"/>
                    <a:pt x="0" y="590650"/>
                  </a:cubicBezTo>
                  <a:lnTo>
                    <a:pt x="0" y="49951"/>
                  </a:lnTo>
                  <a:cubicBezTo>
                    <a:pt x="0" y="22364"/>
                    <a:pt x="22364" y="0"/>
                    <a:pt x="49951" y="0"/>
                  </a:cubicBezTo>
                  <a:close/>
                </a:path>
              </a:pathLst>
            </a:custGeom>
            <a:solidFill>
              <a:srgbClr val="1A0E79"/>
            </a:solidFill>
            <a:ln w="38100" cap="rnd">
              <a:solidFill>
                <a:srgbClr val="FFC857"/>
              </a:solidFill>
              <a:prstDash val="solid"/>
              <a:round/>
            </a:ln>
          </p:spPr>
        </p:sp>
        <p:sp>
          <p:nvSpPr>
            <p:cNvPr name="TextBox 9" id="9"/>
            <p:cNvSpPr txBox="true"/>
            <p:nvPr/>
          </p:nvSpPr>
          <p:spPr>
            <a:xfrm>
              <a:off x="0" y="-57150"/>
              <a:ext cx="2081830" cy="697751"/>
            </a:xfrm>
            <a:prstGeom prst="rect">
              <a:avLst/>
            </a:prstGeom>
          </p:spPr>
          <p:txBody>
            <a:bodyPr anchor="ctr" rtlCol="false" tIns="50800" lIns="50800" bIns="50800" rIns="50800"/>
            <a:lstStyle/>
            <a:p>
              <a:pPr algn="ctr">
                <a:lnSpc>
                  <a:spcPts val="2952"/>
                </a:lnSpc>
              </a:pPr>
            </a:p>
          </p:txBody>
        </p:sp>
      </p:grpSp>
      <p:sp>
        <p:nvSpPr>
          <p:cNvPr name="Freeform 10" id="10"/>
          <p:cNvSpPr/>
          <p:nvPr/>
        </p:nvSpPr>
        <p:spPr>
          <a:xfrm flipH="false" flipV="false" rot="0">
            <a:off x="13307076" y="898955"/>
            <a:ext cx="3674307" cy="3614182"/>
          </a:xfrm>
          <a:custGeom>
            <a:avLst/>
            <a:gdLst/>
            <a:ahLst/>
            <a:cxnLst/>
            <a:rect r="r" b="b" t="t" l="l"/>
            <a:pathLst>
              <a:path h="3614182" w="3674307">
                <a:moveTo>
                  <a:pt x="0" y="0"/>
                </a:moveTo>
                <a:lnTo>
                  <a:pt x="3674307" y="0"/>
                </a:lnTo>
                <a:lnTo>
                  <a:pt x="3674307" y="3614182"/>
                </a:lnTo>
                <a:lnTo>
                  <a:pt x="0" y="36141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9354853" y="4121305"/>
            <a:ext cx="7904447" cy="2432283"/>
            <a:chOff x="0" y="0"/>
            <a:chExt cx="2081830" cy="640601"/>
          </a:xfrm>
        </p:grpSpPr>
        <p:sp>
          <p:nvSpPr>
            <p:cNvPr name="Freeform 12" id="12"/>
            <p:cNvSpPr/>
            <p:nvPr/>
          </p:nvSpPr>
          <p:spPr>
            <a:xfrm flipH="false" flipV="false" rot="0">
              <a:off x="0" y="0"/>
              <a:ext cx="2081830" cy="640601"/>
            </a:xfrm>
            <a:custGeom>
              <a:avLst/>
              <a:gdLst/>
              <a:ahLst/>
              <a:cxnLst/>
              <a:rect r="r" b="b" t="t" l="l"/>
              <a:pathLst>
                <a:path h="640601" w="2081830">
                  <a:moveTo>
                    <a:pt x="49951" y="0"/>
                  </a:moveTo>
                  <a:lnTo>
                    <a:pt x="2031878" y="0"/>
                  </a:lnTo>
                  <a:cubicBezTo>
                    <a:pt x="2059466" y="0"/>
                    <a:pt x="2081830" y="22364"/>
                    <a:pt x="2081830" y="49951"/>
                  </a:cubicBezTo>
                  <a:lnTo>
                    <a:pt x="2081830" y="590650"/>
                  </a:lnTo>
                  <a:cubicBezTo>
                    <a:pt x="2081830" y="618237"/>
                    <a:pt x="2059466" y="640601"/>
                    <a:pt x="2031878" y="640601"/>
                  </a:cubicBezTo>
                  <a:lnTo>
                    <a:pt x="49951" y="640601"/>
                  </a:lnTo>
                  <a:cubicBezTo>
                    <a:pt x="22364" y="640601"/>
                    <a:pt x="0" y="618237"/>
                    <a:pt x="0" y="590650"/>
                  </a:cubicBezTo>
                  <a:lnTo>
                    <a:pt x="0" y="49951"/>
                  </a:lnTo>
                  <a:cubicBezTo>
                    <a:pt x="0" y="22364"/>
                    <a:pt x="22364" y="0"/>
                    <a:pt x="49951" y="0"/>
                  </a:cubicBezTo>
                  <a:close/>
                </a:path>
              </a:pathLst>
            </a:custGeom>
            <a:solidFill>
              <a:srgbClr val="1A0E79"/>
            </a:solidFill>
            <a:ln w="38100" cap="rnd">
              <a:solidFill>
                <a:srgbClr val="FFC857"/>
              </a:solidFill>
              <a:prstDash val="solid"/>
              <a:round/>
            </a:ln>
          </p:spPr>
        </p:sp>
        <p:sp>
          <p:nvSpPr>
            <p:cNvPr name="TextBox 13" id="13"/>
            <p:cNvSpPr txBox="true"/>
            <p:nvPr/>
          </p:nvSpPr>
          <p:spPr>
            <a:xfrm>
              <a:off x="0" y="-57150"/>
              <a:ext cx="2081830" cy="697751"/>
            </a:xfrm>
            <a:prstGeom prst="rect">
              <a:avLst/>
            </a:prstGeom>
          </p:spPr>
          <p:txBody>
            <a:bodyPr anchor="ctr" rtlCol="false" tIns="50800" lIns="50800" bIns="50800" rIns="50800"/>
            <a:lstStyle/>
            <a:p>
              <a:pPr algn="ctr">
                <a:lnSpc>
                  <a:spcPts val="2952"/>
                </a:lnSpc>
              </a:pPr>
            </a:p>
          </p:txBody>
        </p:sp>
      </p:grpSp>
      <p:grpSp>
        <p:nvGrpSpPr>
          <p:cNvPr name="Group 14" id="14"/>
          <p:cNvGrpSpPr/>
          <p:nvPr/>
        </p:nvGrpSpPr>
        <p:grpSpPr>
          <a:xfrm rot="0">
            <a:off x="9354853" y="6826017"/>
            <a:ext cx="7904447" cy="2432283"/>
            <a:chOff x="0" y="0"/>
            <a:chExt cx="2081830" cy="640601"/>
          </a:xfrm>
        </p:grpSpPr>
        <p:sp>
          <p:nvSpPr>
            <p:cNvPr name="Freeform 15" id="15"/>
            <p:cNvSpPr/>
            <p:nvPr/>
          </p:nvSpPr>
          <p:spPr>
            <a:xfrm flipH="false" flipV="false" rot="0">
              <a:off x="0" y="0"/>
              <a:ext cx="2081830" cy="640601"/>
            </a:xfrm>
            <a:custGeom>
              <a:avLst/>
              <a:gdLst/>
              <a:ahLst/>
              <a:cxnLst/>
              <a:rect r="r" b="b" t="t" l="l"/>
              <a:pathLst>
                <a:path h="640601" w="2081830">
                  <a:moveTo>
                    <a:pt x="49951" y="0"/>
                  </a:moveTo>
                  <a:lnTo>
                    <a:pt x="2031878" y="0"/>
                  </a:lnTo>
                  <a:cubicBezTo>
                    <a:pt x="2059466" y="0"/>
                    <a:pt x="2081830" y="22364"/>
                    <a:pt x="2081830" y="49951"/>
                  </a:cubicBezTo>
                  <a:lnTo>
                    <a:pt x="2081830" y="590650"/>
                  </a:lnTo>
                  <a:cubicBezTo>
                    <a:pt x="2081830" y="618237"/>
                    <a:pt x="2059466" y="640601"/>
                    <a:pt x="2031878" y="640601"/>
                  </a:cubicBezTo>
                  <a:lnTo>
                    <a:pt x="49951" y="640601"/>
                  </a:lnTo>
                  <a:cubicBezTo>
                    <a:pt x="22364" y="640601"/>
                    <a:pt x="0" y="618237"/>
                    <a:pt x="0" y="590650"/>
                  </a:cubicBezTo>
                  <a:lnTo>
                    <a:pt x="0" y="49951"/>
                  </a:lnTo>
                  <a:cubicBezTo>
                    <a:pt x="0" y="22364"/>
                    <a:pt x="22364" y="0"/>
                    <a:pt x="49951" y="0"/>
                  </a:cubicBezTo>
                  <a:close/>
                </a:path>
              </a:pathLst>
            </a:custGeom>
            <a:solidFill>
              <a:srgbClr val="1A0E79"/>
            </a:solidFill>
            <a:ln w="38100" cap="rnd">
              <a:solidFill>
                <a:srgbClr val="FFC857"/>
              </a:solidFill>
              <a:prstDash val="solid"/>
              <a:round/>
            </a:ln>
          </p:spPr>
        </p:sp>
        <p:sp>
          <p:nvSpPr>
            <p:cNvPr name="TextBox 16" id="16"/>
            <p:cNvSpPr txBox="true"/>
            <p:nvPr/>
          </p:nvSpPr>
          <p:spPr>
            <a:xfrm>
              <a:off x="0" y="-57150"/>
              <a:ext cx="2081830" cy="697751"/>
            </a:xfrm>
            <a:prstGeom prst="rect">
              <a:avLst/>
            </a:prstGeom>
          </p:spPr>
          <p:txBody>
            <a:bodyPr anchor="ctr" rtlCol="false" tIns="50800" lIns="50800" bIns="50800" rIns="50800"/>
            <a:lstStyle/>
            <a:p>
              <a:pPr algn="ctr">
                <a:lnSpc>
                  <a:spcPts val="2952"/>
                </a:lnSpc>
              </a:pPr>
            </a:p>
          </p:txBody>
        </p:sp>
      </p:grpSp>
      <p:sp>
        <p:nvSpPr>
          <p:cNvPr name="TextBox 17" id="17"/>
          <p:cNvSpPr txBox="true"/>
          <p:nvPr/>
        </p:nvSpPr>
        <p:spPr>
          <a:xfrm rot="0">
            <a:off x="9813933" y="4444869"/>
            <a:ext cx="873322" cy="1430527"/>
          </a:xfrm>
          <a:prstGeom prst="rect">
            <a:avLst/>
          </a:prstGeom>
        </p:spPr>
        <p:txBody>
          <a:bodyPr anchor="t" rtlCol="false" tIns="0" lIns="0" bIns="0" rIns="0">
            <a:spAutoFit/>
          </a:bodyPr>
          <a:lstStyle/>
          <a:p>
            <a:pPr algn="r">
              <a:lnSpc>
                <a:spcPts val="11172"/>
              </a:lnSpc>
            </a:pPr>
            <a:r>
              <a:rPr lang="en-US" b="true" sz="6572" spc="387">
                <a:solidFill>
                  <a:srgbClr val="FFC857"/>
                </a:solidFill>
                <a:latin typeface="ITC Avant Garde Gothic Bold"/>
                <a:ea typeface="ITC Avant Garde Gothic Bold"/>
                <a:cs typeface="ITC Avant Garde Gothic Bold"/>
                <a:sym typeface="ITC Avant Garde Gothic Bold"/>
              </a:rPr>
              <a:t>2</a:t>
            </a:r>
          </a:p>
        </p:txBody>
      </p:sp>
      <p:sp>
        <p:nvSpPr>
          <p:cNvPr name="TextBox 18" id="18"/>
          <p:cNvSpPr txBox="true"/>
          <p:nvPr/>
        </p:nvSpPr>
        <p:spPr>
          <a:xfrm rot="0">
            <a:off x="9813933" y="7112917"/>
            <a:ext cx="873322" cy="1430527"/>
          </a:xfrm>
          <a:prstGeom prst="rect">
            <a:avLst/>
          </a:prstGeom>
        </p:spPr>
        <p:txBody>
          <a:bodyPr anchor="t" rtlCol="false" tIns="0" lIns="0" bIns="0" rIns="0">
            <a:spAutoFit/>
          </a:bodyPr>
          <a:lstStyle/>
          <a:p>
            <a:pPr algn="r">
              <a:lnSpc>
                <a:spcPts val="11172"/>
              </a:lnSpc>
            </a:pPr>
            <a:r>
              <a:rPr lang="en-US" b="true" sz="6572" spc="387">
                <a:solidFill>
                  <a:srgbClr val="FFC857"/>
                </a:solidFill>
                <a:latin typeface="ITC Avant Garde Gothic Bold"/>
                <a:ea typeface="ITC Avant Garde Gothic Bold"/>
                <a:cs typeface="ITC Avant Garde Gothic Bold"/>
                <a:sym typeface="ITC Avant Garde Gothic Bold"/>
              </a:rPr>
              <a:t>4</a:t>
            </a:r>
          </a:p>
        </p:txBody>
      </p:sp>
      <p:sp>
        <p:nvSpPr>
          <p:cNvPr name="TextBox 19" id="19"/>
          <p:cNvSpPr txBox="true"/>
          <p:nvPr/>
        </p:nvSpPr>
        <p:spPr>
          <a:xfrm rot="0">
            <a:off x="2971402" y="4264437"/>
            <a:ext cx="5073274" cy="581025"/>
          </a:xfrm>
          <a:prstGeom prst="rect">
            <a:avLst/>
          </a:prstGeom>
        </p:spPr>
        <p:txBody>
          <a:bodyPr anchor="t" rtlCol="false" tIns="0" lIns="0" bIns="0" rIns="0">
            <a:spAutoFit/>
          </a:bodyPr>
          <a:lstStyle/>
          <a:p>
            <a:pPr algn="l" marL="0" indent="0" lvl="0">
              <a:lnSpc>
                <a:spcPts val="4200"/>
              </a:lnSpc>
              <a:spcBef>
                <a:spcPct val="0"/>
              </a:spcBef>
            </a:pPr>
            <a:r>
              <a:rPr lang="en-US" b="true" sz="3000" spc="177">
                <a:solidFill>
                  <a:srgbClr val="C7C2EF"/>
                </a:solidFill>
                <a:latin typeface="ITC Avant Garde Gothic Bold"/>
                <a:ea typeface="ITC Avant Garde Gothic Bold"/>
                <a:cs typeface="ITC Avant Garde Gothic Bold"/>
                <a:sym typeface="ITC Avant Garde Gothic Bold"/>
              </a:rPr>
              <a:t>PyTorch y TensorFlow:</a:t>
            </a:r>
          </a:p>
        </p:txBody>
      </p:sp>
      <p:sp>
        <p:nvSpPr>
          <p:cNvPr name="TextBox 20" id="20"/>
          <p:cNvSpPr txBox="true"/>
          <p:nvPr/>
        </p:nvSpPr>
        <p:spPr>
          <a:xfrm rot="0">
            <a:off x="2701095" y="6970042"/>
            <a:ext cx="5997904" cy="581025"/>
          </a:xfrm>
          <a:prstGeom prst="rect">
            <a:avLst/>
          </a:prstGeom>
        </p:spPr>
        <p:txBody>
          <a:bodyPr anchor="t" rtlCol="false" tIns="0" lIns="0" bIns="0" rIns="0">
            <a:spAutoFit/>
          </a:bodyPr>
          <a:lstStyle/>
          <a:p>
            <a:pPr algn="l" marL="0" indent="0" lvl="0">
              <a:lnSpc>
                <a:spcPts val="4200"/>
              </a:lnSpc>
              <a:spcBef>
                <a:spcPct val="0"/>
              </a:spcBef>
            </a:pPr>
            <a:r>
              <a:rPr lang="en-US" b="true" sz="3000" spc="177">
                <a:solidFill>
                  <a:srgbClr val="C7C2EF"/>
                </a:solidFill>
                <a:latin typeface="ITC Avant Garde Gothic Bold"/>
                <a:ea typeface="ITC Avant Garde Gothic Bold"/>
                <a:cs typeface="ITC Avant Garde Gothic Bold"/>
                <a:sym typeface="ITC Avant Garde Gothic Bold"/>
              </a:rPr>
              <a:t>LangChain y LlamaIndex:</a:t>
            </a:r>
          </a:p>
        </p:txBody>
      </p:sp>
      <p:sp>
        <p:nvSpPr>
          <p:cNvPr name="TextBox 21" id="21"/>
          <p:cNvSpPr txBox="true"/>
          <p:nvPr/>
        </p:nvSpPr>
        <p:spPr>
          <a:xfrm rot="0">
            <a:off x="10866446" y="4135476"/>
            <a:ext cx="5802688" cy="1114425"/>
          </a:xfrm>
          <a:prstGeom prst="rect">
            <a:avLst/>
          </a:prstGeom>
        </p:spPr>
        <p:txBody>
          <a:bodyPr anchor="t" rtlCol="false" tIns="0" lIns="0" bIns="0" rIns="0">
            <a:spAutoFit/>
          </a:bodyPr>
          <a:lstStyle/>
          <a:p>
            <a:pPr algn="l">
              <a:lnSpc>
                <a:spcPts val="4200"/>
              </a:lnSpc>
            </a:pPr>
            <a:r>
              <a:rPr lang="en-US" sz="3000" spc="177" b="true">
                <a:solidFill>
                  <a:srgbClr val="C7C2EF"/>
                </a:solidFill>
                <a:latin typeface="ITC Avant Garde Gothic Bold"/>
                <a:ea typeface="ITC Avant Garde Gothic Bold"/>
                <a:cs typeface="ITC Avant Garde Gothic Bold"/>
                <a:sym typeface="ITC Avant Garde Gothic Bold"/>
              </a:rPr>
              <a:t>Hugging Face (Transformers y Diffusers):</a:t>
            </a:r>
          </a:p>
        </p:txBody>
      </p:sp>
      <p:sp>
        <p:nvSpPr>
          <p:cNvPr name="TextBox 22" id="22"/>
          <p:cNvSpPr txBox="true"/>
          <p:nvPr/>
        </p:nvSpPr>
        <p:spPr>
          <a:xfrm rot="0">
            <a:off x="11043541" y="6839338"/>
            <a:ext cx="6494176" cy="1114425"/>
          </a:xfrm>
          <a:prstGeom prst="rect">
            <a:avLst/>
          </a:prstGeom>
        </p:spPr>
        <p:txBody>
          <a:bodyPr anchor="t" rtlCol="false" tIns="0" lIns="0" bIns="0" rIns="0">
            <a:spAutoFit/>
          </a:bodyPr>
          <a:lstStyle/>
          <a:p>
            <a:pPr algn="l">
              <a:lnSpc>
                <a:spcPts val="4200"/>
              </a:lnSpc>
            </a:pPr>
            <a:r>
              <a:rPr lang="en-US" sz="3000" spc="177" b="true">
                <a:solidFill>
                  <a:srgbClr val="C7C2EF"/>
                </a:solidFill>
                <a:latin typeface="ITC Avant Garde Gothic Bold"/>
                <a:ea typeface="ITC Avant Garde Gothic Bold"/>
                <a:cs typeface="ITC Avant Garde Gothic Bold"/>
                <a:sym typeface="ITC Avant Garde Gothic Bold"/>
              </a:rPr>
              <a:t>SDKs oficiales (OpenAI, Google GenAI, Anthropic): </a:t>
            </a:r>
          </a:p>
        </p:txBody>
      </p:sp>
      <p:sp>
        <p:nvSpPr>
          <p:cNvPr name="TextBox 23" id="23"/>
          <p:cNvSpPr txBox="true"/>
          <p:nvPr/>
        </p:nvSpPr>
        <p:spPr>
          <a:xfrm rot="0">
            <a:off x="1537663" y="4444869"/>
            <a:ext cx="666756" cy="1430527"/>
          </a:xfrm>
          <a:prstGeom prst="rect">
            <a:avLst/>
          </a:prstGeom>
        </p:spPr>
        <p:txBody>
          <a:bodyPr anchor="t" rtlCol="false" tIns="0" lIns="0" bIns="0" rIns="0">
            <a:spAutoFit/>
          </a:bodyPr>
          <a:lstStyle/>
          <a:p>
            <a:pPr algn="r">
              <a:lnSpc>
                <a:spcPts val="11172"/>
              </a:lnSpc>
            </a:pPr>
            <a:r>
              <a:rPr lang="en-US" b="true" sz="6572" spc="387">
                <a:solidFill>
                  <a:srgbClr val="FFC857"/>
                </a:solidFill>
                <a:latin typeface="ITC Avant Garde Gothic Bold"/>
                <a:ea typeface="ITC Avant Garde Gothic Bold"/>
                <a:cs typeface="ITC Avant Garde Gothic Bold"/>
                <a:sym typeface="ITC Avant Garde Gothic Bold"/>
              </a:rPr>
              <a:t>1</a:t>
            </a:r>
          </a:p>
        </p:txBody>
      </p:sp>
      <p:sp>
        <p:nvSpPr>
          <p:cNvPr name="TextBox 24" id="24"/>
          <p:cNvSpPr txBox="true"/>
          <p:nvPr/>
        </p:nvSpPr>
        <p:spPr>
          <a:xfrm rot="0">
            <a:off x="1537663" y="7112917"/>
            <a:ext cx="789473" cy="1430527"/>
          </a:xfrm>
          <a:prstGeom prst="rect">
            <a:avLst/>
          </a:prstGeom>
        </p:spPr>
        <p:txBody>
          <a:bodyPr anchor="t" rtlCol="false" tIns="0" lIns="0" bIns="0" rIns="0">
            <a:spAutoFit/>
          </a:bodyPr>
          <a:lstStyle/>
          <a:p>
            <a:pPr algn="r">
              <a:lnSpc>
                <a:spcPts val="11172"/>
              </a:lnSpc>
            </a:pPr>
            <a:r>
              <a:rPr lang="en-US" b="true" sz="6572" spc="387">
                <a:solidFill>
                  <a:srgbClr val="FFC857"/>
                </a:solidFill>
                <a:latin typeface="ITC Avant Garde Gothic Bold"/>
                <a:ea typeface="ITC Avant Garde Gothic Bold"/>
                <a:cs typeface="ITC Avant Garde Gothic Bold"/>
                <a:sym typeface="ITC Avant Garde Gothic Bold"/>
              </a:rPr>
              <a:t>3</a:t>
            </a:r>
          </a:p>
        </p:txBody>
      </p:sp>
      <p:sp>
        <p:nvSpPr>
          <p:cNvPr name="TextBox 25" id="25"/>
          <p:cNvSpPr txBox="true"/>
          <p:nvPr/>
        </p:nvSpPr>
        <p:spPr>
          <a:xfrm rot="0">
            <a:off x="1028700" y="1966906"/>
            <a:ext cx="10955762" cy="716280"/>
          </a:xfrm>
          <a:prstGeom prst="rect">
            <a:avLst/>
          </a:prstGeom>
        </p:spPr>
        <p:txBody>
          <a:bodyPr anchor="t" rtlCol="false" tIns="0" lIns="0" bIns="0" rIns="0">
            <a:spAutoFit/>
          </a:bodyPr>
          <a:lstStyle/>
          <a:p>
            <a:pPr algn="l">
              <a:lnSpc>
                <a:spcPts val="2760"/>
              </a:lnSpc>
            </a:pPr>
            <a:r>
              <a:rPr lang="en-US" sz="2000">
                <a:solidFill>
                  <a:srgbClr val="C7C2EF"/>
                </a:solidFill>
                <a:latin typeface="ITC Avant Garde Gothic"/>
                <a:ea typeface="ITC Avant Garde Gothic"/>
                <a:cs typeface="ITC Avant Garde Gothic"/>
                <a:sym typeface="ITC Avant Garde Gothic"/>
              </a:rPr>
              <a:t>El ecosistema de Python ofrece potentes recursos modulares para construir, entrenar, conectar y desplegar modelos de inteligencia artificial generativa de forma eficiente.</a:t>
            </a:r>
          </a:p>
        </p:txBody>
      </p:sp>
      <p:sp>
        <p:nvSpPr>
          <p:cNvPr name="TextBox 26" id="26"/>
          <p:cNvSpPr txBox="true"/>
          <p:nvPr/>
        </p:nvSpPr>
        <p:spPr>
          <a:xfrm rot="0">
            <a:off x="1016513" y="876300"/>
            <a:ext cx="12026108" cy="755650"/>
          </a:xfrm>
          <a:prstGeom prst="rect">
            <a:avLst/>
          </a:prstGeom>
        </p:spPr>
        <p:txBody>
          <a:bodyPr anchor="t" rtlCol="false" tIns="0" lIns="0" bIns="0" rIns="0">
            <a:spAutoFit/>
          </a:bodyPr>
          <a:lstStyle/>
          <a:p>
            <a:pPr algn="l">
              <a:lnSpc>
                <a:spcPts val="5599"/>
              </a:lnSpc>
            </a:pPr>
            <a:r>
              <a:rPr lang="en-US" sz="3999" b="true">
                <a:solidFill>
                  <a:srgbClr val="C7C2EF"/>
                </a:solidFill>
                <a:latin typeface="ITC Avant Garde Gothic Bold"/>
                <a:ea typeface="ITC Avant Garde Gothic Bold"/>
                <a:cs typeface="ITC Avant Garde Gothic Bold"/>
                <a:sym typeface="ITC Avant Garde Gothic Bold"/>
              </a:rPr>
              <a:t>Librerías y herramientas esenciales en Python</a:t>
            </a:r>
          </a:p>
        </p:txBody>
      </p:sp>
      <p:sp>
        <p:nvSpPr>
          <p:cNvPr name="TextBox 27" id="27"/>
          <p:cNvSpPr txBox="true"/>
          <p:nvPr/>
        </p:nvSpPr>
        <p:spPr>
          <a:xfrm rot="0">
            <a:off x="2971402" y="4967797"/>
            <a:ext cx="5073274" cy="1287779"/>
          </a:xfrm>
          <a:prstGeom prst="rect">
            <a:avLst/>
          </a:prstGeom>
        </p:spPr>
        <p:txBody>
          <a:bodyPr anchor="t" rtlCol="false" tIns="0" lIns="0" bIns="0" rIns="0">
            <a:spAutoFit/>
          </a:bodyPr>
          <a:lstStyle/>
          <a:p>
            <a:pPr algn="l" marL="0" indent="0" lvl="0">
              <a:lnSpc>
                <a:spcPts val="2520"/>
              </a:lnSpc>
              <a:spcBef>
                <a:spcPct val="0"/>
              </a:spcBef>
            </a:pPr>
            <a:r>
              <a:rPr lang="en-US" b="true" sz="1800" spc="106">
                <a:solidFill>
                  <a:srgbClr val="C7C2EF"/>
                </a:solidFill>
                <a:latin typeface="ITC Avant Garde Gothic Bold"/>
                <a:ea typeface="ITC Avant Garde Gothic Bold"/>
                <a:cs typeface="ITC Avant Garde Gothic Bold"/>
                <a:sym typeface="ITC Avant Garde Gothic Bold"/>
              </a:rPr>
              <a:t>Frameworks fundamentales que proveen la base matemática para diseñar, entrenar y optimizar redes neuronales profundas desde cero.</a:t>
            </a:r>
          </a:p>
        </p:txBody>
      </p:sp>
      <p:sp>
        <p:nvSpPr>
          <p:cNvPr name="TextBox 28" id="28"/>
          <p:cNvSpPr txBox="true"/>
          <p:nvPr/>
        </p:nvSpPr>
        <p:spPr>
          <a:xfrm rot="0">
            <a:off x="11043541" y="5239761"/>
            <a:ext cx="6080605" cy="1204594"/>
          </a:xfrm>
          <a:prstGeom prst="rect">
            <a:avLst/>
          </a:prstGeom>
        </p:spPr>
        <p:txBody>
          <a:bodyPr anchor="t" rtlCol="false" tIns="0" lIns="0" bIns="0" rIns="0">
            <a:spAutoFit/>
          </a:bodyPr>
          <a:lstStyle/>
          <a:p>
            <a:pPr algn="l" marL="0" indent="0" lvl="0">
              <a:lnSpc>
                <a:spcPts val="2380"/>
              </a:lnSpc>
              <a:spcBef>
                <a:spcPct val="0"/>
              </a:spcBef>
            </a:pPr>
            <a:r>
              <a:rPr lang="en-US" b="true" sz="1700" spc="100">
                <a:solidFill>
                  <a:srgbClr val="C7C2EF"/>
                </a:solidFill>
                <a:latin typeface="ITC Avant Garde Gothic Bold"/>
                <a:ea typeface="ITC Avant Garde Gothic Bold"/>
                <a:cs typeface="ITC Avant Garde Gothic Bold"/>
                <a:sym typeface="ITC Avant Garde Gothic Bold"/>
              </a:rPr>
              <a:t>Bibliotecas estándar para descargar, adaptar (fine-tune) y ejecutar modelos avanzados de lenguaje y generación de imágenes con pocas líneas de código.</a:t>
            </a:r>
          </a:p>
        </p:txBody>
      </p:sp>
      <p:sp>
        <p:nvSpPr>
          <p:cNvPr name="TextBox 29" id="29"/>
          <p:cNvSpPr txBox="true"/>
          <p:nvPr/>
        </p:nvSpPr>
        <p:spPr>
          <a:xfrm rot="0">
            <a:off x="2701095" y="7684417"/>
            <a:ext cx="6080605" cy="1204594"/>
          </a:xfrm>
          <a:prstGeom prst="rect">
            <a:avLst/>
          </a:prstGeom>
        </p:spPr>
        <p:txBody>
          <a:bodyPr anchor="t" rtlCol="false" tIns="0" lIns="0" bIns="0" rIns="0">
            <a:spAutoFit/>
          </a:bodyPr>
          <a:lstStyle/>
          <a:p>
            <a:pPr algn="l" marL="0" indent="0" lvl="0">
              <a:lnSpc>
                <a:spcPts val="2380"/>
              </a:lnSpc>
              <a:spcBef>
                <a:spcPct val="0"/>
              </a:spcBef>
            </a:pPr>
            <a:r>
              <a:rPr lang="en-US" b="true" sz="1700" spc="100">
                <a:solidFill>
                  <a:srgbClr val="C7C2EF"/>
                </a:solidFill>
                <a:latin typeface="ITC Avant Garde Gothic Bold"/>
                <a:ea typeface="ITC Avant Garde Gothic Bold"/>
                <a:cs typeface="ITC Avant Garde Gothic Bold"/>
                <a:sym typeface="ITC Avant Garde Gothic Bold"/>
              </a:rPr>
              <a:t>Marcos de trabajo especializados que permiten conectar modelos generativos con fuentes de datos externas y construir agentes autónomos avanzados.</a:t>
            </a:r>
          </a:p>
        </p:txBody>
      </p:sp>
      <p:sp>
        <p:nvSpPr>
          <p:cNvPr name="TextBox 30" id="30"/>
          <p:cNvSpPr txBox="true"/>
          <p:nvPr/>
        </p:nvSpPr>
        <p:spPr>
          <a:xfrm rot="0">
            <a:off x="11043541" y="8034725"/>
            <a:ext cx="6080605" cy="909319"/>
          </a:xfrm>
          <a:prstGeom prst="rect">
            <a:avLst/>
          </a:prstGeom>
        </p:spPr>
        <p:txBody>
          <a:bodyPr anchor="t" rtlCol="false" tIns="0" lIns="0" bIns="0" rIns="0">
            <a:spAutoFit/>
          </a:bodyPr>
          <a:lstStyle/>
          <a:p>
            <a:pPr algn="l" marL="0" indent="0" lvl="0">
              <a:lnSpc>
                <a:spcPts val="2380"/>
              </a:lnSpc>
              <a:spcBef>
                <a:spcPct val="0"/>
              </a:spcBef>
            </a:pPr>
            <a:r>
              <a:rPr lang="en-US" b="true" sz="1700" spc="100">
                <a:solidFill>
                  <a:srgbClr val="C7C2EF"/>
                </a:solidFill>
                <a:latin typeface="ITC Avant Garde Gothic Bold"/>
                <a:ea typeface="ITC Avant Garde Gothic Bold"/>
                <a:cs typeface="ITC Avant Garde Gothic Bold"/>
                <a:sym typeface="ITC Avant Garde Gothic Bold"/>
              </a:rPr>
              <a:t>Interfaces para integrar capacidades conversacionales y multimodales directamente en software empresarial mediante APIs seguras.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sp>
        <p:nvSpPr>
          <p:cNvPr name="Freeform 2" id="2"/>
          <p:cNvSpPr/>
          <p:nvPr/>
        </p:nvSpPr>
        <p:spPr>
          <a:xfrm flipH="false" flipV="false" rot="-257410">
            <a:off x="14670049" y="-281090"/>
            <a:ext cx="4409919" cy="4244547"/>
          </a:xfrm>
          <a:custGeom>
            <a:avLst/>
            <a:gdLst/>
            <a:ahLst/>
            <a:cxnLst/>
            <a:rect r="r" b="b" t="t" l="l"/>
            <a:pathLst>
              <a:path h="4244547" w="4409919">
                <a:moveTo>
                  <a:pt x="0" y="0"/>
                </a:moveTo>
                <a:lnTo>
                  <a:pt x="4409919" y="0"/>
                </a:lnTo>
                <a:lnTo>
                  <a:pt x="4409919" y="4244547"/>
                </a:lnTo>
                <a:lnTo>
                  <a:pt x="0" y="42445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230232" y="1502131"/>
            <a:ext cx="8029068" cy="2267902"/>
            <a:chOff x="0" y="0"/>
            <a:chExt cx="10705424" cy="3023869"/>
          </a:xfrm>
        </p:grpSpPr>
        <p:grpSp>
          <p:nvGrpSpPr>
            <p:cNvPr name="Group 4" id="4"/>
            <p:cNvGrpSpPr/>
            <p:nvPr/>
          </p:nvGrpSpPr>
          <p:grpSpPr>
            <a:xfrm rot="0">
              <a:off x="0" y="0"/>
              <a:ext cx="10705424" cy="3023869"/>
              <a:chOff x="0" y="0"/>
              <a:chExt cx="2114652" cy="597308"/>
            </a:xfrm>
          </p:grpSpPr>
          <p:sp>
            <p:nvSpPr>
              <p:cNvPr name="Freeform 5" id="5"/>
              <p:cNvSpPr/>
              <p:nvPr/>
            </p:nvSpPr>
            <p:spPr>
              <a:xfrm flipH="false" flipV="false" rot="0">
                <a:off x="0" y="0"/>
                <a:ext cx="2114652" cy="597308"/>
              </a:xfrm>
              <a:custGeom>
                <a:avLst/>
                <a:gdLst/>
                <a:ahLst/>
                <a:cxnLst/>
                <a:rect r="r" b="b" t="t" l="l"/>
                <a:pathLst>
                  <a:path h="597308" w="2114652">
                    <a:moveTo>
                      <a:pt x="49176" y="0"/>
                    </a:moveTo>
                    <a:lnTo>
                      <a:pt x="2065476" y="0"/>
                    </a:lnTo>
                    <a:cubicBezTo>
                      <a:pt x="2078518" y="0"/>
                      <a:pt x="2091026" y="5181"/>
                      <a:pt x="2100248" y="14403"/>
                    </a:cubicBezTo>
                    <a:cubicBezTo>
                      <a:pt x="2109471" y="23626"/>
                      <a:pt x="2114652" y="36134"/>
                      <a:pt x="2114652" y="49176"/>
                    </a:cubicBezTo>
                    <a:lnTo>
                      <a:pt x="2114652" y="548131"/>
                    </a:lnTo>
                    <a:cubicBezTo>
                      <a:pt x="2114652" y="561174"/>
                      <a:pt x="2109471" y="573682"/>
                      <a:pt x="2100248" y="582904"/>
                    </a:cubicBezTo>
                    <a:cubicBezTo>
                      <a:pt x="2091026" y="592127"/>
                      <a:pt x="2078518" y="597308"/>
                      <a:pt x="2065476" y="597308"/>
                    </a:cubicBezTo>
                    <a:lnTo>
                      <a:pt x="49176" y="597308"/>
                    </a:lnTo>
                    <a:cubicBezTo>
                      <a:pt x="36134" y="597308"/>
                      <a:pt x="23626" y="592127"/>
                      <a:pt x="14403" y="582904"/>
                    </a:cubicBezTo>
                    <a:cubicBezTo>
                      <a:pt x="5181" y="573682"/>
                      <a:pt x="0" y="561174"/>
                      <a:pt x="0" y="548131"/>
                    </a:cubicBezTo>
                    <a:lnTo>
                      <a:pt x="0" y="49176"/>
                    </a:lnTo>
                    <a:cubicBezTo>
                      <a:pt x="0" y="36134"/>
                      <a:pt x="5181" y="23626"/>
                      <a:pt x="14403" y="14403"/>
                    </a:cubicBezTo>
                    <a:cubicBezTo>
                      <a:pt x="23626" y="5181"/>
                      <a:pt x="36134" y="0"/>
                      <a:pt x="49176" y="0"/>
                    </a:cubicBezTo>
                    <a:close/>
                  </a:path>
                </a:pathLst>
              </a:custGeom>
              <a:solidFill>
                <a:srgbClr val="1A0E79"/>
              </a:solidFill>
              <a:ln w="38100" cap="rnd">
                <a:solidFill>
                  <a:srgbClr val="FFC857"/>
                </a:solidFill>
                <a:prstDash val="solid"/>
                <a:round/>
              </a:ln>
            </p:spPr>
          </p:sp>
          <p:sp>
            <p:nvSpPr>
              <p:cNvPr name="TextBox 6" id="6"/>
              <p:cNvSpPr txBox="true"/>
              <p:nvPr/>
            </p:nvSpPr>
            <p:spPr>
              <a:xfrm>
                <a:off x="0" y="-9525"/>
                <a:ext cx="2114652" cy="606833"/>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7" id="7"/>
            <p:cNvSpPr txBox="true"/>
            <p:nvPr/>
          </p:nvSpPr>
          <p:spPr>
            <a:xfrm rot="0">
              <a:off x="615248" y="350612"/>
              <a:ext cx="9735453" cy="572770"/>
            </a:xfrm>
            <a:prstGeom prst="rect">
              <a:avLst/>
            </a:prstGeom>
          </p:spPr>
          <p:txBody>
            <a:bodyPr anchor="t" rtlCol="false" tIns="0" lIns="0" bIns="0" rIns="0">
              <a:spAutoFit/>
            </a:bodyPr>
            <a:lstStyle/>
            <a:p>
              <a:pPr algn="l">
                <a:lnSpc>
                  <a:spcPts val="3359"/>
                </a:lnSpc>
              </a:pPr>
              <a:r>
                <a:rPr lang="en-US" b="true" sz="2400" spc="141">
                  <a:solidFill>
                    <a:srgbClr val="FFC857"/>
                  </a:solidFill>
                  <a:latin typeface="ITC Avant Garde Gothic Bold"/>
                  <a:ea typeface="ITC Avant Garde Gothic Bold"/>
                  <a:cs typeface="ITC Avant Garde Gothic Bold"/>
                  <a:sym typeface="ITC Avant Garde Gothic Bold"/>
                </a:rPr>
                <a:t>FASE 1 - RECOPILACIÓN</a:t>
              </a:r>
            </a:p>
          </p:txBody>
        </p:sp>
        <p:sp>
          <p:nvSpPr>
            <p:cNvPr name="TextBox 8" id="8"/>
            <p:cNvSpPr txBox="true"/>
            <p:nvPr/>
          </p:nvSpPr>
          <p:spPr>
            <a:xfrm rot="0">
              <a:off x="615248" y="1191167"/>
              <a:ext cx="9735453" cy="1386840"/>
            </a:xfrm>
            <a:prstGeom prst="rect">
              <a:avLst/>
            </a:prstGeom>
          </p:spPr>
          <p:txBody>
            <a:bodyPr anchor="t" rtlCol="false" tIns="0" lIns="0" bIns="0" rIns="0">
              <a:spAutoFit/>
            </a:bodyPr>
            <a:lstStyle/>
            <a:p>
              <a:pPr algn="l">
                <a:lnSpc>
                  <a:spcPts val="2760"/>
                </a:lnSpc>
              </a:pPr>
              <a:r>
                <a:rPr lang="en-US" sz="2000">
                  <a:solidFill>
                    <a:srgbClr val="C7C2EF"/>
                  </a:solidFill>
                  <a:latin typeface="ITC Avant Garde Gothic"/>
                  <a:ea typeface="ITC Avant Garde Gothic"/>
                  <a:cs typeface="ITC Avant Garde Gothic"/>
                  <a:sym typeface="ITC Avant Garde Gothic"/>
                </a:rPr>
                <a:t>Se recopilan volúmenes masivos de información de internet (texto, imágenes o código) y se depuran para eliminar duplicados, datos personales y contenido tóxico.</a:t>
              </a:r>
            </a:p>
          </p:txBody>
        </p:sp>
      </p:grpSp>
      <p:grpSp>
        <p:nvGrpSpPr>
          <p:cNvPr name="Group 9" id="9"/>
          <p:cNvGrpSpPr/>
          <p:nvPr/>
        </p:nvGrpSpPr>
        <p:grpSpPr>
          <a:xfrm rot="0">
            <a:off x="9230232" y="3961054"/>
            <a:ext cx="8029068" cy="2953702"/>
            <a:chOff x="0" y="0"/>
            <a:chExt cx="10705424" cy="3938269"/>
          </a:xfrm>
        </p:grpSpPr>
        <p:grpSp>
          <p:nvGrpSpPr>
            <p:cNvPr name="Group 10" id="10"/>
            <p:cNvGrpSpPr/>
            <p:nvPr/>
          </p:nvGrpSpPr>
          <p:grpSpPr>
            <a:xfrm rot="0">
              <a:off x="0" y="0"/>
              <a:ext cx="10705424" cy="3938269"/>
              <a:chOff x="0" y="0"/>
              <a:chExt cx="2114652" cy="777930"/>
            </a:xfrm>
          </p:grpSpPr>
          <p:sp>
            <p:nvSpPr>
              <p:cNvPr name="Freeform 11" id="11"/>
              <p:cNvSpPr/>
              <p:nvPr/>
            </p:nvSpPr>
            <p:spPr>
              <a:xfrm flipH="false" flipV="false" rot="0">
                <a:off x="0" y="0"/>
                <a:ext cx="2114652" cy="777930"/>
              </a:xfrm>
              <a:custGeom>
                <a:avLst/>
                <a:gdLst/>
                <a:ahLst/>
                <a:cxnLst/>
                <a:rect r="r" b="b" t="t" l="l"/>
                <a:pathLst>
                  <a:path h="777930" w="2114652">
                    <a:moveTo>
                      <a:pt x="49176" y="0"/>
                    </a:moveTo>
                    <a:lnTo>
                      <a:pt x="2065476" y="0"/>
                    </a:lnTo>
                    <a:cubicBezTo>
                      <a:pt x="2078518" y="0"/>
                      <a:pt x="2091026" y="5181"/>
                      <a:pt x="2100248" y="14403"/>
                    </a:cubicBezTo>
                    <a:cubicBezTo>
                      <a:pt x="2109471" y="23626"/>
                      <a:pt x="2114652" y="36134"/>
                      <a:pt x="2114652" y="49176"/>
                    </a:cubicBezTo>
                    <a:lnTo>
                      <a:pt x="2114652" y="728754"/>
                    </a:lnTo>
                    <a:cubicBezTo>
                      <a:pt x="2114652" y="741796"/>
                      <a:pt x="2109471" y="754304"/>
                      <a:pt x="2100248" y="763526"/>
                    </a:cubicBezTo>
                    <a:cubicBezTo>
                      <a:pt x="2091026" y="772749"/>
                      <a:pt x="2078518" y="777930"/>
                      <a:pt x="2065476" y="777930"/>
                    </a:cubicBezTo>
                    <a:lnTo>
                      <a:pt x="49176" y="777930"/>
                    </a:lnTo>
                    <a:cubicBezTo>
                      <a:pt x="36134" y="777930"/>
                      <a:pt x="23626" y="772749"/>
                      <a:pt x="14403" y="763526"/>
                    </a:cubicBezTo>
                    <a:cubicBezTo>
                      <a:pt x="5181" y="754304"/>
                      <a:pt x="0" y="741796"/>
                      <a:pt x="0" y="728754"/>
                    </a:cubicBezTo>
                    <a:lnTo>
                      <a:pt x="0" y="49176"/>
                    </a:lnTo>
                    <a:cubicBezTo>
                      <a:pt x="0" y="36134"/>
                      <a:pt x="5181" y="23626"/>
                      <a:pt x="14403" y="14403"/>
                    </a:cubicBezTo>
                    <a:cubicBezTo>
                      <a:pt x="23626" y="5181"/>
                      <a:pt x="36134" y="0"/>
                      <a:pt x="49176" y="0"/>
                    </a:cubicBezTo>
                    <a:close/>
                  </a:path>
                </a:pathLst>
              </a:custGeom>
              <a:solidFill>
                <a:srgbClr val="1A0E79"/>
              </a:solidFill>
              <a:ln w="38100" cap="rnd">
                <a:solidFill>
                  <a:srgbClr val="FFC857"/>
                </a:solidFill>
                <a:prstDash val="solid"/>
                <a:round/>
              </a:ln>
            </p:spPr>
          </p:sp>
          <p:sp>
            <p:nvSpPr>
              <p:cNvPr name="TextBox 12" id="12"/>
              <p:cNvSpPr txBox="true"/>
              <p:nvPr/>
            </p:nvSpPr>
            <p:spPr>
              <a:xfrm>
                <a:off x="0" y="-9525"/>
                <a:ext cx="2114652" cy="787455"/>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13" id="13"/>
            <p:cNvSpPr txBox="true"/>
            <p:nvPr/>
          </p:nvSpPr>
          <p:spPr>
            <a:xfrm rot="0">
              <a:off x="615248" y="350612"/>
              <a:ext cx="9735453" cy="572770"/>
            </a:xfrm>
            <a:prstGeom prst="rect">
              <a:avLst/>
            </a:prstGeom>
          </p:spPr>
          <p:txBody>
            <a:bodyPr anchor="t" rtlCol="false" tIns="0" lIns="0" bIns="0" rIns="0">
              <a:spAutoFit/>
            </a:bodyPr>
            <a:lstStyle/>
            <a:p>
              <a:pPr algn="l">
                <a:lnSpc>
                  <a:spcPts val="3359"/>
                </a:lnSpc>
              </a:pPr>
              <a:r>
                <a:rPr lang="en-US" b="true" sz="2400" spc="141">
                  <a:solidFill>
                    <a:srgbClr val="FFC857"/>
                  </a:solidFill>
                  <a:latin typeface="ITC Avant Garde Gothic Bold"/>
                  <a:ea typeface="ITC Avant Garde Gothic Bold"/>
                  <a:cs typeface="ITC Avant Garde Gothic Bold"/>
                  <a:sym typeface="ITC Avant Garde Gothic Bold"/>
                </a:rPr>
                <a:t>FASE 2 - DISEÑO Y PREENTRENAMIENTO:</a:t>
              </a:r>
            </a:p>
          </p:txBody>
        </p:sp>
        <p:sp>
          <p:nvSpPr>
            <p:cNvPr name="TextBox 14" id="14"/>
            <p:cNvSpPr txBox="true"/>
            <p:nvPr/>
          </p:nvSpPr>
          <p:spPr>
            <a:xfrm rot="0">
              <a:off x="615248" y="847182"/>
              <a:ext cx="9735453" cy="2301240"/>
            </a:xfrm>
            <a:prstGeom prst="rect">
              <a:avLst/>
            </a:prstGeom>
          </p:spPr>
          <p:txBody>
            <a:bodyPr anchor="t" rtlCol="false" tIns="0" lIns="0" bIns="0" rIns="0">
              <a:spAutoFit/>
            </a:bodyPr>
            <a:lstStyle/>
            <a:p>
              <a:pPr algn="l">
                <a:lnSpc>
                  <a:spcPts val="2760"/>
                </a:lnSpc>
              </a:pPr>
              <a:r>
                <a:rPr lang="en-US" sz="2000">
                  <a:solidFill>
                    <a:srgbClr val="C7C2EF"/>
                  </a:solidFill>
                  <a:latin typeface="ITC Avant Garde Gothic"/>
                  <a:ea typeface="ITC Avant Garde Gothic"/>
                  <a:cs typeface="ITC Avant Garde Gothic"/>
                  <a:sym typeface="ITC Avant Garde Gothic"/>
                </a:rPr>
                <a:t> Se implementa la arquitectura base —como los Transformers— y supercomputadoras con miles de GPUs procesan los datos durante semanas para que la red aprenda la probabilidad estadística y el contexto de los elementos.</a:t>
              </a:r>
            </a:p>
          </p:txBody>
        </p:sp>
      </p:grpSp>
      <p:sp>
        <p:nvSpPr>
          <p:cNvPr name="Freeform 15" id="15"/>
          <p:cNvSpPr/>
          <p:nvPr/>
        </p:nvSpPr>
        <p:spPr>
          <a:xfrm flipH="false" flipV="false" rot="-3467388">
            <a:off x="4827962" y="6935679"/>
            <a:ext cx="4409919" cy="4244547"/>
          </a:xfrm>
          <a:custGeom>
            <a:avLst/>
            <a:gdLst/>
            <a:ahLst/>
            <a:cxnLst/>
            <a:rect r="r" b="b" t="t" l="l"/>
            <a:pathLst>
              <a:path h="4244547" w="4409919">
                <a:moveTo>
                  <a:pt x="0" y="0"/>
                </a:moveTo>
                <a:lnTo>
                  <a:pt x="4409919" y="0"/>
                </a:lnTo>
                <a:lnTo>
                  <a:pt x="4409919" y="4244547"/>
                </a:lnTo>
                <a:lnTo>
                  <a:pt x="0" y="42445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9230232" y="7105256"/>
            <a:ext cx="8029068" cy="3029902"/>
            <a:chOff x="0" y="0"/>
            <a:chExt cx="10705424" cy="4039869"/>
          </a:xfrm>
        </p:grpSpPr>
        <p:grpSp>
          <p:nvGrpSpPr>
            <p:cNvPr name="Group 17" id="17"/>
            <p:cNvGrpSpPr/>
            <p:nvPr/>
          </p:nvGrpSpPr>
          <p:grpSpPr>
            <a:xfrm rot="0">
              <a:off x="0" y="0"/>
              <a:ext cx="10705424" cy="4039869"/>
              <a:chOff x="0" y="0"/>
              <a:chExt cx="2114652" cy="797999"/>
            </a:xfrm>
          </p:grpSpPr>
          <p:sp>
            <p:nvSpPr>
              <p:cNvPr name="Freeform 18" id="18"/>
              <p:cNvSpPr/>
              <p:nvPr/>
            </p:nvSpPr>
            <p:spPr>
              <a:xfrm flipH="false" flipV="false" rot="0">
                <a:off x="0" y="0"/>
                <a:ext cx="2114652" cy="797999"/>
              </a:xfrm>
              <a:custGeom>
                <a:avLst/>
                <a:gdLst/>
                <a:ahLst/>
                <a:cxnLst/>
                <a:rect r="r" b="b" t="t" l="l"/>
                <a:pathLst>
                  <a:path h="797999" w="2114652">
                    <a:moveTo>
                      <a:pt x="49176" y="0"/>
                    </a:moveTo>
                    <a:lnTo>
                      <a:pt x="2065476" y="0"/>
                    </a:lnTo>
                    <a:cubicBezTo>
                      <a:pt x="2078518" y="0"/>
                      <a:pt x="2091026" y="5181"/>
                      <a:pt x="2100248" y="14403"/>
                    </a:cubicBezTo>
                    <a:cubicBezTo>
                      <a:pt x="2109471" y="23626"/>
                      <a:pt x="2114652" y="36134"/>
                      <a:pt x="2114652" y="49176"/>
                    </a:cubicBezTo>
                    <a:lnTo>
                      <a:pt x="2114652" y="748823"/>
                    </a:lnTo>
                    <a:cubicBezTo>
                      <a:pt x="2114652" y="761865"/>
                      <a:pt x="2109471" y="774373"/>
                      <a:pt x="2100248" y="783596"/>
                    </a:cubicBezTo>
                    <a:cubicBezTo>
                      <a:pt x="2091026" y="792818"/>
                      <a:pt x="2078518" y="797999"/>
                      <a:pt x="2065476" y="797999"/>
                    </a:cubicBezTo>
                    <a:lnTo>
                      <a:pt x="49176" y="797999"/>
                    </a:lnTo>
                    <a:cubicBezTo>
                      <a:pt x="36134" y="797999"/>
                      <a:pt x="23626" y="792818"/>
                      <a:pt x="14403" y="783596"/>
                    </a:cubicBezTo>
                    <a:cubicBezTo>
                      <a:pt x="5181" y="774373"/>
                      <a:pt x="0" y="761865"/>
                      <a:pt x="0" y="748823"/>
                    </a:cubicBezTo>
                    <a:lnTo>
                      <a:pt x="0" y="49176"/>
                    </a:lnTo>
                    <a:cubicBezTo>
                      <a:pt x="0" y="36134"/>
                      <a:pt x="5181" y="23626"/>
                      <a:pt x="14403" y="14403"/>
                    </a:cubicBezTo>
                    <a:cubicBezTo>
                      <a:pt x="23626" y="5181"/>
                      <a:pt x="36134" y="0"/>
                      <a:pt x="49176" y="0"/>
                    </a:cubicBezTo>
                    <a:close/>
                  </a:path>
                </a:pathLst>
              </a:custGeom>
              <a:solidFill>
                <a:srgbClr val="1A0E79"/>
              </a:solidFill>
              <a:ln w="38100" cap="rnd">
                <a:solidFill>
                  <a:srgbClr val="FFC857"/>
                </a:solidFill>
                <a:prstDash val="solid"/>
                <a:round/>
              </a:ln>
            </p:spPr>
          </p:sp>
          <p:sp>
            <p:nvSpPr>
              <p:cNvPr name="TextBox 19" id="19"/>
              <p:cNvSpPr txBox="true"/>
              <p:nvPr/>
            </p:nvSpPr>
            <p:spPr>
              <a:xfrm>
                <a:off x="0" y="-9525"/>
                <a:ext cx="2114652" cy="807524"/>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20" id="20"/>
            <p:cNvSpPr txBox="true"/>
            <p:nvPr/>
          </p:nvSpPr>
          <p:spPr>
            <a:xfrm rot="0">
              <a:off x="615248" y="350612"/>
              <a:ext cx="9735453" cy="1131570"/>
            </a:xfrm>
            <a:prstGeom prst="rect">
              <a:avLst/>
            </a:prstGeom>
          </p:spPr>
          <p:txBody>
            <a:bodyPr anchor="t" rtlCol="false" tIns="0" lIns="0" bIns="0" rIns="0">
              <a:spAutoFit/>
            </a:bodyPr>
            <a:lstStyle/>
            <a:p>
              <a:pPr algn="l">
                <a:lnSpc>
                  <a:spcPts val="3359"/>
                </a:lnSpc>
              </a:pPr>
              <a:r>
                <a:rPr lang="en-US" b="true" sz="2400" spc="141">
                  <a:solidFill>
                    <a:srgbClr val="FFC857"/>
                  </a:solidFill>
                  <a:latin typeface="ITC Avant Garde Gothic Bold"/>
                  <a:ea typeface="ITC Avant Garde Gothic Bold"/>
                  <a:cs typeface="ITC Avant Garde Gothic Bold"/>
                  <a:sym typeface="ITC Avant Garde Gothic Bold"/>
                </a:rPr>
                <a:t>FASE 3 - AFINAMIENTO Y ALINEACIÓN (RLHF): </a:t>
              </a:r>
            </a:p>
          </p:txBody>
        </p:sp>
        <p:sp>
          <p:nvSpPr>
            <p:cNvPr name="TextBox 21" id="21"/>
            <p:cNvSpPr txBox="true"/>
            <p:nvPr/>
          </p:nvSpPr>
          <p:spPr>
            <a:xfrm rot="0">
              <a:off x="484986" y="1405982"/>
              <a:ext cx="9735453" cy="1844040"/>
            </a:xfrm>
            <a:prstGeom prst="rect">
              <a:avLst/>
            </a:prstGeom>
          </p:spPr>
          <p:txBody>
            <a:bodyPr anchor="t" rtlCol="false" tIns="0" lIns="0" bIns="0" rIns="0">
              <a:spAutoFit/>
            </a:bodyPr>
            <a:lstStyle/>
            <a:p>
              <a:pPr algn="l" marL="431801" indent="-215900" lvl="1">
                <a:lnSpc>
                  <a:spcPts val="2760"/>
                </a:lnSpc>
                <a:buFont typeface="Arial"/>
                <a:buChar char="•"/>
              </a:pPr>
              <a:r>
                <a:rPr lang="en-US" sz="2000">
                  <a:solidFill>
                    <a:srgbClr val="C7C2EF"/>
                  </a:solidFill>
                  <a:latin typeface="ITC Avant Garde Gothic"/>
                  <a:ea typeface="ITC Avant Garde Gothic"/>
                  <a:cs typeface="ITC Avant Garde Gothic"/>
                  <a:sym typeface="ITC Avant Garde Gothic"/>
                </a:rPr>
                <a:t>Se entrena al modelo mediante aprendizaje por refuerzo con retroalimentación humana para enseñarle a seguir instrucciones, responder con precisión y actuar como un asistente seguro.</a:t>
              </a:r>
            </a:p>
          </p:txBody>
        </p:sp>
      </p:grpSp>
      <p:sp>
        <p:nvSpPr>
          <p:cNvPr name="Freeform 22" id="22"/>
          <p:cNvSpPr/>
          <p:nvPr/>
        </p:nvSpPr>
        <p:spPr>
          <a:xfrm flipH="false" flipV="false" rot="0">
            <a:off x="-175304" y="6304187"/>
            <a:ext cx="5072713" cy="5072713"/>
          </a:xfrm>
          <a:custGeom>
            <a:avLst/>
            <a:gdLst/>
            <a:ahLst/>
            <a:cxnLst/>
            <a:rect r="r" b="b" t="t" l="l"/>
            <a:pathLst>
              <a:path h="5072713" w="5072713">
                <a:moveTo>
                  <a:pt x="0" y="0"/>
                </a:moveTo>
                <a:lnTo>
                  <a:pt x="5072713" y="0"/>
                </a:lnTo>
                <a:lnTo>
                  <a:pt x="5072713" y="5072713"/>
                </a:lnTo>
                <a:lnTo>
                  <a:pt x="0" y="50727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1173858" y="1587856"/>
            <a:ext cx="6499668" cy="869950"/>
          </a:xfrm>
          <a:prstGeom prst="rect">
            <a:avLst/>
          </a:prstGeom>
        </p:spPr>
        <p:txBody>
          <a:bodyPr anchor="t" rtlCol="false" tIns="0" lIns="0" bIns="0" rIns="0">
            <a:spAutoFit/>
          </a:bodyPr>
          <a:lstStyle/>
          <a:p>
            <a:pPr algn="l" marL="0" indent="0" lvl="0">
              <a:lnSpc>
                <a:spcPts val="6799"/>
              </a:lnSpc>
              <a:spcBef>
                <a:spcPct val="0"/>
              </a:spcBef>
            </a:pPr>
            <a:r>
              <a:rPr lang="en-US" b="true" sz="3999" spc="235">
                <a:solidFill>
                  <a:srgbClr val="C7C2EF"/>
                </a:solidFill>
                <a:latin typeface="ITC Avant Garde Gothic Bold"/>
                <a:ea typeface="ITC Avant Garde Gothic Bold"/>
                <a:cs typeface="ITC Avant Garde Gothic Bold"/>
                <a:sym typeface="ITC Avant Garde Gothic Bold"/>
              </a:rPr>
              <a:t>Fases de desarrollo</a:t>
            </a:r>
          </a:p>
        </p:txBody>
      </p:sp>
      <p:sp>
        <p:nvSpPr>
          <p:cNvPr name="TextBox 24" id="24"/>
          <p:cNvSpPr txBox="true"/>
          <p:nvPr/>
        </p:nvSpPr>
        <p:spPr>
          <a:xfrm rot="0">
            <a:off x="1173858" y="2652433"/>
            <a:ext cx="7019928" cy="2149475"/>
          </a:xfrm>
          <a:prstGeom prst="rect">
            <a:avLst/>
          </a:prstGeom>
        </p:spPr>
        <p:txBody>
          <a:bodyPr anchor="t" rtlCol="false" tIns="0" lIns="0" bIns="0" rIns="0">
            <a:spAutoFit/>
          </a:bodyPr>
          <a:lstStyle/>
          <a:p>
            <a:pPr algn="l" marL="0" indent="0" lvl="0">
              <a:lnSpc>
                <a:spcPts val="2800"/>
              </a:lnSpc>
              <a:spcBef>
                <a:spcPct val="0"/>
              </a:spcBef>
            </a:pPr>
            <a:r>
              <a:rPr lang="en-US" sz="2000" spc="154">
                <a:solidFill>
                  <a:srgbClr val="C7C2EF"/>
                </a:solidFill>
                <a:latin typeface="ITC Avant Garde Gothic"/>
                <a:ea typeface="ITC Avant Garde Gothic"/>
                <a:cs typeface="ITC Avant Garde Gothic"/>
                <a:sym typeface="ITC Avant Garde Gothic"/>
              </a:rPr>
              <a:t>El desar</a:t>
            </a:r>
            <a:r>
              <a:rPr lang="en-US" sz="2000" spc="154" strike="noStrike" u="none">
                <a:solidFill>
                  <a:srgbClr val="C7C2EF"/>
                </a:solidFill>
                <a:latin typeface="ITC Avant Garde Gothic"/>
                <a:ea typeface="ITC Avant Garde Gothic"/>
                <a:cs typeface="ITC Avant Garde Gothic"/>
                <a:sym typeface="ITC Avant Garde Gothic"/>
              </a:rPr>
              <a:t>rollo de un modelo de inteligencia artificial generativa es un proceso iterativo, altamente intensivo en datos y computación, que abarca desde la recopilación de información bruta hasta su despliegue en producción..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sp>
        <p:nvSpPr>
          <p:cNvPr name="Freeform 2" id="2"/>
          <p:cNvSpPr/>
          <p:nvPr/>
        </p:nvSpPr>
        <p:spPr>
          <a:xfrm flipH="false" flipV="false" rot="-257410">
            <a:off x="14670049" y="-281090"/>
            <a:ext cx="4409919" cy="4244547"/>
          </a:xfrm>
          <a:custGeom>
            <a:avLst/>
            <a:gdLst/>
            <a:ahLst/>
            <a:cxnLst/>
            <a:rect r="r" b="b" t="t" l="l"/>
            <a:pathLst>
              <a:path h="4244547" w="4409919">
                <a:moveTo>
                  <a:pt x="0" y="0"/>
                </a:moveTo>
                <a:lnTo>
                  <a:pt x="4409919" y="0"/>
                </a:lnTo>
                <a:lnTo>
                  <a:pt x="4409919" y="4244547"/>
                </a:lnTo>
                <a:lnTo>
                  <a:pt x="0" y="42445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230232" y="1502131"/>
            <a:ext cx="8029068" cy="2687002"/>
            <a:chOff x="0" y="0"/>
            <a:chExt cx="10705424" cy="3582669"/>
          </a:xfrm>
        </p:grpSpPr>
        <p:grpSp>
          <p:nvGrpSpPr>
            <p:cNvPr name="Group 4" id="4"/>
            <p:cNvGrpSpPr/>
            <p:nvPr/>
          </p:nvGrpSpPr>
          <p:grpSpPr>
            <a:xfrm rot="0">
              <a:off x="0" y="0"/>
              <a:ext cx="10705424" cy="3582669"/>
              <a:chOff x="0" y="0"/>
              <a:chExt cx="2114652" cy="707688"/>
            </a:xfrm>
          </p:grpSpPr>
          <p:sp>
            <p:nvSpPr>
              <p:cNvPr name="Freeform 5" id="5"/>
              <p:cNvSpPr/>
              <p:nvPr/>
            </p:nvSpPr>
            <p:spPr>
              <a:xfrm flipH="false" flipV="false" rot="0">
                <a:off x="0" y="0"/>
                <a:ext cx="2114652" cy="707688"/>
              </a:xfrm>
              <a:custGeom>
                <a:avLst/>
                <a:gdLst/>
                <a:ahLst/>
                <a:cxnLst/>
                <a:rect r="r" b="b" t="t" l="l"/>
                <a:pathLst>
                  <a:path h="707688" w="2114652">
                    <a:moveTo>
                      <a:pt x="49176" y="0"/>
                    </a:moveTo>
                    <a:lnTo>
                      <a:pt x="2065476" y="0"/>
                    </a:lnTo>
                    <a:cubicBezTo>
                      <a:pt x="2078518" y="0"/>
                      <a:pt x="2091026" y="5181"/>
                      <a:pt x="2100248" y="14403"/>
                    </a:cubicBezTo>
                    <a:cubicBezTo>
                      <a:pt x="2109471" y="23626"/>
                      <a:pt x="2114652" y="36134"/>
                      <a:pt x="2114652" y="49176"/>
                    </a:cubicBezTo>
                    <a:lnTo>
                      <a:pt x="2114652" y="658512"/>
                    </a:lnTo>
                    <a:cubicBezTo>
                      <a:pt x="2114652" y="671554"/>
                      <a:pt x="2109471" y="684062"/>
                      <a:pt x="2100248" y="693284"/>
                    </a:cubicBezTo>
                    <a:cubicBezTo>
                      <a:pt x="2091026" y="702507"/>
                      <a:pt x="2078518" y="707688"/>
                      <a:pt x="2065476" y="707688"/>
                    </a:cubicBezTo>
                    <a:lnTo>
                      <a:pt x="49176" y="707688"/>
                    </a:lnTo>
                    <a:cubicBezTo>
                      <a:pt x="36134" y="707688"/>
                      <a:pt x="23626" y="702507"/>
                      <a:pt x="14403" y="693284"/>
                    </a:cubicBezTo>
                    <a:cubicBezTo>
                      <a:pt x="5181" y="684062"/>
                      <a:pt x="0" y="671554"/>
                      <a:pt x="0" y="658512"/>
                    </a:cubicBezTo>
                    <a:lnTo>
                      <a:pt x="0" y="49176"/>
                    </a:lnTo>
                    <a:cubicBezTo>
                      <a:pt x="0" y="36134"/>
                      <a:pt x="5181" y="23626"/>
                      <a:pt x="14403" y="14403"/>
                    </a:cubicBezTo>
                    <a:cubicBezTo>
                      <a:pt x="23626" y="5181"/>
                      <a:pt x="36134" y="0"/>
                      <a:pt x="49176" y="0"/>
                    </a:cubicBezTo>
                    <a:close/>
                  </a:path>
                </a:pathLst>
              </a:custGeom>
              <a:solidFill>
                <a:srgbClr val="1A0E79"/>
              </a:solidFill>
              <a:ln w="38100" cap="rnd">
                <a:solidFill>
                  <a:srgbClr val="FFC857"/>
                </a:solidFill>
                <a:prstDash val="solid"/>
                <a:round/>
              </a:ln>
            </p:spPr>
          </p:sp>
          <p:sp>
            <p:nvSpPr>
              <p:cNvPr name="TextBox 6" id="6"/>
              <p:cNvSpPr txBox="true"/>
              <p:nvPr/>
            </p:nvSpPr>
            <p:spPr>
              <a:xfrm>
                <a:off x="0" y="-9525"/>
                <a:ext cx="2114652" cy="717213"/>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7" id="7"/>
            <p:cNvSpPr txBox="true"/>
            <p:nvPr/>
          </p:nvSpPr>
          <p:spPr>
            <a:xfrm rot="0">
              <a:off x="615248" y="350612"/>
              <a:ext cx="9735453" cy="1131570"/>
            </a:xfrm>
            <a:prstGeom prst="rect">
              <a:avLst/>
            </a:prstGeom>
          </p:spPr>
          <p:txBody>
            <a:bodyPr anchor="t" rtlCol="false" tIns="0" lIns="0" bIns="0" rIns="0">
              <a:spAutoFit/>
            </a:bodyPr>
            <a:lstStyle/>
            <a:p>
              <a:pPr algn="l">
                <a:lnSpc>
                  <a:spcPts val="3359"/>
                </a:lnSpc>
              </a:pPr>
              <a:r>
                <a:rPr lang="en-US" b="true" sz="2400" spc="141">
                  <a:solidFill>
                    <a:srgbClr val="FFC857"/>
                  </a:solidFill>
                  <a:latin typeface="ITC Avant Garde Gothic Bold"/>
                  <a:ea typeface="ITC Avant Garde Gothic Bold"/>
                  <a:cs typeface="ITC Avant Garde Gothic Bold"/>
                  <a:sym typeface="ITC Avant Garde Gothic Bold"/>
                </a:rPr>
                <a:t>FASE 4 - PRUEBAS DE SEGURIDAD (RED TEAMING):</a:t>
              </a:r>
            </a:p>
          </p:txBody>
        </p:sp>
        <p:sp>
          <p:nvSpPr>
            <p:cNvPr name="TextBox 8" id="8"/>
            <p:cNvSpPr txBox="true"/>
            <p:nvPr/>
          </p:nvSpPr>
          <p:spPr>
            <a:xfrm rot="0">
              <a:off x="615248" y="1749967"/>
              <a:ext cx="9735453" cy="1386840"/>
            </a:xfrm>
            <a:prstGeom prst="rect">
              <a:avLst/>
            </a:prstGeom>
          </p:spPr>
          <p:txBody>
            <a:bodyPr anchor="t" rtlCol="false" tIns="0" lIns="0" bIns="0" rIns="0">
              <a:spAutoFit/>
            </a:bodyPr>
            <a:lstStyle/>
            <a:p>
              <a:pPr algn="l">
                <a:lnSpc>
                  <a:spcPts val="2760"/>
                </a:lnSpc>
              </a:pPr>
              <a:r>
                <a:rPr lang="en-US" sz="2000">
                  <a:solidFill>
                    <a:srgbClr val="C7C2EF"/>
                  </a:solidFill>
                  <a:latin typeface="ITC Avant Garde Gothic"/>
                  <a:ea typeface="ITC Avant Garde Gothic"/>
                  <a:cs typeface="ITC Avant Garde Gothic"/>
                  <a:sym typeface="ITC Avant Garde Gothic"/>
                </a:rPr>
                <a:t>Equipos especializados evalúan el sistema de forma adversarial para detectar vulnerabilidades, mitigar alucinaciones e integrar filtros de contenido (guardrails).</a:t>
              </a:r>
            </a:p>
          </p:txBody>
        </p:sp>
      </p:grpSp>
      <p:grpSp>
        <p:nvGrpSpPr>
          <p:cNvPr name="Group 9" id="9"/>
          <p:cNvGrpSpPr/>
          <p:nvPr/>
        </p:nvGrpSpPr>
        <p:grpSpPr>
          <a:xfrm rot="0">
            <a:off x="9144000" y="4584260"/>
            <a:ext cx="8029068" cy="2267902"/>
            <a:chOff x="0" y="0"/>
            <a:chExt cx="10705424" cy="3023869"/>
          </a:xfrm>
        </p:grpSpPr>
        <p:grpSp>
          <p:nvGrpSpPr>
            <p:cNvPr name="Group 10" id="10"/>
            <p:cNvGrpSpPr/>
            <p:nvPr/>
          </p:nvGrpSpPr>
          <p:grpSpPr>
            <a:xfrm rot="0">
              <a:off x="0" y="0"/>
              <a:ext cx="10705424" cy="3023869"/>
              <a:chOff x="0" y="0"/>
              <a:chExt cx="2114652" cy="597308"/>
            </a:xfrm>
          </p:grpSpPr>
          <p:sp>
            <p:nvSpPr>
              <p:cNvPr name="Freeform 11" id="11"/>
              <p:cNvSpPr/>
              <p:nvPr/>
            </p:nvSpPr>
            <p:spPr>
              <a:xfrm flipH="false" flipV="false" rot="0">
                <a:off x="0" y="0"/>
                <a:ext cx="2114652" cy="597308"/>
              </a:xfrm>
              <a:custGeom>
                <a:avLst/>
                <a:gdLst/>
                <a:ahLst/>
                <a:cxnLst/>
                <a:rect r="r" b="b" t="t" l="l"/>
                <a:pathLst>
                  <a:path h="597308" w="2114652">
                    <a:moveTo>
                      <a:pt x="49176" y="0"/>
                    </a:moveTo>
                    <a:lnTo>
                      <a:pt x="2065476" y="0"/>
                    </a:lnTo>
                    <a:cubicBezTo>
                      <a:pt x="2078518" y="0"/>
                      <a:pt x="2091026" y="5181"/>
                      <a:pt x="2100248" y="14403"/>
                    </a:cubicBezTo>
                    <a:cubicBezTo>
                      <a:pt x="2109471" y="23626"/>
                      <a:pt x="2114652" y="36134"/>
                      <a:pt x="2114652" y="49176"/>
                    </a:cubicBezTo>
                    <a:lnTo>
                      <a:pt x="2114652" y="548131"/>
                    </a:lnTo>
                    <a:cubicBezTo>
                      <a:pt x="2114652" y="561174"/>
                      <a:pt x="2109471" y="573682"/>
                      <a:pt x="2100248" y="582904"/>
                    </a:cubicBezTo>
                    <a:cubicBezTo>
                      <a:pt x="2091026" y="592127"/>
                      <a:pt x="2078518" y="597308"/>
                      <a:pt x="2065476" y="597308"/>
                    </a:cubicBezTo>
                    <a:lnTo>
                      <a:pt x="49176" y="597308"/>
                    </a:lnTo>
                    <a:cubicBezTo>
                      <a:pt x="36134" y="597308"/>
                      <a:pt x="23626" y="592127"/>
                      <a:pt x="14403" y="582904"/>
                    </a:cubicBezTo>
                    <a:cubicBezTo>
                      <a:pt x="5181" y="573682"/>
                      <a:pt x="0" y="561174"/>
                      <a:pt x="0" y="548131"/>
                    </a:cubicBezTo>
                    <a:lnTo>
                      <a:pt x="0" y="49176"/>
                    </a:lnTo>
                    <a:cubicBezTo>
                      <a:pt x="0" y="36134"/>
                      <a:pt x="5181" y="23626"/>
                      <a:pt x="14403" y="14403"/>
                    </a:cubicBezTo>
                    <a:cubicBezTo>
                      <a:pt x="23626" y="5181"/>
                      <a:pt x="36134" y="0"/>
                      <a:pt x="49176" y="0"/>
                    </a:cubicBezTo>
                    <a:close/>
                  </a:path>
                </a:pathLst>
              </a:custGeom>
              <a:solidFill>
                <a:srgbClr val="1A0E79"/>
              </a:solidFill>
              <a:ln w="38100" cap="rnd">
                <a:solidFill>
                  <a:srgbClr val="FFC857"/>
                </a:solidFill>
                <a:prstDash val="solid"/>
                <a:round/>
              </a:ln>
            </p:spPr>
          </p:sp>
          <p:sp>
            <p:nvSpPr>
              <p:cNvPr name="TextBox 12" id="12"/>
              <p:cNvSpPr txBox="true"/>
              <p:nvPr/>
            </p:nvSpPr>
            <p:spPr>
              <a:xfrm>
                <a:off x="0" y="-9525"/>
                <a:ext cx="2114652" cy="606833"/>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TextBox 13" id="13"/>
            <p:cNvSpPr txBox="true"/>
            <p:nvPr/>
          </p:nvSpPr>
          <p:spPr>
            <a:xfrm rot="0">
              <a:off x="615248" y="350612"/>
              <a:ext cx="9735453" cy="572770"/>
            </a:xfrm>
            <a:prstGeom prst="rect">
              <a:avLst/>
            </a:prstGeom>
          </p:spPr>
          <p:txBody>
            <a:bodyPr anchor="t" rtlCol="false" tIns="0" lIns="0" bIns="0" rIns="0">
              <a:spAutoFit/>
            </a:bodyPr>
            <a:lstStyle/>
            <a:p>
              <a:pPr algn="l">
                <a:lnSpc>
                  <a:spcPts val="3359"/>
                </a:lnSpc>
              </a:pPr>
              <a:r>
                <a:rPr lang="en-US" b="true" sz="2400" spc="141">
                  <a:solidFill>
                    <a:srgbClr val="FFC857"/>
                  </a:solidFill>
                  <a:latin typeface="ITC Avant Garde Gothic Bold"/>
                  <a:ea typeface="ITC Avant Garde Gothic Bold"/>
                  <a:cs typeface="ITC Avant Garde Gothic Bold"/>
                  <a:sym typeface="ITC Avant Garde Gothic Bold"/>
                </a:rPr>
                <a:t>FASE 5 - DESPLIEGUE Y OPTIMIZACIÓN:</a:t>
              </a:r>
            </a:p>
          </p:txBody>
        </p:sp>
        <p:sp>
          <p:nvSpPr>
            <p:cNvPr name="TextBox 14" id="14"/>
            <p:cNvSpPr txBox="true"/>
            <p:nvPr/>
          </p:nvSpPr>
          <p:spPr>
            <a:xfrm rot="0">
              <a:off x="615248" y="847182"/>
              <a:ext cx="9735453" cy="1386840"/>
            </a:xfrm>
            <a:prstGeom prst="rect">
              <a:avLst/>
            </a:prstGeom>
          </p:spPr>
          <p:txBody>
            <a:bodyPr anchor="t" rtlCol="false" tIns="0" lIns="0" bIns="0" rIns="0">
              <a:spAutoFit/>
            </a:bodyPr>
            <a:lstStyle/>
            <a:p>
              <a:pPr algn="l">
                <a:lnSpc>
                  <a:spcPts val="2760"/>
                </a:lnSpc>
              </a:pPr>
              <a:r>
                <a:rPr lang="en-US" sz="2000">
                  <a:solidFill>
                    <a:srgbClr val="C7C2EF"/>
                  </a:solidFill>
                  <a:latin typeface="ITC Avant Garde Gothic"/>
                  <a:ea typeface="ITC Avant Garde Gothic"/>
                  <a:cs typeface="ITC Avant Garde Gothic"/>
                  <a:sym typeface="ITC Avant Garde Gothic"/>
                </a:rPr>
                <a:t>El modelo se comprime para optimizar su rendimiento y se integra en aplicaciones comerciales o entornos de Python mediante APIs escalables.</a:t>
              </a:r>
            </a:p>
          </p:txBody>
        </p:sp>
      </p:grpSp>
      <p:sp>
        <p:nvSpPr>
          <p:cNvPr name="Freeform 15" id="15"/>
          <p:cNvSpPr/>
          <p:nvPr/>
        </p:nvSpPr>
        <p:spPr>
          <a:xfrm flipH="false" flipV="false" rot="-3467388">
            <a:off x="4827962" y="6935679"/>
            <a:ext cx="4409919" cy="4244547"/>
          </a:xfrm>
          <a:custGeom>
            <a:avLst/>
            <a:gdLst/>
            <a:ahLst/>
            <a:cxnLst/>
            <a:rect r="r" b="b" t="t" l="l"/>
            <a:pathLst>
              <a:path h="4244547" w="4409919">
                <a:moveTo>
                  <a:pt x="0" y="0"/>
                </a:moveTo>
                <a:lnTo>
                  <a:pt x="4409919" y="0"/>
                </a:lnTo>
                <a:lnTo>
                  <a:pt x="4409919" y="4244547"/>
                </a:lnTo>
                <a:lnTo>
                  <a:pt x="0" y="42445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75304" y="6304187"/>
            <a:ext cx="5072713" cy="5072713"/>
          </a:xfrm>
          <a:custGeom>
            <a:avLst/>
            <a:gdLst/>
            <a:ahLst/>
            <a:cxnLst/>
            <a:rect r="r" b="b" t="t" l="l"/>
            <a:pathLst>
              <a:path h="5072713" w="5072713">
                <a:moveTo>
                  <a:pt x="0" y="0"/>
                </a:moveTo>
                <a:lnTo>
                  <a:pt x="5072713" y="0"/>
                </a:lnTo>
                <a:lnTo>
                  <a:pt x="5072713" y="5072713"/>
                </a:lnTo>
                <a:lnTo>
                  <a:pt x="0" y="50727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173858" y="1587856"/>
            <a:ext cx="6499668" cy="869950"/>
          </a:xfrm>
          <a:prstGeom prst="rect">
            <a:avLst/>
          </a:prstGeom>
        </p:spPr>
        <p:txBody>
          <a:bodyPr anchor="t" rtlCol="false" tIns="0" lIns="0" bIns="0" rIns="0">
            <a:spAutoFit/>
          </a:bodyPr>
          <a:lstStyle/>
          <a:p>
            <a:pPr algn="l" marL="0" indent="0" lvl="0">
              <a:lnSpc>
                <a:spcPts val="6799"/>
              </a:lnSpc>
              <a:spcBef>
                <a:spcPct val="0"/>
              </a:spcBef>
            </a:pPr>
            <a:r>
              <a:rPr lang="en-US" b="true" sz="3999" spc="235">
                <a:solidFill>
                  <a:srgbClr val="C7C2EF"/>
                </a:solidFill>
                <a:latin typeface="ITC Avant Garde Gothic Bold"/>
                <a:ea typeface="ITC Avant Garde Gothic Bold"/>
                <a:cs typeface="ITC Avant Garde Gothic Bold"/>
                <a:sym typeface="ITC Avant Garde Gothic Bold"/>
              </a:rPr>
              <a:t>Fases de desarrollo</a:t>
            </a:r>
          </a:p>
        </p:txBody>
      </p:sp>
      <p:sp>
        <p:nvSpPr>
          <p:cNvPr name="TextBox 18" id="18"/>
          <p:cNvSpPr txBox="true"/>
          <p:nvPr/>
        </p:nvSpPr>
        <p:spPr>
          <a:xfrm rot="0">
            <a:off x="1173858" y="2652433"/>
            <a:ext cx="7019928" cy="2149475"/>
          </a:xfrm>
          <a:prstGeom prst="rect">
            <a:avLst/>
          </a:prstGeom>
        </p:spPr>
        <p:txBody>
          <a:bodyPr anchor="t" rtlCol="false" tIns="0" lIns="0" bIns="0" rIns="0">
            <a:spAutoFit/>
          </a:bodyPr>
          <a:lstStyle/>
          <a:p>
            <a:pPr algn="l" marL="0" indent="0" lvl="0">
              <a:lnSpc>
                <a:spcPts val="2800"/>
              </a:lnSpc>
              <a:spcBef>
                <a:spcPct val="0"/>
              </a:spcBef>
            </a:pPr>
            <a:r>
              <a:rPr lang="en-US" sz="2000" spc="154">
                <a:solidFill>
                  <a:srgbClr val="C7C2EF"/>
                </a:solidFill>
                <a:latin typeface="ITC Avant Garde Gothic"/>
                <a:ea typeface="ITC Avant Garde Gothic"/>
                <a:cs typeface="ITC Avant Garde Gothic"/>
                <a:sym typeface="ITC Avant Garde Gothic"/>
              </a:rPr>
              <a:t>El desar</a:t>
            </a:r>
            <a:r>
              <a:rPr lang="en-US" sz="2000" spc="154" strike="noStrike" u="none">
                <a:solidFill>
                  <a:srgbClr val="C7C2EF"/>
                </a:solidFill>
                <a:latin typeface="ITC Avant Garde Gothic"/>
                <a:ea typeface="ITC Avant Garde Gothic"/>
                <a:cs typeface="ITC Avant Garde Gothic"/>
                <a:sym typeface="ITC Avant Garde Gothic"/>
              </a:rPr>
              <a:t>rollo de un modelo de inteligencia artificial generativa es un proceso iterativo, altamente intensivo en datos y computación, que abarca desde la recopilación de información bruta hasta su despliegue en producción..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grpSp>
        <p:nvGrpSpPr>
          <p:cNvPr name="Group 2" id="2"/>
          <p:cNvGrpSpPr/>
          <p:nvPr/>
        </p:nvGrpSpPr>
        <p:grpSpPr>
          <a:xfrm rot="0">
            <a:off x="818371" y="2495712"/>
            <a:ext cx="5269147" cy="3420723"/>
            <a:chOff x="0" y="0"/>
            <a:chExt cx="1387759" cy="900931"/>
          </a:xfrm>
        </p:grpSpPr>
        <p:sp>
          <p:nvSpPr>
            <p:cNvPr name="Freeform 3" id="3"/>
            <p:cNvSpPr/>
            <p:nvPr/>
          </p:nvSpPr>
          <p:spPr>
            <a:xfrm flipH="false" flipV="false" rot="0">
              <a:off x="0" y="0"/>
              <a:ext cx="1387759" cy="900931"/>
            </a:xfrm>
            <a:custGeom>
              <a:avLst/>
              <a:gdLst/>
              <a:ahLst/>
              <a:cxnLst/>
              <a:rect r="r" b="b" t="t" l="l"/>
              <a:pathLst>
                <a:path h="900931" w="1387759">
                  <a:moveTo>
                    <a:pt x="74934" y="0"/>
                  </a:moveTo>
                  <a:lnTo>
                    <a:pt x="1312825" y="0"/>
                  </a:lnTo>
                  <a:cubicBezTo>
                    <a:pt x="1332699" y="0"/>
                    <a:pt x="1351758" y="7895"/>
                    <a:pt x="1365811" y="21948"/>
                  </a:cubicBezTo>
                  <a:cubicBezTo>
                    <a:pt x="1379864" y="36000"/>
                    <a:pt x="1387759" y="55060"/>
                    <a:pt x="1387759" y="74934"/>
                  </a:cubicBezTo>
                  <a:lnTo>
                    <a:pt x="1387759" y="825997"/>
                  </a:lnTo>
                  <a:cubicBezTo>
                    <a:pt x="1387759" y="845871"/>
                    <a:pt x="1379864" y="864931"/>
                    <a:pt x="1365811" y="878984"/>
                  </a:cubicBezTo>
                  <a:cubicBezTo>
                    <a:pt x="1351758" y="893036"/>
                    <a:pt x="1332699" y="900931"/>
                    <a:pt x="1312825" y="900931"/>
                  </a:cubicBezTo>
                  <a:lnTo>
                    <a:pt x="74934" y="900931"/>
                  </a:lnTo>
                  <a:cubicBezTo>
                    <a:pt x="55060" y="900931"/>
                    <a:pt x="36000" y="893036"/>
                    <a:pt x="21948" y="878984"/>
                  </a:cubicBezTo>
                  <a:cubicBezTo>
                    <a:pt x="7895" y="864931"/>
                    <a:pt x="0" y="845871"/>
                    <a:pt x="0" y="825997"/>
                  </a:cubicBezTo>
                  <a:lnTo>
                    <a:pt x="0" y="74934"/>
                  </a:lnTo>
                  <a:cubicBezTo>
                    <a:pt x="0" y="55060"/>
                    <a:pt x="7895" y="36000"/>
                    <a:pt x="21948" y="21948"/>
                  </a:cubicBezTo>
                  <a:cubicBezTo>
                    <a:pt x="36000" y="7895"/>
                    <a:pt x="55060" y="0"/>
                    <a:pt x="74934" y="0"/>
                  </a:cubicBezTo>
                  <a:close/>
                </a:path>
              </a:pathLst>
            </a:custGeom>
            <a:solidFill>
              <a:srgbClr val="1A0E79"/>
            </a:solidFill>
            <a:ln w="38100" cap="rnd">
              <a:solidFill>
                <a:srgbClr val="FFC857"/>
              </a:solidFill>
              <a:prstDash val="solid"/>
              <a:round/>
            </a:ln>
          </p:spPr>
        </p:sp>
        <p:sp>
          <p:nvSpPr>
            <p:cNvPr name="TextBox 4" id="4"/>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5" id="5"/>
          <p:cNvGrpSpPr/>
          <p:nvPr/>
        </p:nvGrpSpPr>
        <p:grpSpPr>
          <a:xfrm rot="0">
            <a:off x="818371" y="6264210"/>
            <a:ext cx="5269147" cy="3420723"/>
            <a:chOff x="0" y="0"/>
            <a:chExt cx="1387759" cy="900931"/>
          </a:xfrm>
        </p:grpSpPr>
        <p:sp>
          <p:nvSpPr>
            <p:cNvPr name="Freeform 6" id="6"/>
            <p:cNvSpPr/>
            <p:nvPr/>
          </p:nvSpPr>
          <p:spPr>
            <a:xfrm flipH="false" flipV="false" rot="0">
              <a:off x="0" y="0"/>
              <a:ext cx="1387759" cy="900931"/>
            </a:xfrm>
            <a:custGeom>
              <a:avLst/>
              <a:gdLst/>
              <a:ahLst/>
              <a:cxnLst/>
              <a:rect r="r" b="b" t="t" l="l"/>
              <a:pathLst>
                <a:path h="900931" w="1387759">
                  <a:moveTo>
                    <a:pt x="74934" y="0"/>
                  </a:moveTo>
                  <a:lnTo>
                    <a:pt x="1312825" y="0"/>
                  </a:lnTo>
                  <a:cubicBezTo>
                    <a:pt x="1332699" y="0"/>
                    <a:pt x="1351758" y="7895"/>
                    <a:pt x="1365811" y="21948"/>
                  </a:cubicBezTo>
                  <a:cubicBezTo>
                    <a:pt x="1379864" y="36000"/>
                    <a:pt x="1387759" y="55060"/>
                    <a:pt x="1387759" y="74934"/>
                  </a:cubicBezTo>
                  <a:lnTo>
                    <a:pt x="1387759" y="825997"/>
                  </a:lnTo>
                  <a:cubicBezTo>
                    <a:pt x="1387759" y="845871"/>
                    <a:pt x="1379864" y="864931"/>
                    <a:pt x="1365811" y="878984"/>
                  </a:cubicBezTo>
                  <a:cubicBezTo>
                    <a:pt x="1351758" y="893036"/>
                    <a:pt x="1332699" y="900931"/>
                    <a:pt x="1312825" y="900931"/>
                  </a:cubicBezTo>
                  <a:lnTo>
                    <a:pt x="74934" y="900931"/>
                  </a:lnTo>
                  <a:cubicBezTo>
                    <a:pt x="55060" y="900931"/>
                    <a:pt x="36000" y="893036"/>
                    <a:pt x="21948" y="878984"/>
                  </a:cubicBezTo>
                  <a:cubicBezTo>
                    <a:pt x="7895" y="864931"/>
                    <a:pt x="0" y="845871"/>
                    <a:pt x="0" y="825997"/>
                  </a:cubicBezTo>
                  <a:lnTo>
                    <a:pt x="0" y="74934"/>
                  </a:lnTo>
                  <a:cubicBezTo>
                    <a:pt x="0" y="55060"/>
                    <a:pt x="7895" y="36000"/>
                    <a:pt x="21948" y="21948"/>
                  </a:cubicBezTo>
                  <a:cubicBezTo>
                    <a:pt x="36000" y="7895"/>
                    <a:pt x="55060" y="0"/>
                    <a:pt x="74934" y="0"/>
                  </a:cubicBezTo>
                  <a:close/>
                </a:path>
              </a:pathLst>
            </a:custGeom>
            <a:solidFill>
              <a:srgbClr val="1A0E79"/>
            </a:solidFill>
            <a:ln w="38100" cap="rnd">
              <a:solidFill>
                <a:srgbClr val="FFC857"/>
              </a:solidFill>
              <a:prstDash val="solid"/>
              <a:round/>
            </a:ln>
          </p:spPr>
        </p:sp>
        <p:sp>
          <p:nvSpPr>
            <p:cNvPr name="TextBox 7" id="7"/>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8" id="8"/>
          <p:cNvGrpSpPr/>
          <p:nvPr/>
        </p:nvGrpSpPr>
        <p:grpSpPr>
          <a:xfrm rot="0">
            <a:off x="6509426" y="2495712"/>
            <a:ext cx="5269147" cy="3420723"/>
            <a:chOff x="0" y="0"/>
            <a:chExt cx="1387759" cy="900931"/>
          </a:xfrm>
        </p:grpSpPr>
        <p:sp>
          <p:nvSpPr>
            <p:cNvPr name="Freeform 9" id="9"/>
            <p:cNvSpPr/>
            <p:nvPr/>
          </p:nvSpPr>
          <p:spPr>
            <a:xfrm flipH="false" flipV="false" rot="0">
              <a:off x="0" y="0"/>
              <a:ext cx="1387759" cy="900931"/>
            </a:xfrm>
            <a:custGeom>
              <a:avLst/>
              <a:gdLst/>
              <a:ahLst/>
              <a:cxnLst/>
              <a:rect r="r" b="b" t="t" l="l"/>
              <a:pathLst>
                <a:path h="900931" w="1387759">
                  <a:moveTo>
                    <a:pt x="74934" y="0"/>
                  </a:moveTo>
                  <a:lnTo>
                    <a:pt x="1312825" y="0"/>
                  </a:lnTo>
                  <a:cubicBezTo>
                    <a:pt x="1332699" y="0"/>
                    <a:pt x="1351758" y="7895"/>
                    <a:pt x="1365811" y="21948"/>
                  </a:cubicBezTo>
                  <a:cubicBezTo>
                    <a:pt x="1379864" y="36000"/>
                    <a:pt x="1387759" y="55060"/>
                    <a:pt x="1387759" y="74934"/>
                  </a:cubicBezTo>
                  <a:lnTo>
                    <a:pt x="1387759" y="825997"/>
                  </a:lnTo>
                  <a:cubicBezTo>
                    <a:pt x="1387759" y="845871"/>
                    <a:pt x="1379864" y="864931"/>
                    <a:pt x="1365811" y="878984"/>
                  </a:cubicBezTo>
                  <a:cubicBezTo>
                    <a:pt x="1351758" y="893036"/>
                    <a:pt x="1332699" y="900931"/>
                    <a:pt x="1312825" y="900931"/>
                  </a:cubicBezTo>
                  <a:lnTo>
                    <a:pt x="74934" y="900931"/>
                  </a:lnTo>
                  <a:cubicBezTo>
                    <a:pt x="55060" y="900931"/>
                    <a:pt x="36000" y="893036"/>
                    <a:pt x="21948" y="878984"/>
                  </a:cubicBezTo>
                  <a:cubicBezTo>
                    <a:pt x="7895" y="864931"/>
                    <a:pt x="0" y="845871"/>
                    <a:pt x="0" y="825997"/>
                  </a:cubicBezTo>
                  <a:lnTo>
                    <a:pt x="0" y="74934"/>
                  </a:lnTo>
                  <a:cubicBezTo>
                    <a:pt x="0" y="55060"/>
                    <a:pt x="7895" y="36000"/>
                    <a:pt x="21948" y="21948"/>
                  </a:cubicBezTo>
                  <a:cubicBezTo>
                    <a:pt x="36000" y="7895"/>
                    <a:pt x="55060" y="0"/>
                    <a:pt x="74934" y="0"/>
                  </a:cubicBezTo>
                  <a:close/>
                </a:path>
              </a:pathLst>
            </a:custGeom>
            <a:solidFill>
              <a:srgbClr val="1A0E79"/>
            </a:solidFill>
            <a:ln w="38100" cap="rnd">
              <a:solidFill>
                <a:srgbClr val="FFC857"/>
              </a:solidFill>
              <a:prstDash val="solid"/>
              <a:round/>
            </a:ln>
          </p:spPr>
        </p:sp>
        <p:sp>
          <p:nvSpPr>
            <p:cNvPr name="TextBox 10" id="10"/>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1" id="11"/>
          <p:cNvGrpSpPr/>
          <p:nvPr/>
        </p:nvGrpSpPr>
        <p:grpSpPr>
          <a:xfrm rot="0">
            <a:off x="6509426" y="6264210"/>
            <a:ext cx="5269147" cy="3420723"/>
            <a:chOff x="0" y="0"/>
            <a:chExt cx="1387759" cy="900931"/>
          </a:xfrm>
        </p:grpSpPr>
        <p:sp>
          <p:nvSpPr>
            <p:cNvPr name="Freeform 12" id="12"/>
            <p:cNvSpPr/>
            <p:nvPr/>
          </p:nvSpPr>
          <p:spPr>
            <a:xfrm flipH="false" flipV="false" rot="0">
              <a:off x="0" y="0"/>
              <a:ext cx="1387759" cy="900931"/>
            </a:xfrm>
            <a:custGeom>
              <a:avLst/>
              <a:gdLst/>
              <a:ahLst/>
              <a:cxnLst/>
              <a:rect r="r" b="b" t="t" l="l"/>
              <a:pathLst>
                <a:path h="900931" w="1387759">
                  <a:moveTo>
                    <a:pt x="74934" y="0"/>
                  </a:moveTo>
                  <a:lnTo>
                    <a:pt x="1312825" y="0"/>
                  </a:lnTo>
                  <a:cubicBezTo>
                    <a:pt x="1332699" y="0"/>
                    <a:pt x="1351758" y="7895"/>
                    <a:pt x="1365811" y="21948"/>
                  </a:cubicBezTo>
                  <a:cubicBezTo>
                    <a:pt x="1379864" y="36000"/>
                    <a:pt x="1387759" y="55060"/>
                    <a:pt x="1387759" y="74934"/>
                  </a:cubicBezTo>
                  <a:lnTo>
                    <a:pt x="1387759" y="825997"/>
                  </a:lnTo>
                  <a:cubicBezTo>
                    <a:pt x="1387759" y="845871"/>
                    <a:pt x="1379864" y="864931"/>
                    <a:pt x="1365811" y="878984"/>
                  </a:cubicBezTo>
                  <a:cubicBezTo>
                    <a:pt x="1351758" y="893036"/>
                    <a:pt x="1332699" y="900931"/>
                    <a:pt x="1312825" y="900931"/>
                  </a:cubicBezTo>
                  <a:lnTo>
                    <a:pt x="74934" y="900931"/>
                  </a:lnTo>
                  <a:cubicBezTo>
                    <a:pt x="55060" y="900931"/>
                    <a:pt x="36000" y="893036"/>
                    <a:pt x="21948" y="878984"/>
                  </a:cubicBezTo>
                  <a:cubicBezTo>
                    <a:pt x="7895" y="864931"/>
                    <a:pt x="0" y="845871"/>
                    <a:pt x="0" y="825997"/>
                  </a:cubicBezTo>
                  <a:lnTo>
                    <a:pt x="0" y="74934"/>
                  </a:lnTo>
                  <a:cubicBezTo>
                    <a:pt x="0" y="55060"/>
                    <a:pt x="7895" y="36000"/>
                    <a:pt x="21948" y="21948"/>
                  </a:cubicBezTo>
                  <a:cubicBezTo>
                    <a:pt x="36000" y="7895"/>
                    <a:pt x="55060" y="0"/>
                    <a:pt x="74934" y="0"/>
                  </a:cubicBezTo>
                  <a:close/>
                </a:path>
              </a:pathLst>
            </a:custGeom>
            <a:solidFill>
              <a:srgbClr val="1A0E79"/>
            </a:solidFill>
            <a:ln w="38100" cap="rnd">
              <a:solidFill>
                <a:srgbClr val="FFC857"/>
              </a:solidFill>
              <a:prstDash val="solid"/>
              <a:round/>
            </a:ln>
          </p:spPr>
        </p:sp>
        <p:sp>
          <p:nvSpPr>
            <p:cNvPr name="TextBox 13" id="13"/>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sp>
        <p:nvSpPr>
          <p:cNvPr name="Freeform 14" id="14"/>
          <p:cNvSpPr/>
          <p:nvPr/>
        </p:nvSpPr>
        <p:spPr>
          <a:xfrm flipH="false" flipV="false" rot="632467">
            <a:off x="14807885" y="-97622"/>
            <a:ext cx="4267488" cy="4107457"/>
          </a:xfrm>
          <a:custGeom>
            <a:avLst/>
            <a:gdLst/>
            <a:ahLst/>
            <a:cxnLst/>
            <a:rect r="r" b="b" t="t" l="l"/>
            <a:pathLst>
              <a:path h="4107457" w="4267488">
                <a:moveTo>
                  <a:pt x="0" y="0"/>
                </a:moveTo>
                <a:lnTo>
                  <a:pt x="4267488" y="0"/>
                </a:lnTo>
                <a:lnTo>
                  <a:pt x="4267488" y="4107457"/>
                </a:lnTo>
                <a:lnTo>
                  <a:pt x="0" y="41074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053209" y="321691"/>
            <a:ext cx="2524539" cy="2524539"/>
          </a:xfrm>
          <a:custGeom>
            <a:avLst/>
            <a:gdLst/>
            <a:ahLst/>
            <a:cxnLst/>
            <a:rect r="r" b="b" t="t" l="l"/>
            <a:pathLst>
              <a:path h="2524539" w="2524539">
                <a:moveTo>
                  <a:pt x="0" y="0"/>
                </a:moveTo>
                <a:lnTo>
                  <a:pt x="2524539" y="0"/>
                </a:lnTo>
                <a:lnTo>
                  <a:pt x="2524539" y="2524539"/>
                </a:lnTo>
                <a:lnTo>
                  <a:pt x="0" y="2524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12200482" y="2495712"/>
            <a:ext cx="5269147" cy="3420723"/>
            <a:chOff x="0" y="0"/>
            <a:chExt cx="1387759" cy="900931"/>
          </a:xfrm>
        </p:grpSpPr>
        <p:sp>
          <p:nvSpPr>
            <p:cNvPr name="Freeform 17" id="17"/>
            <p:cNvSpPr/>
            <p:nvPr/>
          </p:nvSpPr>
          <p:spPr>
            <a:xfrm flipH="false" flipV="false" rot="0">
              <a:off x="0" y="0"/>
              <a:ext cx="1387759" cy="900931"/>
            </a:xfrm>
            <a:custGeom>
              <a:avLst/>
              <a:gdLst/>
              <a:ahLst/>
              <a:cxnLst/>
              <a:rect r="r" b="b" t="t" l="l"/>
              <a:pathLst>
                <a:path h="900931" w="1387759">
                  <a:moveTo>
                    <a:pt x="74934" y="0"/>
                  </a:moveTo>
                  <a:lnTo>
                    <a:pt x="1312825" y="0"/>
                  </a:lnTo>
                  <a:cubicBezTo>
                    <a:pt x="1332699" y="0"/>
                    <a:pt x="1351758" y="7895"/>
                    <a:pt x="1365811" y="21948"/>
                  </a:cubicBezTo>
                  <a:cubicBezTo>
                    <a:pt x="1379864" y="36000"/>
                    <a:pt x="1387759" y="55060"/>
                    <a:pt x="1387759" y="74934"/>
                  </a:cubicBezTo>
                  <a:lnTo>
                    <a:pt x="1387759" y="825997"/>
                  </a:lnTo>
                  <a:cubicBezTo>
                    <a:pt x="1387759" y="845871"/>
                    <a:pt x="1379864" y="864931"/>
                    <a:pt x="1365811" y="878984"/>
                  </a:cubicBezTo>
                  <a:cubicBezTo>
                    <a:pt x="1351758" y="893036"/>
                    <a:pt x="1332699" y="900931"/>
                    <a:pt x="1312825" y="900931"/>
                  </a:cubicBezTo>
                  <a:lnTo>
                    <a:pt x="74934" y="900931"/>
                  </a:lnTo>
                  <a:cubicBezTo>
                    <a:pt x="55060" y="900931"/>
                    <a:pt x="36000" y="893036"/>
                    <a:pt x="21948" y="878984"/>
                  </a:cubicBezTo>
                  <a:cubicBezTo>
                    <a:pt x="7895" y="864931"/>
                    <a:pt x="0" y="845871"/>
                    <a:pt x="0" y="825997"/>
                  </a:cubicBezTo>
                  <a:lnTo>
                    <a:pt x="0" y="74934"/>
                  </a:lnTo>
                  <a:cubicBezTo>
                    <a:pt x="0" y="55060"/>
                    <a:pt x="7895" y="36000"/>
                    <a:pt x="21948" y="21948"/>
                  </a:cubicBezTo>
                  <a:cubicBezTo>
                    <a:pt x="36000" y="7895"/>
                    <a:pt x="55060" y="0"/>
                    <a:pt x="74934" y="0"/>
                  </a:cubicBezTo>
                  <a:close/>
                </a:path>
              </a:pathLst>
            </a:custGeom>
            <a:solidFill>
              <a:srgbClr val="1A0E79"/>
            </a:solidFill>
            <a:ln w="38100" cap="rnd">
              <a:solidFill>
                <a:srgbClr val="FFC857"/>
              </a:solidFill>
              <a:prstDash val="solid"/>
              <a:round/>
            </a:ln>
          </p:spPr>
        </p:sp>
        <p:sp>
          <p:nvSpPr>
            <p:cNvPr name="TextBox 18" id="18"/>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19" id="19"/>
          <p:cNvGrpSpPr/>
          <p:nvPr/>
        </p:nvGrpSpPr>
        <p:grpSpPr>
          <a:xfrm rot="0">
            <a:off x="12200482" y="6264210"/>
            <a:ext cx="5269147" cy="3420723"/>
            <a:chOff x="0" y="0"/>
            <a:chExt cx="1387759" cy="900931"/>
          </a:xfrm>
        </p:grpSpPr>
        <p:sp>
          <p:nvSpPr>
            <p:cNvPr name="Freeform 20" id="20"/>
            <p:cNvSpPr/>
            <p:nvPr/>
          </p:nvSpPr>
          <p:spPr>
            <a:xfrm flipH="false" flipV="false" rot="0">
              <a:off x="0" y="0"/>
              <a:ext cx="1387759" cy="900931"/>
            </a:xfrm>
            <a:custGeom>
              <a:avLst/>
              <a:gdLst/>
              <a:ahLst/>
              <a:cxnLst/>
              <a:rect r="r" b="b" t="t" l="l"/>
              <a:pathLst>
                <a:path h="900931" w="1387759">
                  <a:moveTo>
                    <a:pt x="74934" y="0"/>
                  </a:moveTo>
                  <a:lnTo>
                    <a:pt x="1312825" y="0"/>
                  </a:lnTo>
                  <a:cubicBezTo>
                    <a:pt x="1332699" y="0"/>
                    <a:pt x="1351758" y="7895"/>
                    <a:pt x="1365811" y="21948"/>
                  </a:cubicBezTo>
                  <a:cubicBezTo>
                    <a:pt x="1379864" y="36000"/>
                    <a:pt x="1387759" y="55060"/>
                    <a:pt x="1387759" y="74934"/>
                  </a:cubicBezTo>
                  <a:lnTo>
                    <a:pt x="1387759" y="825997"/>
                  </a:lnTo>
                  <a:cubicBezTo>
                    <a:pt x="1387759" y="845871"/>
                    <a:pt x="1379864" y="864931"/>
                    <a:pt x="1365811" y="878984"/>
                  </a:cubicBezTo>
                  <a:cubicBezTo>
                    <a:pt x="1351758" y="893036"/>
                    <a:pt x="1332699" y="900931"/>
                    <a:pt x="1312825" y="900931"/>
                  </a:cubicBezTo>
                  <a:lnTo>
                    <a:pt x="74934" y="900931"/>
                  </a:lnTo>
                  <a:cubicBezTo>
                    <a:pt x="55060" y="900931"/>
                    <a:pt x="36000" y="893036"/>
                    <a:pt x="21948" y="878984"/>
                  </a:cubicBezTo>
                  <a:cubicBezTo>
                    <a:pt x="7895" y="864931"/>
                    <a:pt x="0" y="845871"/>
                    <a:pt x="0" y="825997"/>
                  </a:cubicBezTo>
                  <a:lnTo>
                    <a:pt x="0" y="74934"/>
                  </a:lnTo>
                  <a:cubicBezTo>
                    <a:pt x="0" y="55060"/>
                    <a:pt x="7895" y="36000"/>
                    <a:pt x="21948" y="21948"/>
                  </a:cubicBezTo>
                  <a:cubicBezTo>
                    <a:pt x="36000" y="7895"/>
                    <a:pt x="55060" y="0"/>
                    <a:pt x="74934" y="0"/>
                  </a:cubicBezTo>
                  <a:close/>
                </a:path>
              </a:pathLst>
            </a:custGeom>
            <a:solidFill>
              <a:srgbClr val="1A0E79"/>
            </a:solidFill>
            <a:ln w="38100" cap="rnd">
              <a:solidFill>
                <a:srgbClr val="FFC857"/>
              </a:solidFill>
              <a:prstDash val="solid"/>
              <a:round/>
            </a:ln>
          </p:spPr>
        </p:sp>
        <p:sp>
          <p:nvSpPr>
            <p:cNvPr name="TextBox 21" id="21"/>
            <p:cNvSpPr txBox="true"/>
            <p:nvPr/>
          </p:nvSpPr>
          <p:spPr>
            <a:xfrm>
              <a:off x="0" y="-57150"/>
              <a:ext cx="1387759" cy="958081"/>
            </a:xfrm>
            <a:prstGeom prst="rect">
              <a:avLst/>
            </a:prstGeom>
          </p:spPr>
          <p:txBody>
            <a:bodyPr anchor="ctr" rtlCol="false" tIns="50800" lIns="50800" bIns="50800" rIns="50800"/>
            <a:lstStyle/>
            <a:p>
              <a:pPr algn="ctr" marL="0" indent="0" lvl="0">
                <a:lnSpc>
                  <a:spcPts val="2952"/>
                </a:lnSpc>
                <a:spcBef>
                  <a:spcPct val="0"/>
                </a:spcBef>
              </a:pPr>
            </a:p>
          </p:txBody>
        </p:sp>
      </p:grpSp>
      <p:grpSp>
        <p:nvGrpSpPr>
          <p:cNvPr name="Group 22" id="22"/>
          <p:cNvGrpSpPr/>
          <p:nvPr/>
        </p:nvGrpSpPr>
        <p:grpSpPr>
          <a:xfrm rot="0">
            <a:off x="1320524" y="2846230"/>
            <a:ext cx="4264840" cy="2670155"/>
            <a:chOff x="0" y="0"/>
            <a:chExt cx="5686453" cy="3560206"/>
          </a:xfrm>
        </p:grpSpPr>
        <p:sp>
          <p:nvSpPr>
            <p:cNvPr name="TextBox 23" id="23"/>
            <p:cNvSpPr txBox="true"/>
            <p:nvPr/>
          </p:nvSpPr>
          <p:spPr>
            <a:xfrm rot="0">
              <a:off x="0" y="621976"/>
              <a:ext cx="5256479" cy="628015"/>
            </a:xfrm>
            <a:prstGeom prst="rect">
              <a:avLst/>
            </a:prstGeom>
          </p:spPr>
          <p:txBody>
            <a:bodyPr anchor="t" rtlCol="false" tIns="0" lIns="0" bIns="0" rIns="0">
              <a:spAutoFit/>
            </a:bodyPr>
            <a:lstStyle/>
            <a:p>
              <a:pPr algn="l" marL="0" indent="0" lvl="0">
                <a:lnSpc>
                  <a:spcPts val="3210"/>
                </a:lnSpc>
                <a:spcBef>
                  <a:spcPct val="0"/>
                </a:spcBef>
              </a:pPr>
              <a:r>
                <a:rPr lang="en-US" b="true" sz="3000">
                  <a:solidFill>
                    <a:srgbClr val="FFC857"/>
                  </a:solidFill>
                  <a:latin typeface="ITC Avant Garde Gothic Bold"/>
                  <a:ea typeface="ITC Avant Garde Gothic Bold"/>
                  <a:cs typeface="ITC Avant Garde Gothic Bold"/>
                  <a:sym typeface="ITC Avant Garde Gothic Bold"/>
                </a:rPr>
                <a:t>ChatGPT(OpenAI)</a:t>
              </a:r>
            </a:p>
          </p:txBody>
        </p:sp>
        <p:sp>
          <p:nvSpPr>
            <p:cNvPr name="TextBox 24" id="24"/>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u="none">
                  <a:solidFill>
                    <a:srgbClr val="C7C2EF"/>
                  </a:solidFill>
                  <a:latin typeface="ITC Avant Garde Gothic"/>
                  <a:ea typeface="ITC Avant Garde Gothic"/>
                  <a:cs typeface="ITC Avant Garde Gothic"/>
                  <a:sym typeface="ITC Avant Garde Gothic"/>
                </a:rPr>
                <a:t>Empresa 1</a:t>
              </a:r>
            </a:p>
          </p:txBody>
        </p:sp>
        <p:sp>
          <p:nvSpPr>
            <p:cNvPr name="TextBox 25" id="25"/>
            <p:cNvSpPr txBox="true"/>
            <p:nvPr/>
          </p:nvSpPr>
          <p:spPr>
            <a:xfrm rot="0">
              <a:off x="0" y="1300791"/>
              <a:ext cx="5686453" cy="2259415"/>
            </a:xfrm>
            <a:prstGeom prst="rect">
              <a:avLst/>
            </a:prstGeom>
          </p:spPr>
          <p:txBody>
            <a:bodyPr anchor="t" rtlCol="false" tIns="0" lIns="0" bIns="0" rIns="0">
              <a:spAutoFit/>
            </a:bodyPr>
            <a:lstStyle/>
            <a:p>
              <a:pPr algn="l" marL="0" indent="0" lvl="1">
                <a:lnSpc>
                  <a:spcPts val="2751"/>
                </a:lnSpc>
                <a:spcBef>
                  <a:spcPct val="0"/>
                </a:spcBef>
              </a:pPr>
              <a:r>
                <a:rPr lang="en-US" sz="1599">
                  <a:solidFill>
                    <a:srgbClr val="C7C2EF"/>
                  </a:solidFill>
                  <a:latin typeface="ITC Avant Garde Gothic"/>
                  <a:ea typeface="ITC Avant Garde Gothic"/>
                  <a:cs typeface="ITC Avant Garde Gothic"/>
                  <a:sym typeface="ITC Avant Garde Gothic"/>
                </a:rPr>
                <a:t>El</a:t>
              </a:r>
              <a:r>
                <a:rPr lang="en-US" sz="1599" strike="noStrike" u="none">
                  <a:solidFill>
                    <a:srgbClr val="C7C2EF"/>
                  </a:solidFill>
                  <a:latin typeface="ITC Avant Garde Gothic"/>
                  <a:ea typeface="ITC Avant Garde Gothic"/>
                  <a:cs typeface="ITC Avant Garde Gothic"/>
                  <a:sym typeface="ITC Avant Garde Gothic"/>
                </a:rPr>
                <a:t> modelo de lenguaje conversacional más popular del mundo, especializado en la creación de texto, programación, análisis de datos y razonamiento general mediante arquitectura GPT.</a:t>
              </a:r>
            </a:p>
          </p:txBody>
        </p:sp>
      </p:grpSp>
      <p:grpSp>
        <p:nvGrpSpPr>
          <p:cNvPr name="Group 26" id="26"/>
          <p:cNvGrpSpPr/>
          <p:nvPr/>
        </p:nvGrpSpPr>
        <p:grpSpPr>
          <a:xfrm rot="0">
            <a:off x="1320524" y="6614728"/>
            <a:ext cx="4264840" cy="2327255"/>
            <a:chOff x="0" y="0"/>
            <a:chExt cx="5686453" cy="3103006"/>
          </a:xfrm>
        </p:grpSpPr>
        <p:sp>
          <p:nvSpPr>
            <p:cNvPr name="TextBox 27" id="27"/>
            <p:cNvSpPr txBox="true"/>
            <p:nvPr/>
          </p:nvSpPr>
          <p:spPr>
            <a:xfrm rot="0">
              <a:off x="0" y="621976"/>
              <a:ext cx="5286163" cy="628015"/>
            </a:xfrm>
            <a:prstGeom prst="rect">
              <a:avLst/>
            </a:prstGeom>
          </p:spPr>
          <p:txBody>
            <a:bodyPr anchor="t" rtlCol="false" tIns="0" lIns="0" bIns="0" rIns="0">
              <a:spAutoFit/>
            </a:bodyPr>
            <a:lstStyle/>
            <a:p>
              <a:pPr algn="l">
                <a:lnSpc>
                  <a:spcPts val="3210"/>
                </a:lnSpc>
              </a:pPr>
              <a:r>
                <a:rPr lang="en-US" sz="3000" b="true">
                  <a:solidFill>
                    <a:srgbClr val="FFC857"/>
                  </a:solidFill>
                  <a:latin typeface="ITC Avant Garde Gothic Bold"/>
                  <a:ea typeface="ITC Avant Garde Gothic Bold"/>
                  <a:cs typeface="ITC Avant Garde Gothic Bold"/>
                  <a:sym typeface="ITC Avant Garde Gothic Bold"/>
                </a:rPr>
                <a:t>Copilot(Microsoft)</a:t>
              </a:r>
            </a:p>
          </p:txBody>
        </p:sp>
        <p:sp>
          <p:nvSpPr>
            <p:cNvPr name="TextBox 28" id="28"/>
            <p:cNvSpPr txBox="true"/>
            <p:nvPr/>
          </p:nvSpPr>
          <p:spPr>
            <a:xfrm rot="0">
              <a:off x="0" y="-19050"/>
              <a:ext cx="4662800" cy="503682"/>
            </a:xfrm>
            <a:prstGeom prst="rect">
              <a:avLst/>
            </a:prstGeom>
          </p:spPr>
          <p:txBody>
            <a:bodyPr anchor="t" rtlCol="false" tIns="0" lIns="0" bIns="0" rIns="0">
              <a:spAutoFit/>
            </a:bodyPr>
            <a:lstStyle/>
            <a:p>
              <a:pPr algn="l">
                <a:lnSpc>
                  <a:spcPts val="2568"/>
                </a:lnSpc>
              </a:pPr>
              <a:r>
                <a:rPr lang="en-US" sz="2400">
                  <a:solidFill>
                    <a:srgbClr val="C7C2EF"/>
                  </a:solidFill>
                  <a:latin typeface="ITC Avant Garde Gothic"/>
                  <a:ea typeface="ITC Avant Garde Gothic"/>
                  <a:cs typeface="ITC Avant Garde Gothic"/>
                  <a:sym typeface="ITC Avant Garde Gothic"/>
                </a:rPr>
                <a:t>Empresa 4</a:t>
              </a:r>
            </a:p>
          </p:txBody>
        </p:sp>
        <p:sp>
          <p:nvSpPr>
            <p:cNvPr name="TextBox 29" id="29"/>
            <p:cNvSpPr txBox="true"/>
            <p:nvPr/>
          </p:nvSpPr>
          <p:spPr>
            <a:xfrm rot="0">
              <a:off x="0" y="1300791"/>
              <a:ext cx="5686453" cy="1802215"/>
            </a:xfrm>
            <a:prstGeom prst="rect">
              <a:avLst/>
            </a:prstGeom>
          </p:spPr>
          <p:txBody>
            <a:bodyPr anchor="t" rtlCol="false" tIns="0" lIns="0" bIns="0" rIns="0">
              <a:spAutoFit/>
            </a:bodyPr>
            <a:lstStyle/>
            <a:p>
              <a:pPr algn="l">
                <a:lnSpc>
                  <a:spcPts val="2751"/>
                </a:lnSpc>
              </a:pPr>
              <a:r>
                <a:rPr lang="en-US" sz="1599">
                  <a:solidFill>
                    <a:srgbClr val="C7C2EF"/>
                  </a:solidFill>
                  <a:latin typeface="ITC Avant Garde Gothic"/>
                  <a:ea typeface="ITC Avant Garde Gothic"/>
                  <a:cs typeface="ITC Avant Garde Gothic"/>
                  <a:sym typeface="ITC Avant Garde Gothic"/>
                </a:rPr>
                <a:t>Integra la tecnología de OpenAI en herramientas cotidianas como Word, Excel, Teams y Windows para redactar, resumir y automatizar tareas de oficina.</a:t>
              </a:r>
            </a:p>
          </p:txBody>
        </p:sp>
      </p:grpSp>
      <p:grpSp>
        <p:nvGrpSpPr>
          <p:cNvPr name="Group 30" id="30"/>
          <p:cNvGrpSpPr/>
          <p:nvPr/>
        </p:nvGrpSpPr>
        <p:grpSpPr>
          <a:xfrm rot="0">
            <a:off x="7011580" y="2846230"/>
            <a:ext cx="4264840" cy="2670155"/>
            <a:chOff x="0" y="0"/>
            <a:chExt cx="5686453" cy="3560206"/>
          </a:xfrm>
        </p:grpSpPr>
        <p:sp>
          <p:nvSpPr>
            <p:cNvPr name="TextBox 31" id="31"/>
            <p:cNvSpPr txBox="true"/>
            <p:nvPr/>
          </p:nvSpPr>
          <p:spPr>
            <a:xfrm rot="0">
              <a:off x="0" y="621976"/>
              <a:ext cx="5464267" cy="628015"/>
            </a:xfrm>
            <a:prstGeom prst="rect">
              <a:avLst/>
            </a:prstGeom>
          </p:spPr>
          <p:txBody>
            <a:bodyPr anchor="t" rtlCol="false" tIns="0" lIns="0" bIns="0" rIns="0">
              <a:spAutoFit/>
            </a:bodyPr>
            <a:lstStyle/>
            <a:p>
              <a:pPr algn="l" marL="0" indent="0" lvl="0">
                <a:lnSpc>
                  <a:spcPts val="3210"/>
                </a:lnSpc>
                <a:spcBef>
                  <a:spcPct val="0"/>
                </a:spcBef>
              </a:pPr>
              <a:r>
                <a:rPr lang="en-US" b="true" sz="3000">
                  <a:solidFill>
                    <a:srgbClr val="FFC857"/>
                  </a:solidFill>
                  <a:latin typeface="ITC Avant Garde Gothic Bold"/>
                  <a:ea typeface="ITC Avant Garde Gothic Bold"/>
                  <a:cs typeface="ITC Avant Garde Gothic Bold"/>
                  <a:sym typeface="ITC Avant Garde Gothic Bold"/>
                </a:rPr>
                <a:t>Claude(Anthropic)</a:t>
              </a:r>
            </a:p>
          </p:txBody>
        </p:sp>
        <p:sp>
          <p:nvSpPr>
            <p:cNvPr name="TextBox 32" id="32"/>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u="none">
                  <a:solidFill>
                    <a:srgbClr val="C7C2EF"/>
                  </a:solidFill>
                  <a:latin typeface="ITC Avant Garde Gothic"/>
                  <a:ea typeface="ITC Avant Garde Gothic"/>
                  <a:cs typeface="ITC Avant Garde Gothic"/>
                  <a:sym typeface="ITC Avant Garde Gothic"/>
                </a:rPr>
                <a:t>Empresa 2 </a:t>
              </a:r>
            </a:p>
          </p:txBody>
        </p:sp>
        <p:sp>
          <p:nvSpPr>
            <p:cNvPr name="TextBox 33" id="33"/>
            <p:cNvSpPr txBox="true"/>
            <p:nvPr/>
          </p:nvSpPr>
          <p:spPr>
            <a:xfrm rot="0">
              <a:off x="0" y="1300791"/>
              <a:ext cx="5686453" cy="2259415"/>
            </a:xfrm>
            <a:prstGeom prst="rect">
              <a:avLst/>
            </a:prstGeom>
          </p:spPr>
          <p:txBody>
            <a:bodyPr anchor="t" rtlCol="false" tIns="0" lIns="0" bIns="0" rIns="0">
              <a:spAutoFit/>
            </a:bodyPr>
            <a:lstStyle/>
            <a:p>
              <a:pPr algn="l" marL="0" indent="0" lvl="1">
                <a:lnSpc>
                  <a:spcPts val="2751"/>
                </a:lnSpc>
                <a:spcBef>
                  <a:spcPct val="0"/>
                </a:spcBef>
              </a:pPr>
              <a:r>
                <a:rPr lang="en-US" sz="1599">
                  <a:solidFill>
                    <a:srgbClr val="C7C2EF"/>
                  </a:solidFill>
                  <a:latin typeface="ITC Avant Garde Gothic"/>
                  <a:ea typeface="ITC Avant Garde Gothic"/>
                  <a:cs typeface="ITC Avant Garde Gothic"/>
                  <a:sym typeface="ITC Avant Garde Gothic"/>
                </a:rPr>
                <a:t>Un</a:t>
              </a:r>
              <a:r>
                <a:rPr lang="en-US" sz="1599" strike="noStrike" u="none">
                  <a:solidFill>
                    <a:srgbClr val="C7C2EF"/>
                  </a:solidFill>
                  <a:latin typeface="ITC Avant Garde Gothic"/>
                  <a:ea typeface="ITC Avant Garde Gothic"/>
                  <a:cs typeface="ITC Avant Garde Gothic"/>
                  <a:sym typeface="ITC Avant Garde Gothic"/>
                </a:rPr>
                <a:t> asistente conversacional avanzado de gran ventana de contexto, reconocido por su enfoque en la seguridad, la precisión en la redacción y el análisis riguroso de documentos extensos.</a:t>
              </a:r>
            </a:p>
          </p:txBody>
        </p:sp>
      </p:grpSp>
      <p:grpSp>
        <p:nvGrpSpPr>
          <p:cNvPr name="Group 34" id="34"/>
          <p:cNvGrpSpPr/>
          <p:nvPr/>
        </p:nvGrpSpPr>
        <p:grpSpPr>
          <a:xfrm rot="0">
            <a:off x="7011580" y="6614728"/>
            <a:ext cx="4264840" cy="2670155"/>
            <a:chOff x="0" y="0"/>
            <a:chExt cx="5686453" cy="3560206"/>
          </a:xfrm>
        </p:grpSpPr>
        <p:sp>
          <p:nvSpPr>
            <p:cNvPr name="TextBox 35" id="35"/>
            <p:cNvSpPr txBox="true"/>
            <p:nvPr/>
          </p:nvSpPr>
          <p:spPr>
            <a:xfrm rot="0">
              <a:off x="0" y="621976"/>
              <a:ext cx="4662800" cy="628015"/>
            </a:xfrm>
            <a:prstGeom prst="rect">
              <a:avLst/>
            </a:prstGeom>
          </p:spPr>
          <p:txBody>
            <a:bodyPr anchor="t" rtlCol="false" tIns="0" lIns="0" bIns="0" rIns="0">
              <a:spAutoFit/>
            </a:bodyPr>
            <a:lstStyle/>
            <a:p>
              <a:pPr algn="l" marL="0" indent="0" lvl="0">
                <a:lnSpc>
                  <a:spcPts val="3210"/>
                </a:lnSpc>
                <a:spcBef>
                  <a:spcPct val="0"/>
                </a:spcBef>
              </a:pPr>
              <a:r>
                <a:rPr lang="en-US" b="true" sz="3000">
                  <a:solidFill>
                    <a:srgbClr val="FFC857"/>
                  </a:solidFill>
                  <a:latin typeface="ITC Avant Garde Gothic Bold"/>
                  <a:ea typeface="ITC Avant Garde Gothic Bold"/>
                  <a:cs typeface="ITC Avant Garde Gothic Bold"/>
                  <a:sym typeface="ITC Avant Garde Gothic Bold"/>
                </a:rPr>
                <a:t>Sora(OpenAI)</a:t>
              </a:r>
            </a:p>
          </p:txBody>
        </p:sp>
        <p:sp>
          <p:nvSpPr>
            <p:cNvPr name="TextBox 36" id="36"/>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a:solidFill>
                    <a:srgbClr val="C7C2EF"/>
                  </a:solidFill>
                  <a:latin typeface="ITC Avant Garde Gothic"/>
                  <a:ea typeface="ITC Avant Garde Gothic"/>
                  <a:cs typeface="ITC Avant Garde Gothic"/>
                  <a:sym typeface="ITC Avant Garde Gothic"/>
                </a:rPr>
                <a:t>Empresa</a:t>
              </a:r>
              <a:r>
                <a:rPr lang="en-US" sz="2400" u="none">
                  <a:solidFill>
                    <a:srgbClr val="C7C2EF"/>
                  </a:solidFill>
                  <a:latin typeface="ITC Avant Garde Gothic"/>
                  <a:ea typeface="ITC Avant Garde Gothic"/>
                  <a:cs typeface="ITC Avant Garde Gothic"/>
                  <a:sym typeface="ITC Avant Garde Gothic"/>
                </a:rPr>
                <a:t> 5</a:t>
              </a:r>
            </a:p>
          </p:txBody>
        </p:sp>
        <p:sp>
          <p:nvSpPr>
            <p:cNvPr name="TextBox 37" id="37"/>
            <p:cNvSpPr txBox="true"/>
            <p:nvPr/>
          </p:nvSpPr>
          <p:spPr>
            <a:xfrm rot="0">
              <a:off x="0" y="1300791"/>
              <a:ext cx="5686453" cy="2259415"/>
            </a:xfrm>
            <a:prstGeom prst="rect">
              <a:avLst/>
            </a:prstGeom>
          </p:spPr>
          <p:txBody>
            <a:bodyPr anchor="t" rtlCol="false" tIns="0" lIns="0" bIns="0" rIns="0">
              <a:spAutoFit/>
            </a:bodyPr>
            <a:lstStyle/>
            <a:p>
              <a:pPr algn="l">
                <a:lnSpc>
                  <a:spcPts val="2751"/>
                </a:lnSpc>
                <a:spcBef>
                  <a:spcPct val="0"/>
                </a:spcBef>
              </a:pPr>
              <a:r>
                <a:rPr lang="en-US" sz="1599">
                  <a:solidFill>
                    <a:srgbClr val="C7C2EF"/>
                  </a:solidFill>
                  <a:latin typeface="ITC Avant Garde Gothic"/>
                  <a:ea typeface="ITC Avant Garde Gothic"/>
                  <a:cs typeface="ITC Avant Garde Gothic"/>
                  <a:sym typeface="ITC Avant Garde Gothic"/>
                </a:rPr>
                <a:t>Un m</a:t>
              </a:r>
              <a:r>
                <a:rPr lang="en-US" sz="1599" strike="noStrike" u="none">
                  <a:solidFill>
                    <a:srgbClr val="C7C2EF"/>
                  </a:solidFill>
                  <a:latin typeface="ITC Avant Garde Gothic"/>
                  <a:ea typeface="ITC Avant Garde Gothic"/>
                  <a:cs typeface="ITC Avant Garde Gothic"/>
                  <a:sym typeface="ITC Avant Garde Gothic"/>
                </a:rPr>
                <a:t>odelo pionero de video generativo capaz de crear escenas fotorrealistas y complejas de alta definición a partir de indicaciones de texto.</a:t>
              </a:r>
            </a:p>
            <a:p>
              <a:pPr algn="l">
                <a:lnSpc>
                  <a:spcPts val="2751"/>
                </a:lnSpc>
                <a:spcBef>
                  <a:spcPct val="0"/>
                </a:spcBef>
              </a:pPr>
            </a:p>
          </p:txBody>
        </p:sp>
      </p:grpSp>
      <p:grpSp>
        <p:nvGrpSpPr>
          <p:cNvPr name="Group 38" id="38"/>
          <p:cNvGrpSpPr/>
          <p:nvPr/>
        </p:nvGrpSpPr>
        <p:grpSpPr>
          <a:xfrm rot="0">
            <a:off x="12833620" y="2846230"/>
            <a:ext cx="4264840" cy="3013055"/>
            <a:chOff x="0" y="0"/>
            <a:chExt cx="5686453" cy="4017406"/>
          </a:xfrm>
        </p:grpSpPr>
        <p:sp>
          <p:nvSpPr>
            <p:cNvPr name="TextBox 39" id="39"/>
            <p:cNvSpPr txBox="true"/>
            <p:nvPr/>
          </p:nvSpPr>
          <p:spPr>
            <a:xfrm rot="0">
              <a:off x="0" y="621976"/>
              <a:ext cx="4662800" cy="628015"/>
            </a:xfrm>
            <a:prstGeom prst="rect">
              <a:avLst/>
            </a:prstGeom>
          </p:spPr>
          <p:txBody>
            <a:bodyPr anchor="t" rtlCol="false" tIns="0" lIns="0" bIns="0" rIns="0">
              <a:spAutoFit/>
            </a:bodyPr>
            <a:lstStyle/>
            <a:p>
              <a:pPr algn="l" marL="0" indent="0" lvl="0">
                <a:lnSpc>
                  <a:spcPts val="3210"/>
                </a:lnSpc>
                <a:spcBef>
                  <a:spcPct val="0"/>
                </a:spcBef>
              </a:pPr>
              <a:r>
                <a:rPr lang="en-US" b="true" sz="3000">
                  <a:solidFill>
                    <a:srgbClr val="FFC857"/>
                  </a:solidFill>
                  <a:latin typeface="ITC Avant Garde Gothic Bold"/>
                  <a:ea typeface="ITC Avant Garde Gothic Bold"/>
                  <a:cs typeface="ITC Avant Garde Gothic Bold"/>
                  <a:sym typeface="ITC Avant Garde Gothic Bold"/>
                </a:rPr>
                <a:t>Gemini(Google)</a:t>
              </a:r>
            </a:p>
          </p:txBody>
        </p:sp>
        <p:sp>
          <p:nvSpPr>
            <p:cNvPr name="TextBox 40" id="40"/>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u="none">
                  <a:solidFill>
                    <a:srgbClr val="C7C2EF"/>
                  </a:solidFill>
                  <a:latin typeface="ITC Avant Garde Gothic"/>
                  <a:ea typeface="ITC Avant Garde Gothic"/>
                  <a:cs typeface="ITC Avant Garde Gothic"/>
                  <a:sym typeface="ITC Avant Garde Gothic"/>
                </a:rPr>
                <a:t>Empresa 3</a:t>
              </a:r>
            </a:p>
          </p:txBody>
        </p:sp>
        <p:sp>
          <p:nvSpPr>
            <p:cNvPr name="TextBox 41" id="41"/>
            <p:cNvSpPr txBox="true"/>
            <p:nvPr/>
          </p:nvSpPr>
          <p:spPr>
            <a:xfrm rot="0">
              <a:off x="0" y="1300791"/>
              <a:ext cx="5686453" cy="2716615"/>
            </a:xfrm>
            <a:prstGeom prst="rect">
              <a:avLst/>
            </a:prstGeom>
          </p:spPr>
          <p:txBody>
            <a:bodyPr anchor="t" rtlCol="false" tIns="0" lIns="0" bIns="0" rIns="0">
              <a:spAutoFit/>
            </a:bodyPr>
            <a:lstStyle/>
            <a:p>
              <a:pPr algn="l">
                <a:lnSpc>
                  <a:spcPts val="2751"/>
                </a:lnSpc>
                <a:spcBef>
                  <a:spcPct val="0"/>
                </a:spcBef>
              </a:pPr>
              <a:r>
                <a:rPr lang="en-US" sz="1599" strike="noStrike" u="none">
                  <a:solidFill>
                    <a:srgbClr val="C7C2EF"/>
                  </a:solidFill>
                  <a:latin typeface="ITC Avant Garde Gothic"/>
                  <a:ea typeface="ITC Avant Garde Gothic"/>
                  <a:cs typeface="ITC Avant Garde Gothic"/>
                  <a:sym typeface="ITC Avant Garde Gothic"/>
                </a:rPr>
                <a:t>La familia de modelos multimodales nativos de Google —integrada en su ecosistema de búsqueda y productividad— capaz de procesar simultáneamente texto, código, audio, imagen y video.</a:t>
              </a:r>
            </a:p>
            <a:p>
              <a:pPr algn="l" marL="0" indent="0" lvl="1">
                <a:lnSpc>
                  <a:spcPts val="2751"/>
                </a:lnSpc>
                <a:spcBef>
                  <a:spcPct val="0"/>
                </a:spcBef>
              </a:pPr>
            </a:p>
          </p:txBody>
        </p:sp>
      </p:grpSp>
      <p:grpSp>
        <p:nvGrpSpPr>
          <p:cNvPr name="Group 42" id="42"/>
          <p:cNvGrpSpPr/>
          <p:nvPr/>
        </p:nvGrpSpPr>
        <p:grpSpPr>
          <a:xfrm rot="0">
            <a:off x="12833620" y="6614728"/>
            <a:ext cx="4264840" cy="2327255"/>
            <a:chOff x="0" y="0"/>
            <a:chExt cx="5686453" cy="3103006"/>
          </a:xfrm>
        </p:grpSpPr>
        <p:sp>
          <p:nvSpPr>
            <p:cNvPr name="TextBox 43" id="43"/>
            <p:cNvSpPr txBox="true"/>
            <p:nvPr/>
          </p:nvSpPr>
          <p:spPr>
            <a:xfrm rot="0">
              <a:off x="0" y="621976"/>
              <a:ext cx="4662800" cy="628015"/>
            </a:xfrm>
            <a:prstGeom prst="rect">
              <a:avLst/>
            </a:prstGeom>
          </p:spPr>
          <p:txBody>
            <a:bodyPr anchor="t" rtlCol="false" tIns="0" lIns="0" bIns="0" rIns="0">
              <a:spAutoFit/>
            </a:bodyPr>
            <a:lstStyle/>
            <a:p>
              <a:pPr algn="l" marL="0" indent="0" lvl="0">
                <a:lnSpc>
                  <a:spcPts val="3210"/>
                </a:lnSpc>
                <a:spcBef>
                  <a:spcPct val="0"/>
                </a:spcBef>
              </a:pPr>
              <a:r>
                <a:rPr lang="en-US" b="true" sz="3000">
                  <a:solidFill>
                    <a:srgbClr val="FFC857"/>
                  </a:solidFill>
                  <a:latin typeface="ITC Avant Garde Gothic Bold"/>
                  <a:ea typeface="ITC Avant Garde Gothic Bold"/>
                  <a:cs typeface="ITC Avant Garde Gothic Bold"/>
                  <a:sym typeface="ITC Avant Garde Gothic Bold"/>
                </a:rPr>
                <a:t>Suno AI</a:t>
              </a:r>
            </a:p>
          </p:txBody>
        </p:sp>
        <p:sp>
          <p:nvSpPr>
            <p:cNvPr name="TextBox 44" id="44"/>
            <p:cNvSpPr txBox="true"/>
            <p:nvPr/>
          </p:nvSpPr>
          <p:spPr>
            <a:xfrm rot="0">
              <a:off x="0" y="-19050"/>
              <a:ext cx="4662800" cy="503682"/>
            </a:xfrm>
            <a:prstGeom prst="rect">
              <a:avLst/>
            </a:prstGeom>
          </p:spPr>
          <p:txBody>
            <a:bodyPr anchor="t" rtlCol="false" tIns="0" lIns="0" bIns="0" rIns="0">
              <a:spAutoFit/>
            </a:bodyPr>
            <a:lstStyle/>
            <a:p>
              <a:pPr algn="l" marL="0" indent="0" lvl="0">
                <a:lnSpc>
                  <a:spcPts val="2568"/>
                </a:lnSpc>
                <a:spcBef>
                  <a:spcPct val="0"/>
                </a:spcBef>
              </a:pPr>
              <a:r>
                <a:rPr lang="en-US" sz="2400">
                  <a:solidFill>
                    <a:srgbClr val="C7C2EF"/>
                  </a:solidFill>
                  <a:latin typeface="ITC Avant Garde Gothic"/>
                  <a:ea typeface="ITC Avant Garde Gothic"/>
                  <a:cs typeface="ITC Avant Garde Gothic"/>
                  <a:sym typeface="ITC Avant Garde Gothic"/>
                </a:rPr>
                <a:t>Empresa</a:t>
              </a:r>
              <a:r>
                <a:rPr lang="en-US" sz="2400" u="none">
                  <a:solidFill>
                    <a:srgbClr val="C7C2EF"/>
                  </a:solidFill>
                  <a:latin typeface="ITC Avant Garde Gothic"/>
                  <a:ea typeface="ITC Avant Garde Gothic"/>
                  <a:cs typeface="ITC Avant Garde Gothic"/>
                  <a:sym typeface="ITC Avant Garde Gothic"/>
                </a:rPr>
                <a:t> 6</a:t>
              </a:r>
            </a:p>
          </p:txBody>
        </p:sp>
        <p:sp>
          <p:nvSpPr>
            <p:cNvPr name="TextBox 45" id="45"/>
            <p:cNvSpPr txBox="true"/>
            <p:nvPr/>
          </p:nvSpPr>
          <p:spPr>
            <a:xfrm rot="0">
              <a:off x="0" y="1300791"/>
              <a:ext cx="5686453" cy="1802215"/>
            </a:xfrm>
            <a:prstGeom prst="rect">
              <a:avLst/>
            </a:prstGeom>
          </p:spPr>
          <p:txBody>
            <a:bodyPr anchor="t" rtlCol="false" tIns="0" lIns="0" bIns="0" rIns="0">
              <a:spAutoFit/>
            </a:bodyPr>
            <a:lstStyle/>
            <a:p>
              <a:pPr algn="l" marL="0" indent="0" lvl="1">
                <a:lnSpc>
                  <a:spcPts val="2751"/>
                </a:lnSpc>
                <a:spcBef>
                  <a:spcPct val="0"/>
                </a:spcBef>
              </a:pPr>
              <a:r>
                <a:rPr lang="en-US" sz="1599" strike="noStrike" u="none">
                  <a:solidFill>
                    <a:srgbClr val="C7C2EF"/>
                  </a:solidFill>
                  <a:latin typeface="ITC Avant Garde Gothic"/>
                  <a:ea typeface="ITC Avant Garde Gothic"/>
                  <a:cs typeface="ITC Avant Garde Gothic"/>
                  <a:sym typeface="ITC Avant Garde Gothic"/>
                </a:rPr>
                <a:t> Es una de las plataformas líderes para generar canciones completas a partir de una simple descripción de texto o letras propias.</a:t>
              </a:r>
            </a:p>
          </p:txBody>
        </p:sp>
      </p:grpSp>
      <p:sp>
        <p:nvSpPr>
          <p:cNvPr name="TextBox 46" id="46"/>
          <p:cNvSpPr txBox="true"/>
          <p:nvPr/>
        </p:nvSpPr>
        <p:spPr>
          <a:xfrm rot="0">
            <a:off x="1016513" y="873287"/>
            <a:ext cx="12396227" cy="869950"/>
          </a:xfrm>
          <a:prstGeom prst="rect">
            <a:avLst/>
          </a:prstGeom>
        </p:spPr>
        <p:txBody>
          <a:bodyPr anchor="t" rtlCol="false" tIns="0" lIns="0" bIns="0" rIns="0">
            <a:spAutoFit/>
          </a:bodyPr>
          <a:lstStyle/>
          <a:p>
            <a:pPr algn="l" marL="0" indent="0" lvl="0">
              <a:lnSpc>
                <a:spcPts val="6799"/>
              </a:lnSpc>
              <a:spcBef>
                <a:spcPct val="0"/>
              </a:spcBef>
            </a:pPr>
            <a:r>
              <a:rPr lang="en-US" b="true" sz="3999" spc="235">
                <a:solidFill>
                  <a:srgbClr val="C7C2EF"/>
                </a:solidFill>
                <a:latin typeface="ITC Avant Garde Gothic Bold"/>
                <a:ea typeface="ITC Avant Garde Gothic Bold"/>
                <a:cs typeface="ITC Avant Garde Gothic Bold"/>
                <a:sym typeface="ITC Avant Garde Gothic Bold"/>
              </a:rPr>
              <a:t>L</a:t>
            </a:r>
            <a:r>
              <a:rPr lang="en-US" b="true" sz="3999" spc="235" strike="noStrike" u="none">
                <a:solidFill>
                  <a:srgbClr val="C7C2EF"/>
                </a:solidFill>
                <a:latin typeface="ITC Avant Garde Gothic Bold"/>
                <a:ea typeface="ITC Avant Garde Gothic Bold"/>
                <a:cs typeface="ITC Avant Garde Gothic Bold"/>
                <a:sym typeface="ITC Avant Garde Gothic Bold"/>
              </a:rPr>
              <a:t>as principales empresas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A0E79"/>
        </a:solidFill>
      </p:bgPr>
    </p:bg>
    <p:spTree>
      <p:nvGrpSpPr>
        <p:cNvPr id="1" name=""/>
        <p:cNvGrpSpPr/>
        <p:nvPr/>
      </p:nvGrpSpPr>
      <p:grpSpPr>
        <a:xfrm>
          <a:off x="0" y="0"/>
          <a:ext cx="0" cy="0"/>
          <a:chOff x="0" y="0"/>
          <a:chExt cx="0" cy="0"/>
        </a:xfrm>
      </p:grpSpPr>
      <p:grpSp>
        <p:nvGrpSpPr>
          <p:cNvPr name="Group 2" id="2"/>
          <p:cNvGrpSpPr/>
          <p:nvPr/>
        </p:nvGrpSpPr>
        <p:grpSpPr>
          <a:xfrm rot="0">
            <a:off x="5346340" y="5494382"/>
            <a:ext cx="7595319" cy="2399568"/>
            <a:chOff x="0" y="0"/>
            <a:chExt cx="10127092" cy="3199424"/>
          </a:xfrm>
        </p:grpSpPr>
        <p:sp>
          <p:nvSpPr>
            <p:cNvPr name="TextBox 3" id="3"/>
            <p:cNvSpPr txBox="true"/>
            <p:nvPr/>
          </p:nvSpPr>
          <p:spPr>
            <a:xfrm rot="0">
              <a:off x="0" y="-152400"/>
              <a:ext cx="10127092" cy="1844449"/>
            </a:xfrm>
            <a:prstGeom prst="rect">
              <a:avLst/>
            </a:prstGeom>
          </p:spPr>
          <p:txBody>
            <a:bodyPr anchor="t" rtlCol="false" tIns="0" lIns="0" bIns="0" rIns="0">
              <a:spAutoFit/>
            </a:bodyPr>
            <a:lstStyle/>
            <a:p>
              <a:pPr algn="ctr">
                <a:lnSpc>
                  <a:spcPts val="9877"/>
                </a:lnSpc>
              </a:pPr>
              <a:r>
                <a:rPr lang="en-US" b="true" sz="8370" spc="326">
                  <a:solidFill>
                    <a:srgbClr val="FFC857"/>
                  </a:solidFill>
                  <a:latin typeface="ITC Avant Garde Gothic Bold"/>
                  <a:ea typeface="ITC Avant Garde Gothic Bold"/>
                  <a:cs typeface="ITC Avant Garde Gothic Bold"/>
                  <a:sym typeface="ITC Avant Garde Gothic Bold"/>
                </a:rPr>
                <a:t>Gracias</a:t>
              </a:r>
            </a:p>
          </p:txBody>
        </p:sp>
        <p:sp>
          <p:nvSpPr>
            <p:cNvPr name="TextBox 4" id="4"/>
            <p:cNvSpPr txBox="true"/>
            <p:nvPr/>
          </p:nvSpPr>
          <p:spPr>
            <a:xfrm rot="0">
              <a:off x="0" y="1861437"/>
              <a:ext cx="10127092" cy="1337987"/>
            </a:xfrm>
            <a:prstGeom prst="rect">
              <a:avLst/>
            </a:prstGeom>
          </p:spPr>
          <p:txBody>
            <a:bodyPr anchor="t" rtlCol="false" tIns="0" lIns="0" bIns="0" rIns="0">
              <a:spAutoFit/>
            </a:bodyPr>
            <a:lstStyle/>
            <a:p>
              <a:pPr algn="ctr">
                <a:lnSpc>
                  <a:spcPts val="3776"/>
                </a:lnSpc>
              </a:pPr>
              <a:r>
                <a:rPr lang="en-US" sz="3200" spc="124">
                  <a:solidFill>
                    <a:srgbClr val="C7C2EF"/>
                  </a:solidFill>
                  <a:latin typeface="ITC Avant Garde Gothic"/>
                  <a:ea typeface="ITC Avant Garde Gothic"/>
                  <a:cs typeface="ITC Avant Garde Gothic"/>
                  <a:sym typeface="ITC Avant Garde Gothic"/>
                </a:rPr>
                <a:t>Alba Castro</a:t>
              </a:r>
            </a:p>
            <a:p>
              <a:pPr algn="ctr">
                <a:lnSpc>
                  <a:spcPts val="3776"/>
                </a:lnSpc>
              </a:pPr>
              <a:r>
                <a:rPr lang="en-US" sz="3200" spc="124">
                  <a:solidFill>
                    <a:srgbClr val="C7C2EF"/>
                  </a:solidFill>
                  <a:latin typeface="ITC Avant Garde Gothic"/>
                  <a:ea typeface="ITC Avant Garde Gothic"/>
                  <a:cs typeface="ITC Avant Garde Gothic"/>
                  <a:sym typeface="ITC Avant Garde Gothic"/>
                </a:rPr>
                <a:t>hola@unsitiogenial.es</a:t>
              </a:r>
            </a:p>
          </p:txBody>
        </p:sp>
      </p:grpSp>
      <p:sp>
        <p:nvSpPr>
          <p:cNvPr name="Freeform 5" id="5"/>
          <p:cNvSpPr/>
          <p:nvPr/>
        </p:nvSpPr>
        <p:spPr>
          <a:xfrm flipH="false" flipV="false" rot="0">
            <a:off x="12941660" y="-550034"/>
            <a:ext cx="6253610" cy="6019100"/>
          </a:xfrm>
          <a:custGeom>
            <a:avLst/>
            <a:gdLst/>
            <a:ahLst/>
            <a:cxnLst/>
            <a:rect r="r" b="b" t="t" l="l"/>
            <a:pathLst>
              <a:path h="6019100" w="6253610">
                <a:moveTo>
                  <a:pt x="0" y="0"/>
                </a:moveTo>
                <a:lnTo>
                  <a:pt x="6253610" y="0"/>
                </a:lnTo>
                <a:lnTo>
                  <a:pt x="6253610" y="6019099"/>
                </a:lnTo>
                <a:lnTo>
                  <a:pt x="0" y="60190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819732" y="4884400"/>
            <a:ext cx="6253610" cy="6019100"/>
          </a:xfrm>
          <a:custGeom>
            <a:avLst/>
            <a:gdLst/>
            <a:ahLst/>
            <a:cxnLst/>
            <a:rect r="r" b="b" t="t" l="l"/>
            <a:pathLst>
              <a:path h="6019100" w="6253610">
                <a:moveTo>
                  <a:pt x="0" y="0"/>
                </a:moveTo>
                <a:lnTo>
                  <a:pt x="6253610" y="0"/>
                </a:lnTo>
                <a:lnTo>
                  <a:pt x="6253610" y="6019100"/>
                </a:lnTo>
                <a:lnTo>
                  <a:pt x="0" y="60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7327557" y="1638682"/>
            <a:ext cx="3632887" cy="3632887"/>
          </a:xfrm>
          <a:custGeom>
            <a:avLst/>
            <a:gdLst/>
            <a:ahLst/>
            <a:cxnLst/>
            <a:rect r="r" b="b" t="t" l="l"/>
            <a:pathLst>
              <a:path h="3632887" w="3632887">
                <a:moveTo>
                  <a:pt x="0" y="0"/>
                </a:moveTo>
                <a:lnTo>
                  <a:pt x="3632886" y="0"/>
                </a:lnTo>
                <a:lnTo>
                  <a:pt x="3632886" y="3632886"/>
                </a:lnTo>
                <a:lnTo>
                  <a:pt x="0" y="36328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DAHUWmFzaLo</dc:identifier>
  <dcterms:modified xsi:type="dcterms:W3CDTF">2011-08-01T06:04:30Z</dcterms:modified>
  <cp:revision>1</cp:revision>
  <dc:title>Presentación Inteligencia Artificial Tecnológica Ilustrada Azul y Amarillo</dc:title>
</cp:coreProperties>
</file>