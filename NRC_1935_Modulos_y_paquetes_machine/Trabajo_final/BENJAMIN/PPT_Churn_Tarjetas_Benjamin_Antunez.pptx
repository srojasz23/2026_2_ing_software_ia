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5D366"/>
                </a:solidFill>
                <a:latin typeface="Aptos"/>
              </a:defRPr>
            </a:pPr>
            <a:r>
              <a:t>PROYECTO INTEGRADOR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9611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F2F5F8"/>
                </a:solidFill>
                <a:latin typeface="Aptos"/>
              </a:defRPr>
            </a:pPr>
            <a:r>
              <a:t>Prediccion de fuga de clientes</a:t>
            </a:r>
            <a:br/>
            <a:r>
              <a:t>con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6974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A9B6C4"/>
                </a:solidFill>
                <a:latin typeface="Aptos"/>
              </a:defRPr>
            </a:pPr>
            <a:r>
              <a:t>Churn en tarjetas de credito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577840" cy="114300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87952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2F5F8"/>
                </a:solidFill>
                <a:latin typeface="Aptos"/>
              </a:defRPr>
            </a:pPr>
            <a:r>
              <a:t>Benjamin Antunez Quispe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9028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A9B6C4"/>
                </a:solidFill>
                <a:latin typeface="Aptos"/>
              </a:defRPr>
            </a:pPr>
            <a:r>
              <a:t>SENATI | Ing. de Software con IA | 4 ciclo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977639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FF8B3D"/>
                </a:solidFill>
                <a:latin typeface="Aptos"/>
              </a:defRPr>
            </a:pPr>
            <a:r>
              <a:t>10,127</a:t>
            </a:r>
            <a:br/>
            <a:r>
              <a:t>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7548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25D366"/>
                </a:solidFill>
                <a:latin typeface="Aptos"/>
              </a:defRPr>
            </a:pPr>
            <a:r>
              <a:t>3</a:t>
            </a:r>
            <a:br/>
            <a:r>
              <a:t>modelos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1.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La meta es anticipar la fuga antes de que ocurra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577840" cy="44805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56231"/>
            <a:ext cx="91440" cy="9144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83080"/>
            <a:ext cx="47731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2F5F8"/>
                </a:solidFill>
                <a:latin typeface="Aptos"/>
              </a:defRPr>
            </a:pPr>
            <a:r>
              <a:t>La fuga de clientes puede significar perdida de ingresos y de relacion comercial.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79192"/>
            <a:ext cx="91440" cy="9144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606040"/>
            <a:ext cx="47731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2F5F8"/>
                </a:solidFill>
                <a:latin typeface="Aptos"/>
              </a:defRPr>
            </a:pPr>
            <a:r>
              <a:t>El proyecto convierte el historial de uso en una prediccion binaria: churn o no churn.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02152"/>
            <a:ext cx="91440" cy="91440"/>
          </a:xfrm>
          <a:prstGeom prst="ellipse">
            <a:avLst/>
          </a:prstGeom>
          <a:solidFill>
            <a:srgbClr val="5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429000"/>
            <a:ext cx="47731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2F5F8"/>
                </a:solidFill>
                <a:latin typeface="Aptos"/>
              </a:defRPr>
            </a:pPr>
            <a:r>
              <a:t>Se busca una solucion que detecte clientes de riesgo con datos medibles.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25112"/>
            <a:ext cx="91440" cy="9144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251960"/>
            <a:ext cx="47731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2F5F8"/>
                </a:solidFill>
                <a:latin typeface="Aptos"/>
              </a:defRPr>
            </a:pPr>
            <a:r>
              <a:t>La salida debe servir para priorizar acciones preventivas.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417320"/>
            <a:ext cx="4892040" cy="44805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78308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5D366"/>
                </a:solidFill>
                <a:latin typeface="Aptos"/>
              </a:defRPr>
            </a:pPr>
            <a:r>
              <a:t>Pregunta central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331720"/>
            <a:ext cx="42519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F2F5F8"/>
                </a:solidFill>
                <a:latin typeface="Aptos"/>
              </a:defRPr>
            </a:pPr>
            <a:r>
              <a:t>¿Podemos predecir</a:t>
            </a:r>
            <a:br/>
            <a:r>
              <a:t>quien tiene mayor</a:t>
            </a:r>
            <a:br/>
            <a:r>
              <a:t>riesgo de churn?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160520"/>
            <a:ext cx="397763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A9B6C4"/>
                </a:solidFill>
                <a:latin typeface="Aptos"/>
              </a:defRPr>
            </a:pPr>
            <a:r>
              <a:t>La respuesta se construye con analisis, modelos y evaluacion.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2.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Un recorrido claro desde los datos hasta una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01568" cy="40690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1051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8B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F2F5F8"/>
                </a:solidFill>
                <a:latin typeface="Aptos"/>
              </a:defRPr>
            </a:pPr>
            <a:r>
              <a:t>Preparar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71800"/>
            <a:ext cx="2788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A9B6C4"/>
                </a:solidFill>
                <a:latin typeface="Aptos"/>
              </a:defRPr>
            </a:pPr>
            <a:r>
              <a:t>Limpiar, transformar y crear variables utiles.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8006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8B3D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508760"/>
            <a:ext cx="3401568" cy="40690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81051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5AA7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3317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F2F5F8"/>
                </a:solidFill>
                <a:latin typeface="Aptos"/>
              </a:defRPr>
            </a:pPr>
            <a:r>
              <a:t>Analizar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971800"/>
            <a:ext cx="2788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A9B6C4"/>
                </a:solidFill>
                <a:latin typeface="Aptos"/>
              </a:defRPr>
            </a:pPr>
            <a:r>
              <a:t>Encontrar patrones asociados al churn.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48006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5AA7FF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508760"/>
            <a:ext cx="3401568" cy="40690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81051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3317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F2F5F8"/>
                </a:solidFill>
                <a:latin typeface="Aptos"/>
              </a:defRPr>
            </a:pPr>
            <a:r>
              <a:t>Comparar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971800"/>
            <a:ext cx="2788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A9B6C4"/>
                </a:solidFill>
                <a:latin typeface="Aptos"/>
              </a:defRPr>
            </a:pPr>
            <a:r>
              <a:t>Evaluar 3 modelos y elegir el mejor.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480060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5D366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3.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BankChurners.csv y variable objetivo Churn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514600" cy="118872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27632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25D366"/>
                </a:solidFill>
                <a:latin typeface="Aptos"/>
              </a:defRPr>
            </a:pPr>
            <a:r>
              <a:t>10,127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75688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A9B6C4"/>
                </a:solidFill>
                <a:latin typeface="Aptos"/>
              </a:defRPr>
            </a:pPr>
            <a:r>
              <a:t>registros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7" y="1417320"/>
            <a:ext cx="2514600" cy="118872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3" y="1627632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FF8B3D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3" y="2075688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A9B6C4"/>
                </a:solidFill>
                <a:latin typeface="Aptos"/>
              </a:defRPr>
            </a:pPr>
            <a:r>
              <a:t>columnas originales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1417320"/>
            <a:ext cx="2514600" cy="118872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3" y="1627632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5AA7FF"/>
                </a:solidFill>
                <a:latin typeface="Aptos"/>
              </a:defRPr>
            </a:pPr>
            <a:r>
              <a:t>16.1%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3" y="2075688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A9B6C4"/>
                </a:solidFill>
                <a:latin typeface="Aptos"/>
              </a:defRPr>
            </a:pPr>
            <a:r>
              <a:t>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1417320"/>
            <a:ext cx="2514600" cy="118872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4" y="1627632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25D36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2075688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A9B6C4"/>
                </a:solidFill>
                <a:latin typeface="Aptos"/>
              </a:defRPr>
            </a:pPr>
            <a:r>
              <a:t>variables de entrada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80360"/>
            <a:ext cx="5486400" cy="28803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273552"/>
            <a:ext cx="91440" cy="9144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200400"/>
            <a:ext cx="48188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Churn = 1 si el cliente se fue; Churn = 0 si permanece.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050791"/>
            <a:ext cx="91440" cy="91440"/>
          </a:xfrm>
          <a:prstGeom prst="ellipse">
            <a:avLst/>
          </a:prstGeom>
          <a:solidFill>
            <a:srgbClr val="5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977639"/>
            <a:ext cx="48188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Se excluyeron CLIENTNUM y las columnas Naive Bayes ya calculadas.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28032"/>
            <a:ext cx="91440" cy="9144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754880"/>
            <a:ext cx="48188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Se usaron datos de edad, limites, transacciones, inactividad, ingresos y tarjeta.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2512" y="2880360"/>
            <a:ext cx="5120640" cy="28803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3200400"/>
            <a:ext cx="4617720" cy="22402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4. Metodologia usada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Pipeline aplicado en el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727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72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Limpieza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3911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ID + Naive Bayes fuera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5727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572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Ingenieria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3911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2 ratios + codigos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727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572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Codificacion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3911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Dummies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141732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1" y="15727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9" y="15727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Division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1" y="203911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80% / 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2900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58444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844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Escalado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0507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StandardScaler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42900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358444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5844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Balanceo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0507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SMOTE en train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2900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58444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5844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Modelos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0507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RL + RF + 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39" y="3429000"/>
            <a:ext cx="2487168" cy="1481328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1" y="358444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199" y="358444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2F5F8"/>
                </a:solidFill>
                <a:latin typeface="Aptos"/>
              </a:defRPr>
            </a:pPr>
            <a:r>
              <a:t>Evaluacion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1" y="40507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Accuracy + F1 + 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5. Analisis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Antes del modelo, el comportamiento ya muestra diferencias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6446520" cy="466344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45920"/>
            <a:ext cx="59436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4434840"/>
            <a:ext cx="5806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La actividad transaccional y la inactividad ayudan a separar clientes. Un perfil con menos operaciones y mayor inactividad aparece como una senal util para predecir fuga.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89888"/>
            <a:ext cx="4187952" cy="466344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09928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5D366"/>
                </a:solidFill>
                <a:latin typeface="Aptos"/>
              </a:defRPr>
            </a:pPr>
            <a:r>
              <a:t>Lectura para la exposicion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40280"/>
            <a:ext cx="3611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Primero observamos</a:t>
            </a:r>
            <a:br/>
            <a:br/>
            <a:r>
              <a:t>1. Comportamiento transaccional</a:t>
            </a:r>
            <a:br/>
            <a:r>
              <a:t>2. Inactividad</a:t>
            </a:r>
            <a:br/>
            <a:r>
              <a:t>3. Relaciones entre variables</a:t>
            </a:r>
            <a:br/>
            <a:br/>
            <a:r>
              <a:t>Luego llevamos estas senales al modelo.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6. Analisis de correlacion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Spearman para estudiar relaciones monotonicamente ordenadas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6400800" cy="47091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5852160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371600"/>
            <a:ext cx="4206240" cy="47091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190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8B3D"/>
                </a:solidFill>
                <a:latin typeface="Aptos"/>
              </a:defRPr>
            </a:pPr>
            <a:r>
              <a:t>Que aporta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2359152"/>
            <a:ext cx="91440" cy="91440"/>
          </a:xfrm>
          <a:prstGeom prst="ellipse">
            <a:avLst/>
          </a:prstGeom>
          <a:solidFill>
            <a:srgbClr val="5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2286000"/>
            <a:ext cx="335584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Permite detectar relaciones sin exigir normalidad.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3227832"/>
            <a:ext cx="91440" cy="9144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3154680"/>
            <a:ext cx="335584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Las variables de actividad son relevantes para entender churn.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4096512"/>
            <a:ext cx="91440" cy="9144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4023360"/>
            <a:ext cx="335584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La correlacion no reemplaza al modelo; sirve para orientar el analisis.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7. Variables creadas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Ingenieria de caracteristicas para representar mejor al 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81360" cy="118872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5D366"/>
                </a:solidFill>
                <a:latin typeface="Aptos"/>
              </a:defRPr>
            </a:pPr>
            <a:r>
              <a:t>Ratio_Gasto_Limite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161848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8B3D"/>
                </a:solidFill>
                <a:latin typeface="Aptos"/>
              </a:defRPr>
            </a:pPr>
            <a:r>
              <a:t>monto trans. / limite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00200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2F5F8"/>
                </a:solidFill>
                <a:latin typeface="Aptos"/>
              </a:defRPr>
            </a:pPr>
            <a:r>
              <a:t>Relaciona gasto con capacidad de credito.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10881360" cy="118872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12724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8B3D"/>
                </a:solidFill>
                <a:latin typeface="Aptos"/>
              </a:defRPr>
            </a:pPr>
            <a:r>
              <a:t>Promedio_Transaccion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12724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8B3D"/>
                </a:solidFill>
                <a:latin typeface="Aptos"/>
              </a:defRPr>
            </a:pPr>
            <a:r>
              <a:t>monto trans. / cant. trans.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108960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2F5F8"/>
                </a:solidFill>
                <a:latin typeface="Aptos"/>
              </a:defRPr>
            </a:pPr>
            <a:r>
              <a:t>Resume el valor medio de una operacion.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10881360" cy="118872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636007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5AA7FF"/>
                </a:solidFill>
                <a:latin typeface="Aptos"/>
              </a:defRPr>
            </a:pPr>
            <a:r>
              <a:t>Codigos categoricos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4636007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8B3D"/>
                </a:solidFill>
                <a:latin typeface="Aptos"/>
              </a:defRPr>
            </a:pPr>
            <a:r>
              <a:t>educacion + ingreso + tarjeta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617720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2F5F8"/>
                </a:solidFill>
                <a:latin typeface="Aptos"/>
              </a:defRPr>
            </a:pPr>
            <a:r>
              <a:t>Permiten incorporar categorias al modelo.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6247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A9B6C4"/>
                </a:solidFill>
                <a:latin typeface="Aptos"/>
              </a:defRPr>
            </a:pPr>
            <a:r>
              <a:t>Idea clave: crear variables que hagan visible el comportamiento que queremos predecir.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8. Modelos utilizados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Misma meta, tres enfoques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3401568" cy="44805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5AA7FF"/>
                </a:solidFill>
                <a:latin typeface="Aptos"/>
              </a:defRPr>
            </a:pPr>
            <a:r>
              <a:t>Regresion Logistica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2F5F8"/>
                </a:solidFill>
                <a:latin typeface="Aptos"/>
              </a:defRPr>
            </a:pPr>
            <a:r>
              <a:t>Modelo lineal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834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9B6C4"/>
                </a:solidFill>
                <a:latin typeface="Aptos"/>
              </a:defRPr>
            </a:pPr>
            <a:r>
              <a:t>Sirve como referencia y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5AA7F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44752"/>
            <a:ext cx="3401568" cy="44805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7556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25D366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2F5F8"/>
                </a:solidFill>
                <a:latin typeface="Aptos"/>
              </a:defRPr>
            </a:pPr>
            <a:r>
              <a:t>Ensemble de arboles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154680"/>
            <a:ext cx="2834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9B6C4"/>
                </a:solidFill>
                <a:latin typeface="Aptos"/>
              </a:defRPr>
            </a:pPr>
            <a:r>
              <a:t>Captura relaciones no lineales y da importancia de variables.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074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5D366"/>
                </a:solidFill>
                <a:latin typeface="Aptos"/>
              </a:defRPr>
            </a:pPr>
            <a:r>
              <a:t>Modelo ganador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444752"/>
            <a:ext cx="3401568" cy="44805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7556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8B3D"/>
                </a:solidFill>
                <a:latin typeface="Aptos"/>
              </a:defRPr>
            </a:pPr>
            <a:r>
              <a:t>Red Neuronal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2F5F8"/>
                </a:solidFill>
                <a:latin typeface="Aptos"/>
              </a:defRPr>
            </a:pPr>
            <a:r>
              <a:t>Capas 32 -&gt; 16 -&gt;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154680"/>
            <a:ext cx="2834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9B6C4"/>
                </a:solidFill>
                <a:latin typeface="Aptos"/>
              </a:defRPr>
            </a:pPr>
            <a:r>
              <a:t>Busca patrones mas complejos con entrenamiento iterativo.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5074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8B3D"/>
                </a:solidFill>
                <a:latin typeface="Aptos"/>
              </a:defRPr>
            </a:pPr>
            <a:r>
              <a:t>Modelo avanzado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9. Resultados y comparacion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Random Forest destaca en accuracy y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71600"/>
            <a:ext cx="6446520" cy="47548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589788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48006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2F5F8"/>
                </a:solidFill>
                <a:latin typeface="Aptos"/>
              </a:defRPr>
            </a:pPr>
            <a:r>
              <a:t>RF supera al baseline: 95.6% de accuracy y AUC de 0.987. La red neuronal queda en 92.8% y AUC 0.962.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71600"/>
            <a:ext cx="4206240" cy="47548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7190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5D366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286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F2F5F8"/>
                </a:solidFill>
                <a:latin typeface="Aptos"/>
              </a:defRPr>
            </a:pPr>
            <a:r>
              <a:t>01  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8803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2F5F8"/>
                </a:solidFill>
                <a:latin typeface="Aptos"/>
              </a:defRPr>
            </a:pPr>
            <a:r>
              <a:t>02  Red Neuronal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474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2F5F8"/>
                </a:solidFill>
                <a:latin typeface="Aptos"/>
              </a:defRPr>
            </a:pPr>
            <a:r>
              <a:t>03  Reg. Logistica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34340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A9B6C4"/>
                </a:solidFill>
                <a:latin typeface="Aptos"/>
              </a:defRPr>
            </a:pPr>
            <a:r>
              <a:t>Seleccion: Random Forest</a:t>
            </a:r>
            <a:br/>
            <a:r>
              <a:t>por rendimiento global y equilibrio en churn.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10. Matriz de confusion e importancia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No solo importa acertar: importa detectar el churn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6400800" cy="47091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5852160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4617720"/>
            <a:ext cx="5806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2F5F8"/>
                </a:solidFill>
                <a:latin typeface="Aptos"/>
              </a:defRPr>
            </a:pPr>
            <a:r>
              <a:t>En RF: 281 churn detectados de 325 casos reales. Hubo 44 falsos negativos y 45 falsos positivos.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6912" y="1353312"/>
            <a:ext cx="4206240" cy="470916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8B3D"/>
                </a:solidFill>
                <a:latin typeface="Aptos"/>
              </a:defRPr>
            </a:pPr>
            <a:r>
              <a:t>Top variables RF</a:t>
            </a:r>
          </a:p>
        </p:txBody>
      </p:sp>
      <p:pic>
        <p:nvPicPr>
          <p:cNvPr id="10" name="Picture 9" descr="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057400"/>
            <a:ext cx="3657600" cy="2971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1231" y="523036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A9B6C4"/>
                </a:solidFill>
                <a:latin typeface="Aptos"/>
              </a:defRPr>
            </a:pPr>
            <a:r>
              <a:t>Las transacciones aparecen como las senales mas fuertes.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11. Red neuronal y analisis adicional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La red aprende progresivamente; el notebook tambien incluye una prueba de sentimiento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577840" cy="45262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50292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38912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2F5F8"/>
                </a:solidFill>
                <a:latin typeface="Aptos"/>
              </a:defRPr>
            </a:pPr>
            <a:r>
              <a:t>En la reproduccion local: accuracy test = 0.928 y AUC = 0.962. La arquitectura usa 32, 16 y 1 neurona de salida.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71600"/>
            <a:ext cx="5074920" cy="45262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91640"/>
            <a:ext cx="438912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429768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A9B6C4"/>
                </a:solidFill>
                <a:latin typeface="Aptos"/>
              </a:defRPr>
            </a:pPr>
            <a:r>
              <a:t>El dataset no contiene texto libre, por eso el notebook crea 8 comentarios de ejemplo y los clasifica por sentimiento. Es un complemento, no parte del modelo de churn.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12.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Lo que debemos llevarnos a la sustentacion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212080" cy="169164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27632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2F5F8"/>
                </a:solidFill>
                <a:latin typeface="Aptos"/>
              </a:defRPr>
            </a:pPr>
            <a:r>
              <a:t>El churn es predecible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30552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9B6C4"/>
                </a:solidFill>
                <a:latin typeface="Aptos"/>
              </a:defRPr>
            </a:pPr>
            <a:r>
              <a:t>El comportamiento transaccional contiene senales utiles.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444752"/>
            <a:ext cx="5212080" cy="169164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62763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8B3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27632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2F5F8"/>
                </a:solidFill>
                <a:latin typeface="Aptos"/>
              </a:defRPr>
            </a:pPr>
            <a:r>
              <a:t>RF fue el mejor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30552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9B6C4"/>
                </a:solidFill>
                <a:latin typeface="Aptos"/>
              </a:defRPr>
            </a:pPr>
            <a:r>
              <a:t>95.6% accuracy y 0.987 AUC en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93592"/>
            <a:ext cx="5212080" cy="169164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77647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5AA7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76472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2F5F8"/>
                </a:solidFill>
                <a:latin typeface="Aptos"/>
              </a:defRPr>
            </a:pPr>
            <a:r>
              <a:t>Las variables importan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79392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9B6C4"/>
                </a:solidFill>
                <a:latin typeface="Aptos"/>
              </a:defRPr>
            </a:pPr>
            <a:r>
              <a:t>La cantidad y monto de transacciones lideran la importancia.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593592"/>
            <a:ext cx="5212080" cy="169164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77647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25D36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76472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2F5F8"/>
                </a:solidFill>
                <a:latin typeface="Aptos"/>
              </a:defRPr>
            </a:pPr>
            <a:r>
              <a:t>SMOTE ayudo al objetivo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79392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9B6C4"/>
                </a:solidFill>
                <a:latin typeface="Aptos"/>
              </a:defRPr>
            </a:pPr>
            <a:r>
              <a:t>El entrenamiento quedo balanceado 6799 / 6799.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2F5F8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9B6C4"/>
                </a:solidFill>
                <a:latin typeface="Aptos"/>
              </a:defRPr>
            </a:pPr>
            <a:r>
              <a:t>Mensaje final para la exposicion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61320" cy="3611880"/>
          </a:xfrm>
          <a:prstGeom prst="roundRect">
            <a:avLst/>
          </a:prstGeom>
          <a:solidFill>
            <a:srgbClr val="131D28"/>
          </a:solidFill>
          <a:ln>
            <a:solidFill>
              <a:srgbClr val="26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9921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2F5F8"/>
                </a:solidFill>
                <a:latin typeface="Aptos"/>
              </a:defRPr>
            </a:pPr>
            <a:r>
              <a:t>"El modelo no reemplaza la decision del banco: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70048"/>
            <a:ext cx="9921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25D366"/>
                </a:solidFill>
                <a:latin typeface="Aptos"/>
              </a:defRPr>
            </a:pPr>
            <a:r>
              <a:t>la convierte en una decision basada en datos."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77639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A9B6C4"/>
                </a:solidFill>
                <a:latin typeface="Aptos"/>
              </a:defRPr>
            </a:pPr>
            <a:r>
              <a:t>Proyecto: prediccion de fuga de clientes en tarjetas de credito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A9B6C4"/>
                </a:solidFill>
                <a:latin typeface="Aptos"/>
              </a:defRPr>
            </a:pPr>
            <a:r>
              <a:t>Benjamin Antunez Quispe | SENATI | 4 ciclo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5566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A9B6C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