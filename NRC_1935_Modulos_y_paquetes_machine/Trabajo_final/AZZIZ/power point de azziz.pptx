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31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792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smtClean="0"/>
              <a:t>Haga clic para editar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6418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07522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41562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42387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04215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17861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96891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53634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61421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05390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981326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>
          <a:xfrm>
            <a:off x="1930400" y="3771174"/>
            <a:ext cx="7385828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53444725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59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195317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886894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de image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499362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702288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82148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accent1">
                  <a:lumMod val="60000"/>
                  <a:lumOff val="40000"/>
                  <a:alpha val="7000"/>
                </a:schemeClr>
              </a:gs>
              <a:gs pos="69000">
                <a:schemeClr val="accent1">
                  <a:lumMod val="60000"/>
                  <a:lumOff val="40000"/>
                  <a:alpha val="0"/>
                </a:schemeClr>
              </a:gs>
              <a:gs pos="36000">
                <a:schemeClr val="accent1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713"/>
          <a:stretch/>
        </p:blipFill>
        <p:spPr>
          <a:xfrm>
            <a:off x="8000197" y="0"/>
            <a:ext cx="1603387" cy="114300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4199"/>
          <a:stretch/>
        </p:blipFill>
        <p:spPr>
          <a:xfrm>
            <a:off x="8609012" y="6092866"/>
            <a:ext cx="993734" cy="765134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153817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32" r:id="rId1"/>
    <p:sldLayoutId id="2147483733" r:id="rId2"/>
    <p:sldLayoutId id="2147483734" r:id="rId3"/>
    <p:sldLayoutId id="2147483735" r:id="rId4"/>
    <p:sldLayoutId id="2147483736" r:id="rId5"/>
    <p:sldLayoutId id="2147483737" r:id="rId6"/>
    <p:sldLayoutId id="2147483738" r:id="rId7"/>
    <p:sldLayoutId id="2147483739" r:id="rId8"/>
    <p:sldLayoutId id="2147483740" r:id="rId9"/>
    <p:sldLayoutId id="2147483741" r:id="rId10"/>
    <p:sldLayoutId id="2147483742" r:id="rId11"/>
    <p:sldLayoutId id="2147483743" r:id="rId12"/>
    <p:sldLayoutId id="2147483744" r:id="rId13"/>
    <p:sldLayoutId id="2147483745" r:id="rId14"/>
    <p:sldLayoutId id="2147483746" r:id="rId15"/>
    <p:sldLayoutId id="2147483747" r:id="rId16"/>
    <p:sldLayoutId id="2147483748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31056" y="2522243"/>
            <a:ext cx="7346852" cy="966545"/>
          </a:xfrm>
        </p:spPr>
        <p:txBody>
          <a:bodyPr>
            <a:normAutofit fontScale="90000"/>
          </a:bodyPr>
          <a:lstStyle/>
          <a:p>
            <a:r>
              <a:rPr sz="4800" dirty="0" err="1"/>
              <a:t>Predicción</a:t>
            </a:r>
            <a:r>
              <a:rPr sz="4800" dirty="0"/>
              <a:t> del </a:t>
            </a:r>
            <a:r>
              <a:rPr sz="4800" dirty="0" err="1"/>
              <a:t>rendimiento</a:t>
            </a:r>
            <a:r>
              <a:rPr sz="4800" dirty="0"/>
              <a:t> </a:t>
            </a:r>
            <a:r>
              <a:rPr sz="4800" dirty="0" err="1"/>
              <a:t>académico</a:t>
            </a:r>
            <a:r>
              <a:rPr sz="4800" dirty="0"/>
              <a:t> de </a:t>
            </a:r>
            <a:r>
              <a:rPr sz="4800" dirty="0" err="1"/>
              <a:t>estudiantes</a:t>
            </a:r>
            <a:endParaRPr sz="48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81354" y="3771899"/>
            <a:ext cx="6400800" cy="1752600"/>
          </a:xfrm>
        </p:spPr>
        <p:txBody>
          <a:bodyPr>
            <a:normAutofit/>
          </a:bodyPr>
          <a:lstStyle/>
          <a:p>
            <a:r>
              <a:rPr b="1" dirty="0"/>
              <a:t>Proyecto Final – Machine Learning con Python</a:t>
            </a:r>
          </a:p>
          <a:p>
            <a:r>
              <a:rPr b="1" dirty="0" err="1"/>
              <a:t>Ingeniería</a:t>
            </a:r>
            <a:r>
              <a:rPr b="1" dirty="0"/>
              <a:t> de Software con </a:t>
            </a:r>
            <a:r>
              <a:rPr b="1" dirty="0" err="1"/>
              <a:t>Inteligencia</a:t>
            </a:r>
            <a:r>
              <a:rPr b="1" dirty="0"/>
              <a:t> Artificial – 4.º </a:t>
            </a:r>
            <a:r>
              <a:rPr b="1" dirty="0" err="1"/>
              <a:t>ciclo</a:t>
            </a:r>
            <a:endParaRPr b="1" dirty="0"/>
          </a:p>
        </p:txBody>
      </p:sp>
      <p:sp>
        <p:nvSpPr>
          <p:cNvPr id="4" name="CuadroTexto 3"/>
          <p:cNvSpPr txBox="1"/>
          <p:nvPr/>
        </p:nvSpPr>
        <p:spPr>
          <a:xfrm>
            <a:off x="531056" y="5669280"/>
            <a:ext cx="244777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 err="1" smtClean="0"/>
              <a:t>Azziz</a:t>
            </a:r>
            <a:r>
              <a:rPr lang="es-ES" dirty="0" smtClean="0"/>
              <a:t> raid </a:t>
            </a:r>
            <a:r>
              <a:rPr lang="es-ES" dirty="0" err="1" smtClean="0"/>
              <a:t>isrrael</a:t>
            </a:r>
            <a:r>
              <a:rPr lang="es-ES" dirty="0" smtClean="0"/>
              <a:t> Alvarado pachas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Planteamiento</a:t>
            </a:r>
            <a:r>
              <a:rPr lang="en-US" dirty="0"/>
              <a:t> del </a:t>
            </a:r>
            <a:r>
              <a:rPr lang="en-US" dirty="0" err="1"/>
              <a:t>problema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1341566" cy="518603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s-ES" sz="3200" dirty="0"/>
              <a:t>En el ámbito académico, puede ser difícil conocer con </a:t>
            </a:r>
            <a:endParaRPr lang="es-ES" sz="3200" dirty="0" smtClean="0"/>
          </a:p>
          <a:p>
            <a:r>
              <a:rPr lang="es-ES" sz="3200" dirty="0" smtClean="0"/>
              <a:t>anticipación </a:t>
            </a:r>
            <a:r>
              <a:rPr lang="es-ES" sz="3200" dirty="0"/>
              <a:t>qué estudiantes podrían tener </a:t>
            </a:r>
            <a:r>
              <a:rPr lang="es-ES" sz="3200" dirty="0" smtClean="0"/>
              <a:t>dificultades</a:t>
            </a:r>
          </a:p>
          <a:p>
            <a:r>
              <a:rPr lang="es-ES" sz="3200" dirty="0" smtClean="0"/>
              <a:t> </a:t>
            </a:r>
            <a:r>
              <a:rPr lang="es-ES" sz="3200" dirty="0"/>
              <a:t>para aprobar.</a:t>
            </a:r>
          </a:p>
          <a:p>
            <a:r>
              <a:rPr lang="es-ES" sz="3200" dirty="0"/>
              <a:t>Muchas veces, los datos sobre las horas de estudio, </a:t>
            </a:r>
            <a:endParaRPr lang="es-ES" sz="3200" dirty="0" smtClean="0"/>
          </a:p>
          <a:p>
            <a:r>
              <a:rPr lang="es-ES" sz="3200" dirty="0" smtClean="0"/>
              <a:t>la </a:t>
            </a:r>
            <a:r>
              <a:rPr lang="es-ES" sz="3200" dirty="0"/>
              <a:t>asistencia y las calificaciones no se analizan de </a:t>
            </a:r>
            <a:endParaRPr lang="es-ES" sz="3200" dirty="0" smtClean="0"/>
          </a:p>
          <a:p>
            <a:r>
              <a:rPr lang="es-ES" sz="3200" dirty="0" smtClean="0"/>
              <a:t>manera </a:t>
            </a:r>
            <a:r>
              <a:rPr lang="es-ES" sz="3200" dirty="0"/>
              <a:t>conjunta.</a:t>
            </a:r>
          </a:p>
          <a:p>
            <a:r>
              <a:rPr lang="es-ES" sz="3200" dirty="0"/>
              <a:t>Por ello, se propone utilizar </a:t>
            </a:r>
            <a:r>
              <a:rPr lang="es-ES" sz="3200" b="1" dirty="0"/>
              <a:t>Machine </a:t>
            </a:r>
            <a:r>
              <a:rPr lang="es-ES" sz="3200" b="1" dirty="0" err="1"/>
              <a:t>Learning</a:t>
            </a:r>
            <a:r>
              <a:rPr lang="es-ES" sz="3200" dirty="0"/>
              <a:t> </a:t>
            </a:r>
            <a:r>
              <a:rPr lang="es-ES" sz="3200" dirty="0" smtClean="0"/>
              <a:t>para</a:t>
            </a:r>
          </a:p>
          <a:p>
            <a:r>
              <a:rPr lang="es-ES" sz="3200" dirty="0" smtClean="0"/>
              <a:t> </a:t>
            </a:r>
            <a:r>
              <a:rPr lang="es-ES" sz="3200" dirty="0"/>
              <a:t>analizar estos datos</a:t>
            </a:r>
            <a:r>
              <a:rPr lang="es-ES" sz="3200" dirty="0" smtClean="0"/>
              <a:t>,</a:t>
            </a:r>
          </a:p>
          <a:p>
            <a:r>
              <a:rPr lang="es-ES" sz="3200" dirty="0" smtClean="0"/>
              <a:t> </a:t>
            </a:r>
            <a:r>
              <a:rPr lang="es-ES" sz="3200" dirty="0"/>
              <a:t>identificar patrones y predecir si un estudiante puede </a:t>
            </a:r>
            <a:endParaRPr lang="es-ES" sz="3200" dirty="0" smtClean="0"/>
          </a:p>
          <a:p>
            <a:r>
              <a:rPr lang="es-ES" sz="3200" dirty="0" smtClean="0"/>
              <a:t>aprobar </a:t>
            </a:r>
            <a:r>
              <a:rPr lang="es-ES" sz="3200" dirty="0"/>
              <a:t>o desaprobar.</a:t>
            </a:r>
          </a:p>
          <a:p>
            <a:pPr>
              <a:spcAft>
                <a:spcPts val="1200"/>
              </a:spcAft>
              <a:defRPr sz="2300"/>
            </a:pPr>
            <a:endParaRPr sz="11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Objetivos</a:t>
            </a:r>
            <a:r>
              <a:rPr lang="en-US" dirty="0"/>
              <a:t> del </a:t>
            </a:r>
            <a:r>
              <a:rPr lang="en-US" dirty="0" err="1"/>
              <a:t>proyecto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445488" cy="48782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s-ES" sz="3600" dirty="0"/>
              <a:t>Revisar las notas y los datos de los </a:t>
            </a:r>
            <a:r>
              <a:rPr lang="es-ES" sz="3600" dirty="0" smtClean="0"/>
              <a:t>estudiantes</a:t>
            </a:r>
          </a:p>
          <a:p>
            <a:r>
              <a:rPr lang="es-ES" sz="3600" dirty="0" smtClean="0"/>
              <a:t> </a:t>
            </a:r>
            <a:r>
              <a:rPr lang="es-ES" sz="3600" dirty="0"/>
              <a:t>para encontrar </a:t>
            </a:r>
            <a:r>
              <a:rPr lang="es-ES" sz="3600" dirty="0" smtClean="0"/>
              <a:t>algunos</a:t>
            </a:r>
          </a:p>
          <a:p>
            <a:r>
              <a:rPr lang="es-ES" sz="3600" dirty="0" smtClean="0"/>
              <a:t> </a:t>
            </a:r>
            <a:r>
              <a:rPr lang="es-ES" sz="3600" dirty="0"/>
              <a:t>patrones. </a:t>
            </a:r>
          </a:p>
          <a:p>
            <a:r>
              <a:rPr lang="es-ES" sz="3600" dirty="0"/>
              <a:t>Predecir si un estudiante puede aprobar o </a:t>
            </a:r>
          </a:p>
          <a:p>
            <a:r>
              <a:rPr lang="es-ES" sz="3600" dirty="0" smtClean="0"/>
              <a:t>desaprobar</a:t>
            </a:r>
            <a:r>
              <a:rPr lang="es-ES" sz="3600" dirty="0"/>
              <a:t>. </a:t>
            </a:r>
          </a:p>
          <a:p>
            <a:r>
              <a:rPr lang="es-ES" sz="3600" dirty="0"/>
              <a:t>Usar estos resultados para identificar a los </a:t>
            </a:r>
            <a:endParaRPr lang="es-ES" sz="3600" dirty="0" smtClean="0"/>
          </a:p>
          <a:p>
            <a:r>
              <a:rPr lang="es-ES" sz="3600" dirty="0" smtClean="0"/>
              <a:t>estudiantes </a:t>
            </a:r>
            <a:r>
              <a:rPr lang="es-ES" sz="3600" dirty="0"/>
              <a:t>que podrían tener </a:t>
            </a:r>
            <a:r>
              <a:rPr lang="es-ES" sz="3600" dirty="0" smtClean="0"/>
              <a:t>dificultades</a:t>
            </a:r>
          </a:p>
          <a:p>
            <a:r>
              <a:rPr lang="es-ES" sz="3600" dirty="0" smtClean="0"/>
              <a:t> </a:t>
            </a:r>
            <a:r>
              <a:rPr lang="es-ES" sz="3600" dirty="0"/>
              <a:t>académicas.</a:t>
            </a:r>
            <a:r>
              <a:rPr lang="es-ES" dirty="0"/>
              <a:t> </a:t>
            </a:r>
          </a:p>
          <a:p>
            <a:pPr>
              <a:spcAft>
                <a:spcPts val="1200"/>
              </a:spcAft>
              <a:defRPr sz="2300"/>
            </a:pPr>
            <a:r>
              <a:rPr dirty="0" smtClean="0"/>
              <a:t>.</a:t>
            </a: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3. </a:t>
            </a:r>
            <a:r>
              <a:rPr dirty="0" err="1"/>
              <a:t>Conjunto</a:t>
            </a:r>
            <a:r>
              <a:rPr dirty="0"/>
              <a:t> de </a:t>
            </a:r>
            <a:r>
              <a:rPr dirty="0" err="1"/>
              <a:t>datos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854253" cy="561692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s-ES" sz="2800" dirty="0"/>
              <a:t>Para el proyecto utilicé un conjunto de datos de estudiantes </a:t>
            </a:r>
            <a:endParaRPr lang="es-ES" sz="2800" dirty="0" smtClean="0"/>
          </a:p>
          <a:p>
            <a:r>
              <a:rPr lang="es-ES" sz="2800" dirty="0" smtClean="0"/>
              <a:t>descargado </a:t>
            </a:r>
            <a:r>
              <a:rPr lang="es-ES" sz="2800" dirty="0"/>
              <a:t>de </a:t>
            </a:r>
            <a:r>
              <a:rPr lang="es-ES" sz="2800" dirty="0" err="1"/>
              <a:t>Kaggle</a:t>
            </a:r>
            <a:r>
              <a:rPr lang="es-ES" sz="2800" dirty="0"/>
              <a:t>.</a:t>
            </a:r>
          </a:p>
          <a:p>
            <a:r>
              <a:rPr lang="es-ES" sz="2800" dirty="0"/>
              <a:t>Contiene información de 1000 estudiantes. </a:t>
            </a:r>
          </a:p>
          <a:p>
            <a:r>
              <a:rPr lang="es-ES" sz="2800" dirty="0"/>
              <a:t>Tiene 9 columnas. </a:t>
            </a:r>
          </a:p>
          <a:p>
            <a:r>
              <a:rPr lang="es-ES" sz="2800" dirty="0"/>
              <a:t>Incluye datos como: </a:t>
            </a:r>
          </a:p>
          <a:p>
            <a:pPr lvl="1"/>
            <a:r>
              <a:rPr lang="es-ES" sz="2800" dirty="0"/>
              <a:t>Horas de estudio. </a:t>
            </a:r>
          </a:p>
          <a:p>
            <a:pPr lvl="1"/>
            <a:r>
              <a:rPr lang="es-ES" sz="2800" dirty="0"/>
              <a:t>Asistencia. </a:t>
            </a:r>
          </a:p>
          <a:p>
            <a:pPr lvl="1"/>
            <a:r>
              <a:rPr lang="es-ES" sz="2800" dirty="0"/>
              <a:t>Nota de Matemática. </a:t>
            </a:r>
          </a:p>
          <a:p>
            <a:pPr lvl="1"/>
            <a:r>
              <a:rPr lang="es-ES" sz="2800" dirty="0"/>
              <a:t>Nota de Ciencia. </a:t>
            </a:r>
          </a:p>
          <a:p>
            <a:pPr lvl="1"/>
            <a:r>
              <a:rPr lang="es-ES" sz="2800" dirty="0"/>
              <a:t>Horas de sueño. </a:t>
            </a:r>
          </a:p>
          <a:p>
            <a:r>
              <a:rPr lang="es-ES" sz="2800" dirty="0"/>
              <a:t>El resultado final indica si el estudiante aprobó </a:t>
            </a:r>
            <a:r>
              <a:rPr lang="es-ES" sz="2800" dirty="0" smtClean="0"/>
              <a:t>Pass </a:t>
            </a:r>
            <a:r>
              <a:rPr lang="es-ES" sz="2800" dirty="0"/>
              <a:t>o </a:t>
            </a:r>
            <a:endParaRPr lang="es-ES" sz="2800" dirty="0" smtClean="0"/>
          </a:p>
          <a:p>
            <a:r>
              <a:rPr lang="es-ES" sz="2800" dirty="0" smtClean="0"/>
              <a:t>desaprobó </a:t>
            </a:r>
            <a:r>
              <a:rPr lang="es-ES" sz="2800" dirty="0" err="1" smtClean="0"/>
              <a:t>Fail</a:t>
            </a:r>
            <a:r>
              <a:rPr lang="es-ES" sz="2800" dirty="0" smtClean="0"/>
              <a:t>.</a:t>
            </a:r>
            <a:endParaRPr lang="es-ES" sz="2800" dirty="0"/>
          </a:p>
          <a:p>
            <a:pPr>
              <a:spcAft>
                <a:spcPts val="1200"/>
              </a:spcAft>
              <a:defRPr sz="2300"/>
            </a:pP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Metodología aplicada en el desarrollo del proyecto</a:t>
            </a:r>
            <a:endParaRPr dirty="0"/>
          </a:p>
        </p:txBody>
      </p:sp>
      <p:sp>
        <p:nvSpPr>
          <p:cNvPr id="12" name="Rectangle 8"/>
          <p:cNvSpPr>
            <a:spLocks noChangeArrowheads="1"/>
          </p:cNvSpPr>
          <p:nvPr/>
        </p:nvSpPr>
        <p:spPr bwMode="auto">
          <a:xfrm>
            <a:off x="225196" y="1853248"/>
            <a:ext cx="11828879" cy="3046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Primero </a:t>
            </a:r>
            <a:r>
              <a:rPr kumimoji="0" lang="en-US" alt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cargué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el </a:t>
            </a:r>
            <a:r>
              <a:rPr kumimoji="0" lang="en-US" alt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archivo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CSV </a:t>
            </a:r>
            <a:r>
              <a:rPr kumimoji="0" lang="en-US" alt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usando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Pandas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Después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revisé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los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datos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y </a:t>
            </a:r>
            <a:r>
              <a:rPr kumimoji="0" lang="en-US" alt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comprobé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había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valores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faltantes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Seleccioné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los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datos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más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importantes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como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las horas de </a:t>
            </a:r>
            <a:r>
              <a:rPr kumimoji="0" lang="en-US" alt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estudio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la </a:t>
            </a:r>
            <a:r>
              <a:rPr kumimoji="0" lang="en-US" alt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asistencia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y las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calificaciones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Utilicé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dos </a:t>
            </a:r>
            <a:r>
              <a:rPr kumimoji="0" lang="en-US" alt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modelos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</a:t>
            </a:r>
            <a:r>
              <a:rPr kumimoji="0" lang="en-US" altLang="en-US" sz="24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Regresión</a:t>
            </a: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Logística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y </a:t>
            </a: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Deep Learning con </a:t>
            </a:r>
            <a:r>
              <a:rPr kumimoji="0" lang="en-US" altLang="en-US" sz="24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PyTorch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Dividí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los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datos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80 % para </a:t>
            </a:r>
            <a:r>
              <a:rPr kumimoji="0" lang="en-US" altLang="en-US" sz="24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entrenamiento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y </a:t>
            </a: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20 % para </a:t>
            </a:r>
            <a:r>
              <a:rPr kumimoji="0" lang="en-US" altLang="en-US" sz="24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prueba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Finalmente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comparé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los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resultados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para saber </a:t>
            </a:r>
            <a:r>
              <a:rPr kumimoji="0" lang="en-US" alt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cuál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modelo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tuvo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mejor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precisión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Análisis de los datos del rendimiento académico</a:t>
            </a:r>
            <a:endParaRPr dirty="0"/>
          </a:p>
        </p:txBody>
      </p:sp>
      <p:sp>
        <p:nvSpPr>
          <p:cNvPr id="6" name="Rectangle 3"/>
          <p:cNvSpPr>
            <a:spLocks noChangeArrowheads="1"/>
          </p:cNvSpPr>
          <p:nvPr/>
        </p:nvSpPr>
        <p:spPr bwMode="auto">
          <a:xfrm>
            <a:off x="163555" y="1839746"/>
            <a:ext cx="11710257" cy="42473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El </a:t>
            </a:r>
            <a:r>
              <a:rPr kumimoji="0" lang="en-US" altLang="en-US" sz="2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conjunto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contiene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información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 </a:t>
            </a:r>
            <a:r>
              <a:rPr kumimoji="0" lang="en-US" altLang="en-US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1000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8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estudiantes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756 </a:t>
            </a:r>
            <a:r>
              <a:rPr kumimoji="0" lang="en-US" altLang="en-US" sz="28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estudiantes</a:t>
            </a:r>
            <a:r>
              <a:rPr kumimoji="0" lang="en-US" altLang="en-US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8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aprobaron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y </a:t>
            </a:r>
            <a:r>
              <a:rPr kumimoji="0" lang="en-US" altLang="en-US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244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8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desaprobaron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También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revisé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había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valores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endParaRPr kumimoji="0" lang="en-US" altLang="en-US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faltantes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Los </a:t>
            </a:r>
            <a:r>
              <a:rPr kumimoji="0" lang="en-US" altLang="en-US" sz="2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gráficos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ayudaron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 </a:t>
            </a:r>
            <a:r>
              <a:rPr kumimoji="0" lang="en-US" altLang="en-US" sz="2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comprender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mejor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los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resultados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académicos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Las horas de </a:t>
            </a:r>
            <a:r>
              <a:rPr kumimoji="0" lang="en-US" altLang="en-US" sz="2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estudio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la </a:t>
            </a:r>
            <a:r>
              <a:rPr kumimoji="0" lang="en-US" altLang="en-US" sz="2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asistencia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y las </a:t>
            </a:r>
            <a:r>
              <a:rPr kumimoji="0" lang="en-US" altLang="en-US" sz="2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calificaciones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son </a:t>
            </a:r>
            <a:r>
              <a:rPr kumimoji="0" lang="en-US" altLang="en-US" sz="2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datos</a:t>
            </a:r>
            <a:endParaRPr lang="en-US" altLang="en-US" sz="28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importantes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</a:p>
        </p:txBody>
      </p:sp>
      <p:pic>
        <p:nvPicPr>
          <p:cNvPr id="7" name="Picture 6" descr="jupyter_6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3975" y="452718"/>
            <a:ext cx="5029200" cy="414842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Visualizaciones utilizadas para analizar los resultados</a:t>
            </a:r>
            <a:endParaRPr dirty="0"/>
          </a:p>
        </p:txBody>
      </p:sp>
      <p:sp>
        <p:nvSpPr>
          <p:cNvPr id="4" name="Rectángulo 3"/>
          <p:cNvSpPr/>
          <p:nvPr/>
        </p:nvSpPr>
        <p:spPr>
          <a:xfrm>
            <a:off x="262597" y="2274838"/>
            <a:ext cx="8271803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2400" dirty="0"/>
              <a:t>Para comprender mejor los datos, elaboré diferentes gráficos en </a:t>
            </a:r>
            <a:r>
              <a:rPr lang="es-ES" sz="2400" dirty="0" err="1"/>
              <a:t>Jupyter</a:t>
            </a:r>
            <a:r>
              <a:rPr lang="es-ES" sz="2400" dirty="0"/>
              <a:t> utilizando </a:t>
            </a:r>
            <a:r>
              <a:rPr lang="es-ES" sz="2400" dirty="0" err="1"/>
              <a:t>Matplotlib</a:t>
            </a:r>
            <a:r>
              <a:rPr lang="es-ES" sz="2400" dirty="0"/>
              <a:t>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sz="2400" dirty="0"/>
              <a:t>Gráfico de estudiantes que </a:t>
            </a:r>
            <a:r>
              <a:rPr lang="es-ES" sz="2400" dirty="0" smtClean="0"/>
              <a:t>aprobaron</a:t>
            </a:r>
          </a:p>
          <a:p>
            <a:r>
              <a:rPr lang="es-ES" sz="2400" dirty="0" smtClean="0"/>
              <a:t> </a:t>
            </a:r>
            <a:r>
              <a:rPr lang="es-ES" sz="2400" dirty="0"/>
              <a:t>y desaprobaron.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sz="2400" dirty="0"/>
              <a:t>Gráfico que muestra la relación entre </a:t>
            </a:r>
            <a:r>
              <a:rPr lang="es-ES" sz="2400" dirty="0" smtClean="0"/>
              <a:t>las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sz="2400" dirty="0" smtClean="0"/>
              <a:t> </a:t>
            </a:r>
            <a:r>
              <a:rPr lang="es-ES" sz="2400" dirty="0"/>
              <a:t>horas de estudio y el resultado final.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sz="2400" dirty="0"/>
              <a:t>Matrices de confusión para observar las </a:t>
            </a:r>
            <a:endParaRPr lang="es-ES" sz="2400" dirty="0" smtClean="0"/>
          </a:p>
          <a:p>
            <a:pPr>
              <a:buFont typeface="Arial" panose="020B0604020202020204" pitchFamily="34" charset="0"/>
              <a:buChar char="•"/>
            </a:pPr>
            <a:r>
              <a:rPr lang="es-ES" sz="2400" dirty="0" smtClean="0"/>
              <a:t>predicciones </a:t>
            </a:r>
            <a:r>
              <a:rPr lang="es-ES" sz="2400" dirty="0"/>
              <a:t>correctas e incorrectas de los modelos</a:t>
            </a:r>
          </a:p>
        </p:txBody>
      </p:sp>
      <p:pic>
        <p:nvPicPr>
          <p:cNvPr id="5" name="Picture 4" descr="jupyter_7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73335" y="1152983"/>
            <a:ext cx="4018665" cy="3137379"/>
          </a:xfrm>
          <a:prstGeom prst="rect">
            <a:avLst/>
          </a:prstGeom>
        </p:spPr>
      </p:pic>
      <p:pic>
        <p:nvPicPr>
          <p:cNvPr id="6" name="Picture 5" descr="jupyter_16_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39324" y="3921482"/>
            <a:ext cx="3452676" cy="297531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Modelos utilizados en el proyecto</a:t>
            </a:r>
            <a:endParaRPr dirty="0"/>
          </a:p>
        </p:txBody>
      </p:sp>
      <p:sp>
        <p:nvSpPr>
          <p:cNvPr id="4" name="Rectángulo 3"/>
          <p:cNvSpPr/>
          <p:nvPr/>
        </p:nvSpPr>
        <p:spPr>
          <a:xfrm>
            <a:off x="759655" y="2136339"/>
            <a:ext cx="9819250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2800" dirty="0"/>
              <a:t>Para realizar las predicciones utilicé dos modelos de Machine </a:t>
            </a:r>
            <a:r>
              <a:rPr lang="es-ES" sz="2800" dirty="0" err="1"/>
              <a:t>Learning</a:t>
            </a:r>
            <a:r>
              <a:rPr lang="es-ES" sz="2800" dirty="0"/>
              <a:t>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sz="2800" b="1" dirty="0"/>
              <a:t>Regresión Logística:</a:t>
            </a:r>
            <a:r>
              <a:rPr lang="es-ES" sz="2800" dirty="0"/>
              <a:t> permitió clasificar a los estudiantes en dos resultados: Pass o </a:t>
            </a:r>
            <a:r>
              <a:rPr lang="es-ES" sz="2800" dirty="0" err="1"/>
              <a:t>Fail</a:t>
            </a:r>
            <a:r>
              <a:rPr lang="es-ES" sz="2800" dirty="0"/>
              <a:t>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sz="2800" b="1" dirty="0"/>
              <a:t>Deep </a:t>
            </a:r>
            <a:r>
              <a:rPr lang="es-ES" sz="2800" b="1" dirty="0" err="1"/>
              <a:t>Learning</a:t>
            </a:r>
            <a:r>
              <a:rPr lang="es-ES" sz="2800" b="1" dirty="0"/>
              <a:t> con </a:t>
            </a:r>
            <a:r>
              <a:rPr lang="es-ES" sz="2800" b="1" dirty="0" err="1"/>
              <a:t>PyTorch</a:t>
            </a:r>
            <a:r>
              <a:rPr lang="es-ES" sz="2800" b="1" dirty="0"/>
              <a:t>:</a:t>
            </a:r>
            <a:r>
              <a:rPr lang="es-ES" sz="2800" dirty="0"/>
              <a:t> utilicé una red neuronal para aprender patrones de los datos y realizar predicciones. </a:t>
            </a:r>
          </a:p>
          <a:p>
            <a:r>
              <a:rPr lang="es-ES" sz="2800" dirty="0"/>
              <a:t>Después, comparé el rendimiento de ambos modelos para saber cuál obtuvo mejores resultados.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Resultados obtenidos en el proyecto</a:t>
            </a:r>
            <a:endParaRPr dirty="0"/>
          </a:p>
        </p:txBody>
      </p:sp>
      <p:sp>
        <p:nvSpPr>
          <p:cNvPr id="4" name="Rectángulo 3"/>
          <p:cNvSpPr/>
          <p:nvPr/>
        </p:nvSpPr>
        <p:spPr>
          <a:xfrm>
            <a:off x="141081" y="2293261"/>
            <a:ext cx="10414782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2400" dirty="0"/>
              <a:t>Después de entrenar y probar los dos modelos, obtuve </a:t>
            </a:r>
            <a:endParaRPr lang="es-ES" sz="2400" dirty="0" smtClean="0"/>
          </a:p>
          <a:p>
            <a:r>
              <a:rPr lang="es-ES" sz="2400" dirty="0" smtClean="0"/>
              <a:t>los </a:t>
            </a:r>
            <a:r>
              <a:rPr lang="es-ES" sz="2400" dirty="0"/>
              <a:t>siguientes resultados: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sz="2400" b="1" dirty="0"/>
              <a:t>Regresión Logística:</a:t>
            </a:r>
            <a:r>
              <a:rPr lang="es-ES" sz="2400" dirty="0"/>
              <a:t> alcanzó una precisión de </a:t>
            </a:r>
            <a:r>
              <a:rPr lang="es-ES" sz="2400" b="1" dirty="0"/>
              <a:t>89.5 %</a:t>
            </a:r>
            <a:r>
              <a:rPr lang="es-ES" sz="2400" dirty="0"/>
              <a:t>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sz="2400" b="1" dirty="0"/>
              <a:t>Deep </a:t>
            </a:r>
            <a:r>
              <a:rPr lang="es-ES" sz="2400" b="1" dirty="0" err="1"/>
              <a:t>Learning</a:t>
            </a:r>
            <a:r>
              <a:rPr lang="es-ES" sz="2400" b="1" dirty="0"/>
              <a:t> con </a:t>
            </a:r>
            <a:r>
              <a:rPr lang="es-ES" sz="2400" b="1" dirty="0" err="1"/>
              <a:t>PyTorch</a:t>
            </a:r>
            <a:r>
              <a:rPr lang="es-ES" sz="2400" b="1" dirty="0"/>
              <a:t>:</a:t>
            </a:r>
            <a:r>
              <a:rPr lang="es-ES" sz="2400" dirty="0"/>
              <a:t> alcanzó una precisión </a:t>
            </a:r>
            <a:r>
              <a:rPr lang="es-ES" sz="2400" dirty="0" smtClean="0"/>
              <a:t>de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sz="2400" dirty="0" smtClean="0"/>
              <a:t> </a:t>
            </a:r>
            <a:r>
              <a:rPr lang="es-ES" sz="2400" b="1" dirty="0"/>
              <a:t>86.5 %</a:t>
            </a:r>
            <a:r>
              <a:rPr lang="es-ES" sz="2400" dirty="0"/>
              <a:t>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sz="2400" dirty="0"/>
              <a:t>La Regresión Logística obtuvo el mejor resultado. </a:t>
            </a:r>
          </a:p>
          <a:p>
            <a:r>
              <a:rPr lang="es-ES" sz="2400" dirty="0"/>
              <a:t>Estos resultados muestran que ambos modelos pudieron predecir si los estudiantes aprobarían o desaprobarían</a:t>
            </a:r>
          </a:p>
        </p:txBody>
      </p:sp>
      <p:pic>
        <p:nvPicPr>
          <p:cNvPr id="5" name="Picture 4" descr="jupyter_23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30426" y="942535"/>
            <a:ext cx="3766668" cy="324589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Comparación de los modelos utilizados</a:t>
            </a:r>
            <a:endParaRPr dirty="0"/>
          </a:p>
        </p:txBody>
      </p:sp>
      <p:sp>
        <p:nvSpPr>
          <p:cNvPr id="4" name="Rectángulo 3"/>
          <p:cNvSpPr/>
          <p:nvPr/>
        </p:nvSpPr>
        <p:spPr>
          <a:xfrm>
            <a:off x="646111" y="1997839"/>
            <a:ext cx="9074664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2400" dirty="0"/>
              <a:t>Al comparar los resultados de los dos modelos, observé que: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sz="2400" dirty="0"/>
              <a:t>La </a:t>
            </a:r>
            <a:r>
              <a:rPr lang="es-ES" sz="2400" b="1" dirty="0"/>
              <a:t>Regresión Logística</a:t>
            </a:r>
            <a:r>
              <a:rPr lang="es-ES" sz="2400" dirty="0"/>
              <a:t> obtuvo una precisión de </a:t>
            </a:r>
            <a:r>
              <a:rPr lang="es-ES" sz="2400" b="1" dirty="0"/>
              <a:t>89.5 %</a:t>
            </a:r>
            <a:r>
              <a:rPr lang="es-ES" sz="2400" dirty="0"/>
              <a:t>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sz="2400" dirty="0"/>
              <a:t>El modelo de </a:t>
            </a:r>
            <a:r>
              <a:rPr lang="es-ES" sz="2400" b="1" dirty="0"/>
              <a:t>Deep </a:t>
            </a:r>
            <a:r>
              <a:rPr lang="es-ES" sz="2400" b="1" dirty="0" err="1"/>
              <a:t>Learning</a:t>
            </a:r>
            <a:r>
              <a:rPr lang="es-ES" sz="2400" b="1" dirty="0"/>
              <a:t> con </a:t>
            </a:r>
            <a:r>
              <a:rPr lang="es-ES" sz="2400" b="1" dirty="0" err="1"/>
              <a:t>PyTorch</a:t>
            </a:r>
            <a:r>
              <a:rPr lang="es-ES" sz="2400" dirty="0"/>
              <a:t> obtuvo </a:t>
            </a:r>
            <a:r>
              <a:rPr lang="es-ES" sz="2400" b="1" dirty="0"/>
              <a:t>86.5 %</a:t>
            </a:r>
            <a:r>
              <a:rPr lang="es-ES" sz="2400" dirty="0"/>
              <a:t>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sz="2400" dirty="0"/>
              <a:t>La diferencia entre ambos modelos fue de </a:t>
            </a:r>
            <a:r>
              <a:rPr lang="es-ES" sz="2400" b="1" dirty="0"/>
              <a:t>3 puntos porcentuales</a:t>
            </a:r>
            <a:r>
              <a:rPr lang="es-ES" sz="2400" dirty="0"/>
              <a:t>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sz="2400" dirty="0"/>
              <a:t>Por lo tanto, la </a:t>
            </a:r>
            <a:r>
              <a:rPr lang="es-ES" sz="2400" b="1" dirty="0"/>
              <a:t>Regresión Logística funcionó mejor</a:t>
            </a:r>
            <a:r>
              <a:rPr lang="es-ES" sz="2400" dirty="0"/>
              <a:t> con este conjunto de datos.</a:t>
            </a:r>
          </a:p>
        </p:txBody>
      </p:sp>
      <p:pic>
        <p:nvPicPr>
          <p:cNvPr id="5" name="Picture 4" descr="comparacion_model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80495" y="4617720"/>
            <a:ext cx="4480560" cy="224028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10. </a:t>
            </a:r>
            <a:r>
              <a:rPr lang="en-US" dirty="0" err="1"/>
              <a:t>Conclusiones</a:t>
            </a:r>
            <a:r>
              <a:rPr lang="en-US" dirty="0"/>
              <a:t> del </a:t>
            </a:r>
            <a:r>
              <a:rPr lang="en-US" dirty="0" err="1"/>
              <a:t>proyecto</a:t>
            </a:r>
            <a:endParaRPr dirty="0"/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699696" y="1935373"/>
            <a:ext cx="11731097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El </a:t>
            </a:r>
            <a:r>
              <a:rPr kumimoji="0" lang="en-US" alt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uso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 </a:t>
            </a: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Machine Learning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permitió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analizar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los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datos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académicos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y </a:t>
            </a:r>
            <a:r>
              <a:rPr kumimoji="0" lang="en-US" alt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realizar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predicciones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Las horas de </a:t>
            </a:r>
            <a:r>
              <a:rPr kumimoji="0" lang="en-US" alt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estudio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la </a:t>
            </a:r>
            <a:r>
              <a:rPr kumimoji="0" lang="en-US" alt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asistencia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y las </a:t>
            </a:r>
            <a:r>
              <a:rPr kumimoji="0" lang="en-US" alt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calificaciones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fueron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datos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importantes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para el </a:t>
            </a:r>
            <a:r>
              <a:rPr kumimoji="0" lang="en-US" alt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proyecto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 </a:t>
            </a:r>
            <a:r>
              <a:rPr kumimoji="0" lang="en-US" altLang="en-US" sz="24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Regresión</a:t>
            </a: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Logística</a:t>
            </a: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obtuvo</a:t>
            </a: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el </a:t>
            </a:r>
            <a:r>
              <a:rPr kumimoji="0" lang="en-US" altLang="en-US" sz="24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mejor</a:t>
            </a: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resultado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con </a:t>
            </a:r>
            <a:r>
              <a:rPr kumimoji="0" lang="en-US" alt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una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precisión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 </a:t>
            </a: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89.5 %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El </a:t>
            </a:r>
            <a:r>
              <a:rPr kumimoji="0" lang="en-US" alt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proyecto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permitió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aplicar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herramientas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como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Pandas, </a:t>
            </a:r>
            <a:r>
              <a:rPr kumimoji="0" lang="en-US" altLang="en-US" sz="24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NumPy</a:t>
            </a: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24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Matplotlib</a:t>
            </a: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Scikit</a:t>
            </a: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-learn y </a:t>
            </a:r>
            <a:r>
              <a:rPr kumimoji="0" lang="en-US" altLang="en-US" sz="24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PyTorch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Los dos </a:t>
            </a:r>
            <a:r>
              <a:rPr kumimoji="0" lang="en-US" alt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modelos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lograron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predecir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un </a:t>
            </a:r>
            <a:r>
              <a:rPr kumimoji="0" lang="en-US" alt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estudiante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podía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aprobar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 </a:t>
            </a:r>
            <a:r>
              <a:rPr kumimoji="0" lang="en-US" alt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desaprobar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11. </a:t>
            </a:r>
            <a:r>
              <a:rPr dirty="0" err="1"/>
              <a:t>Cierre</a:t>
            </a:r>
            <a:endParaRPr dirty="0"/>
          </a:p>
        </p:txBody>
      </p:sp>
      <p:sp>
        <p:nvSpPr>
          <p:cNvPr id="4" name="Rectángulo 3"/>
          <p:cNvSpPr/>
          <p:nvPr/>
        </p:nvSpPr>
        <p:spPr>
          <a:xfrm>
            <a:off x="853439" y="1700075"/>
            <a:ext cx="10245969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2800" dirty="0"/>
              <a:t>Espero que la presentación haya explicado de manera clara cómo utilicé </a:t>
            </a:r>
            <a:r>
              <a:rPr lang="es-ES" sz="2800" b="1" dirty="0"/>
              <a:t>Machine </a:t>
            </a:r>
            <a:r>
              <a:rPr lang="es-ES" sz="2800" b="1" dirty="0" err="1"/>
              <a:t>Learning</a:t>
            </a:r>
            <a:r>
              <a:rPr lang="es-ES" sz="2800" b="1" dirty="0"/>
              <a:t> con Python</a:t>
            </a:r>
            <a:r>
              <a:rPr lang="es-ES" sz="2800" dirty="0"/>
              <a:t> para analizar y predecir el rendimiento académico de los estudiantes</a:t>
            </a:r>
            <a:endParaRPr lang="en-US" sz="2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EE5818"/>
      </a:dk2>
      <a:lt2>
        <a:srgbClr val="EBEBEB"/>
      </a:lt2>
      <a:accent1>
        <a:srgbClr val="F5A408"/>
      </a:accent1>
      <a:accent2>
        <a:srgbClr val="FA731A"/>
      </a:accent2>
      <a:accent3>
        <a:srgbClr val="AB9281"/>
      </a:accent3>
      <a:accent4>
        <a:srgbClr val="A18CD0"/>
      </a:accent4>
      <a:accent5>
        <a:srgbClr val="8EBBD2"/>
      </a:accent5>
      <a:accent6>
        <a:srgbClr val="ACC995"/>
      </a:accent6>
      <a:hlink>
        <a:srgbClr val="FAC96A"/>
      </a:hlink>
      <a:folHlink>
        <a:srgbClr val="FCDB9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04000"/>
                <a:satMod val="128000"/>
                <a:lumMod val="10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68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42000"/>
                <a:hueMod val="42000"/>
                <a:satMod val="124000"/>
                <a:lumMod val="62000"/>
              </a:schemeClr>
              <a:schemeClr val="phClr">
                <a:tint val="96000"/>
                <a:satMod val="13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5A2F9111-B2DB-470C-BA56-608F9B658826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58</TotalTime>
  <Words>704</Words>
  <Application>Microsoft Office PowerPoint</Application>
  <PresentationFormat>Panorámica</PresentationFormat>
  <Paragraphs>97</Paragraphs>
  <Slides>12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6" baseType="lpstr">
      <vt:lpstr>Arial</vt:lpstr>
      <vt:lpstr>Century Gothic</vt:lpstr>
      <vt:lpstr>Wingdings 3</vt:lpstr>
      <vt:lpstr>Ion</vt:lpstr>
      <vt:lpstr>Predicción del rendimiento académico de estudiantes</vt:lpstr>
      <vt:lpstr>Planteamiento del problema</vt:lpstr>
      <vt:lpstr>Objetivos del proyecto</vt:lpstr>
      <vt:lpstr>3. Conjunto de datos</vt:lpstr>
      <vt:lpstr>Metodología aplicada en el desarrollo del proyecto</vt:lpstr>
      <vt:lpstr>Análisis de los datos del rendimiento académico</vt:lpstr>
      <vt:lpstr>Visualizaciones utilizadas para analizar los resultados</vt:lpstr>
      <vt:lpstr>Modelos utilizados en el proyecto</vt:lpstr>
      <vt:lpstr>Resultados obtenidos en el proyecto</vt:lpstr>
      <vt:lpstr>Comparación de los modelos utilizados</vt:lpstr>
      <vt:lpstr>10. Conclusiones del proyecto</vt:lpstr>
      <vt:lpstr>11. Cierre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Predicción del rendimiento académico de estudiantes</dc:title>
  <dc:subject/>
  <dc:creator>YAZMINA</dc:creator>
  <cp:keywords/>
  <dc:description>generated using python-pptx</dc:description>
  <cp:lastModifiedBy>YAZMINA</cp:lastModifiedBy>
  <cp:revision>6</cp:revision>
  <dcterms:created xsi:type="dcterms:W3CDTF">2013-01-27T09:14:16Z</dcterms:created>
  <dcterms:modified xsi:type="dcterms:W3CDTF">2026-09-12T14:23:01Z</dcterms:modified>
  <cp:category/>
</cp:coreProperties>
</file>