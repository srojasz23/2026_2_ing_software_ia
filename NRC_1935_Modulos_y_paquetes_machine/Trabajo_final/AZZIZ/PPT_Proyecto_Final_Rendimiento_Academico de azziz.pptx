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0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1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8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7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2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3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2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8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8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83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7261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58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48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96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15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47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056" y="2522243"/>
            <a:ext cx="7346852" cy="966545"/>
          </a:xfrm>
        </p:spPr>
        <p:txBody>
          <a:bodyPr/>
          <a:lstStyle/>
          <a:p>
            <a:r>
              <a:rPr sz="4800" dirty="0" err="1"/>
              <a:t>Predicción</a:t>
            </a:r>
            <a:r>
              <a:rPr sz="4800" dirty="0"/>
              <a:t> del </a:t>
            </a:r>
            <a:r>
              <a:rPr sz="4800" dirty="0" err="1"/>
              <a:t>rendimiento</a:t>
            </a:r>
            <a:r>
              <a:rPr sz="4800" dirty="0"/>
              <a:t> </a:t>
            </a:r>
            <a:r>
              <a:rPr sz="4800" dirty="0" err="1"/>
              <a:t>académico</a:t>
            </a:r>
            <a:r>
              <a:rPr sz="4800" dirty="0"/>
              <a:t> de </a:t>
            </a:r>
            <a:r>
              <a:rPr sz="4800" dirty="0" err="1"/>
              <a:t>estudiantes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354" y="3771899"/>
            <a:ext cx="6400800" cy="1752600"/>
          </a:xfrm>
        </p:spPr>
        <p:txBody>
          <a:bodyPr>
            <a:normAutofit/>
          </a:bodyPr>
          <a:lstStyle/>
          <a:p>
            <a:r>
              <a:rPr b="1" dirty="0"/>
              <a:t>Proyecto Final – Machine Learning con Python</a:t>
            </a:r>
          </a:p>
          <a:p>
            <a:r>
              <a:rPr b="1" dirty="0" err="1"/>
              <a:t>Ingeniería</a:t>
            </a:r>
            <a:r>
              <a:rPr b="1" dirty="0"/>
              <a:t> de Software con </a:t>
            </a:r>
            <a:r>
              <a:rPr b="1" dirty="0" err="1"/>
              <a:t>Inteligencia</a:t>
            </a:r>
            <a:r>
              <a:rPr b="1" dirty="0"/>
              <a:t> Artificial – 4.º </a:t>
            </a:r>
            <a:r>
              <a:rPr b="1" dirty="0" err="1"/>
              <a:t>ciclo</a:t>
            </a:r>
            <a:endParaRPr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531056" y="5669280"/>
            <a:ext cx="244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Azziz</a:t>
            </a:r>
            <a:r>
              <a:rPr lang="es-ES" dirty="0" smtClean="0"/>
              <a:t> raid </a:t>
            </a:r>
            <a:r>
              <a:rPr lang="es-ES" dirty="0" err="1" smtClean="0"/>
              <a:t>isrrael</a:t>
            </a:r>
            <a:r>
              <a:rPr lang="es-ES" dirty="0" smtClean="0"/>
              <a:t> Alvarado pachas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Planteamiento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1341566" cy="51860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3200" dirty="0"/>
              <a:t>En el ámbito académico, puede ser difícil conocer con </a:t>
            </a:r>
            <a:endParaRPr lang="es-ES" sz="3200" dirty="0" smtClean="0"/>
          </a:p>
          <a:p>
            <a:r>
              <a:rPr lang="es-ES" sz="3200" dirty="0" smtClean="0"/>
              <a:t>anticipación </a:t>
            </a:r>
            <a:r>
              <a:rPr lang="es-ES" sz="3200" dirty="0"/>
              <a:t>qué estudiantes podrían tener </a:t>
            </a:r>
            <a:r>
              <a:rPr lang="es-ES" sz="3200" dirty="0" smtClean="0"/>
              <a:t>dificultades</a:t>
            </a:r>
          </a:p>
          <a:p>
            <a:r>
              <a:rPr lang="es-ES" sz="3200" dirty="0" smtClean="0"/>
              <a:t> </a:t>
            </a:r>
            <a:r>
              <a:rPr lang="es-ES" sz="3200" dirty="0"/>
              <a:t>para aprobar.</a:t>
            </a:r>
          </a:p>
          <a:p>
            <a:r>
              <a:rPr lang="es-ES" sz="3200" dirty="0"/>
              <a:t>Muchas veces, los datos sobre las horas de estudio, </a:t>
            </a:r>
            <a:endParaRPr lang="es-ES" sz="3200" dirty="0" smtClean="0"/>
          </a:p>
          <a:p>
            <a:r>
              <a:rPr lang="es-ES" sz="3200" dirty="0" smtClean="0"/>
              <a:t>la </a:t>
            </a:r>
            <a:r>
              <a:rPr lang="es-ES" sz="3200" dirty="0"/>
              <a:t>asistencia y las calificaciones no se analizan de </a:t>
            </a:r>
            <a:endParaRPr lang="es-ES" sz="3200" dirty="0" smtClean="0"/>
          </a:p>
          <a:p>
            <a:r>
              <a:rPr lang="es-ES" sz="3200" dirty="0" smtClean="0"/>
              <a:t>manera </a:t>
            </a:r>
            <a:r>
              <a:rPr lang="es-ES" sz="3200" dirty="0"/>
              <a:t>conjunta.</a:t>
            </a:r>
          </a:p>
          <a:p>
            <a:r>
              <a:rPr lang="es-ES" sz="3200" dirty="0"/>
              <a:t>Por ello, se propone utilizar </a:t>
            </a:r>
            <a:r>
              <a:rPr lang="es-ES" sz="3200" b="1" dirty="0"/>
              <a:t>Machine </a:t>
            </a:r>
            <a:r>
              <a:rPr lang="es-ES" sz="3200" b="1" dirty="0" err="1"/>
              <a:t>Learning</a:t>
            </a:r>
            <a:r>
              <a:rPr lang="es-ES" sz="3200" dirty="0"/>
              <a:t> </a:t>
            </a:r>
            <a:r>
              <a:rPr lang="es-ES" sz="3200" dirty="0" smtClean="0"/>
              <a:t>para</a:t>
            </a:r>
          </a:p>
          <a:p>
            <a:r>
              <a:rPr lang="es-ES" sz="3200" dirty="0" smtClean="0"/>
              <a:t> </a:t>
            </a:r>
            <a:r>
              <a:rPr lang="es-ES" sz="3200" dirty="0"/>
              <a:t>analizar estos datos</a:t>
            </a:r>
            <a:r>
              <a:rPr lang="es-ES" sz="3200" dirty="0" smtClean="0"/>
              <a:t>,</a:t>
            </a:r>
          </a:p>
          <a:p>
            <a:r>
              <a:rPr lang="es-ES" sz="3200" dirty="0" smtClean="0"/>
              <a:t> </a:t>
            </a:r>
            <a:r>
              <a:rPr lang="es-ES" sz="3200" dirty="0"/>
              <a:t>identificar patrones y predecir si un estudiante puede </a:t>
            </a:r>
            <a:endParaRPr lang="es-ES" sz="3200" dirty="0" smtClean="0"/>
          </a:p>
          <a:p>
            <a:r>
              <a:rPr lang="es-ES" sz="3200" dirty="0" smtClean="0"/>
              <a:t>aprobar </a:t>
            </a:r>
            <a:r>
              <a:rPr lang="es-ES" sz="3200" dirty="0"/>
              <a:t>o desaprobar.</a:t>
            </a:r>
          </a:p>
          <a:p>
            <a:pPr>
              <a:spcAft>
                <a:spcPts val="1200"/>
              </a:spcAft>
              <a:defRPr sz="2300"/>
            </a:pPr>
            <a:endParaRPr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445488" cy="48782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3600" dirty="0"/>
              <a:t>Revisar las notas y los datos de los </a:t>
            </a:r>
            <a:r>
              <a:rPr lang="es-ES" sz="3600" dirty="0" smtClean="0"/>
              <a:t>estudiantes</a:t>
            </a:r>
          </a:p>
          <a:p>
            <a:r>
              <a:rPr lang="es-ES" sz="3600" dirty="0" smtClean="0"/>
              <a:t> </a:t>
            </a:r>
            <a:r>
              <a:rPr lang="es-ES" sz="3600" dirty="0"/>
              <a:t>para encontrar </a:t>
            </a:r>
            <a:r>
              <a:rPr lang="es-ES" sz="3600" dirty="0" smtClean="0"/>
              <a:t>algunos</a:t>
            </a:r>
          </a:p>
          <a:p>
            <a:r>
              <a:rPr lang="es-ES" sz="3600" dirty="0" smtClean="0"/>
              <a:t> </a:t>
            </a:r>
            <a:r>
              <a:rPr lang="es-ES" sz="3600" dirty="0"/>
              <a:t>patrones. </a:t>
            </a:r>
          </a:p>
          <a:p>
            <a:r>
              <a:rPr lang="es-ES" sz="3600" dirty="0"/>
              <a:t>Predecir si un estudiante puede aprobar o </a:t>
            </a:r>
          </a:p>
          <a:p>
            <a:r>
              <a:rPr lang="es-ES" sz="3600" dirty="0" smtClean="0"/>
              <a:t>desaprobar</a:t>
            </a:r>
            <a:r>
              <a:rPr lang="es-ES" sz="3600" dirty="0"/>
              <a:t>. </a:t>
            </a:r>
          </a:p>
          <a:p>
            <a:r>
              <a:rPr lang="es-ES" sz="3600" dirty="0"/>
              <a:t>Usar estos resultados para identificar a los </a:t>
            </a:r>
            <a:endParaRPr lang="es-ES" sz="3600" dirty="0" smtClean="0"/>
          </a:p>
          <a:p>
            <a:r>
              <a:rPr lang="es-ES" sz="3600" dirty="0" smtClean="0"/>
              <a:t>estudiantes </a:t>
            </a:r>
            <a:r>
              <a:rPr lang="es-ES" sz="3600" dirty="0"/>
              <a:t>que podrían tener </a:t>
            </a:r>
            <a:r>
              <a:rPr lang="es-ES" sz="3600" dirty="0" smtClean="0"/>
              <a:t>dificultades</a:t>
            </a:r>
          </a:p>
          <a:p>
            <a:r>
              <a:rPr lang="es-ES" sz="3600" dirty="0" smtClean="0"/>
              <a:t> </a:t>
            </a:r>
            <a:r>
              <a:rPr lang="es-ES" sz="3600" dirty="0"/>
              <a:t>académicas.</a:t>
            </a:r>
            <a:r>
              <a:rPr lang="es-ES" dirty="0"/>
              <a:t> </a:t>
            </a:r>
          </a:p>
          <a:p>
            <a:pPr>
              <a:spcAft>
                <a:spcPts val="1200"/>
              </a:spcAft>
              <a:defRPr sz="2300"/>
            </a:pP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Conjunto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854253" cy="56169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dirty="0"/>
              <a:t>Para el proyecto utilicé un conjunto de datos de estudiantes </a:t>
            </a:r>
            <a:endParaRPr lang="es-ES" sz="2800" dirty="0" smtClean="0"/>
          </a:p>
          <a:p>
            <a:r>
              <a:rPr lang="es-ES" sz="2800" dirty="0" smtClean="0"/>
              <a:t>descargado </a:t>
            </a:r>
            <a:r>
              <a:rPr lang="es-ES" sz="2800" dirty="0"/>
              <a:t>de </a:t>
            </a:r>
            <a:r>
              <a:rPr lang="es-ES" sz="2800" dirty="0" err="1"/>
              <a:t>Kaggle</a:t>
            </a:r>
            <a:r>
              <a:rPr lang="es-ES" sz="2800" dirty="0"/>
              <a:t>.</a:t>
            </a:r>
          </a:p>
          <a:p>
            <a:r>
              <a:rPr lang="es-ES" sz="2800" dirty="0"/>
              <a:t>Contiene información de 1000 estudiantes. </a:t>
            </a:r>
          </a:p>
          <a:p>
            <a:r>
              <a:rPr lang="es-ES" sz="2800" dirty="0"/>
              <a:t>Tiene 9 columnas. </a:t>
            </a:r>
          </a:p>
          <a:p>
            <a:r>
              <a:rPr lang="es-ES" sz="2800" dirty="0"/>
              <a:t>Incluye datos como: </a:t>
            </a:r>
          </a:p>
          <a:p>
            <a:pPr lvl="1"/>
            <a:r>
              <a:rPr lang="es-ES" sz="2800" dirty="0"/>
              <a:t>Horas de estudio. </a:t>
            </a:r>
          </a:p>
          <a:p>
            <a:pPr lvl="1"/>
            <a:r>
              <a:rPr lang="es-ES" sz="2800" dirty="0"/>
              <a:t>Asistencia. </a:t>
            </a:r>
          </a:p>
          <a:p>
            <a:pPr lvl="1"/>
            <a:r>
              <a:rPr lang="es-ES" sz="2800" dirty="0"/>
              <a:t>Nota de Matemática. </a:t>
            </a:r>
          </a:p>
          <a:p>
            <a:pPr lvl="1"/>
            <a:r>
              <a:rPr lang="es-ES" sz="2800" dirty="0"/>
              <a:t>Nota de Ciencia. </a:t>
            </a:r>
          </a:p>
          <a:p>
            <a:pPr lvl="1"/>
            <a:r>
              <a:rPr lang="es-ES" sz="2800" dirty="0"/>
              <a:t>Horas de sueño. </a:t>
            </a:r>
          </a:p>
          <a:p>
            <a:r>
              <a:rPr lang="es-ES" sz="2800" dirty="0"/>
              <a:t>El resultado final indica si el estudiante aprobó </a:t>
            </a:r>
            <a:r>
              <a:rPr lang="es-ES" sz="2800" dirty="0" smtClean="0"/>
              <a:t>Pass </a:t>
            </a:r>
            <a:r>
              <a:rPr lang="es-ES" sz="2800" dirty="0"/>
              <a:t>o </a:t>
            </a:r>
            <a:endParaRPr lang="es-ES" sz="2800" dirty="0" smtClean="0"/>
          </a:p>
          <a:p>
            <a:r>
              <a:rPr lang="es-ES" sz="2800" dirty="0" smtClean="0"/>
              <a:t>desaprobó </a:t>
            </a:r>
            <a:r>
              <a:rPr lang="es-ES" sz="2800" dirty="0" err="1" smtClean="0"/>
              <a:t>Fail</a:t>
            </a:r>
            <a:r>
              <a:rPr lang="es-ES" sz="2800" dirty="0" smtClean="0"/>
              <a:t>.</a:t>
            </a:r>
            <a:endParaRPr lang="es-ES" sz="2800" dirty="0"/>
          </a:p>
          <a:p>
            <a:pPr>
              <a:spcAft>
                <a:spcPts val="1200"/>
              </a:spcAft>
              <a:defRPr sz="23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Metodología aplicada en el desarrollo del proyecto</a:t>
            </a:r>
            <a:endParaRPr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5196" y="1853248"/>
            <a:ext cx="1182887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cargué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archivo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usando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Después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comprobé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había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Seleccioné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horas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asistencia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Utilicé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Regresión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Logística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con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Dividí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80 % para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entrenamiento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20 % para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saber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cuál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tuvo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los datos del rendimiento académico</a:t>
            </a:r>
            <a:endParaRPr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3555" y="2306883"/>
            <a:ext cx="11710257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1000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estudiantes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756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estudiantes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aprobaron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244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desaprobaron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También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revisé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había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faltantes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ayudaron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comprender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académicos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horas de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asistencia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calificaciones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Visualizaciones utilizadas para analizar los resultados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872197" y="2274838"/>
            <a:ext cx="827180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Para comprender mejor los datos, elaboré diferentes gráficos en </a:t>
            </a:r>
            <a:r>
              <a:rPr lang="es-ES" sz="2400" dirty="0" err="1"/>
              <a:t>Jupyter</a:t>
            </a:r>
            <a:r>
              <a:rPr lang="es-ES" sz="2400" dirty="0"/>
              <a:t> utilizando </a:t>
            </a:r>
            <a:r>
              <a:rPr lang="es-ES" sz="2400" dirty="0" err="1"/>
              <a:t>Matplotlib</a:t>
            </a:r>
            <a:r>
              <a:rPr lang="es-E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Gráfico de estudiantes que aprobaron y desaprobaron.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Gráfico que muestra la relación entre las horas de estudio y el resultado final.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Matrices de confusión para observar las predicciones correctas e incorrectas de los modelos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Modelos utilizados en el proyecto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759655" y="2136339"/>
            <a:ext cx="98192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Para realizar las predicciones utilicé dos modelos de Machine </a:t>
            </a:r>
            <a:r>
              <a:rPr lang="es-ES" sz="2800" dirty="0" err="1"/>
              <a:t>Learning</a:t>
            </a:r>
            <a:r>
              <a:rPr lang="es-E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Regresión Logística:</a:t>
            </a:r>
            <a:r>
              <a:rPr lang="es-ES" sz="2800" dirty="0"/>
              <a:t> permitió clasificar a los estudiantes en dos resultados: Pass o </a:t>
            </a:r>
            <a:r>
              <a:rPr lang="es-ES" sz="2800" dirty="0" err="1"/>
              <a:t>Fail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Deep </a:t>
            </a:r>
            <a:r>
              <a:rPr lang="es-ES" sz="2800" b="1" dirty="0" err="1"/>
              <a:t>Learning</a:t>
            </a:r>
            <a:r>
              <a:rPr lang="es-ES" sz="2800" b="1" dirty="0"/>
              <a:t> con </a:t>
            </a:r>
            <a:r>
              <a:rPr lang="es-ES" sz="2800" b="1" dirty="0" err="1"/>
              <a:t>PyTorch</a:t>
            </a:r>
            <a:r>
              <a:rPr lang="es-ES" sz="2800" b="1" dirty="0"/>
              <a:t>:</a:t>
            </a:r>
            <a:r>
              <a:rPr lang="es-ES" sz="2800" dirty="0"/>
              <a:t> utilicé una red neuronal para aprender patrones de los datos y realizar predicciones. </a:t>
            </a:r>
          </a:p>
          <a:p>
            <a:r>
              <a:rPr lang="es-ES" sz="2800" dirty="0"/>
              <a:t>Después, comparé el rendimiento de ambos modelos para saber cuál obtuvo mejores resultados.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obtenidos en el proyecto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909710" y="2419870"/>
            <a:ext cx="1041478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Después de entrenar y probar los dos modelos, obtuve los siguientes resultados: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Regresión Logística:</a:t>
            </a:r>
            <a:r>
              <a:rPr lang="es-ES" sz="2800" dirty="0"/>
              <a:t> alcanzó una precisión de </a:t>
            </a:r>
            <a:r>
              <a:rPr lang="es-ES" sz="2800" b="1" dirty="0"/>
              <a:t>89.5 %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Deep </a:t>
            </a:r>
            <a:r>
              <a:rPr lang="es-ES" sz="2800" b="1" dirty="0" err="1"/>
              <a:t>Learning</a:t>
            </a:r>
            <a:r>
              <a:rPr lang="es-ES" sz="2800" b="1" dirty="0"/>
              <a:t> con </a:t>
            </a:r>
            <a:r>
              <a:rPr lang="es-ES" sz="2800" b="1" dirty="0" err="1"/>
              <a:t>PyTorch</a:t>
            </a:r>
            <a:r>
              <a:rPr lang="es-ES" sz="2800" b="1" dirty="0"/>
              <a:t>:</a:t>
            </a:r>
            <a:r>
              <a:rPr lang="es-ES" sz="2800" dirty="0"/>
              <a:t> alcanzó una precisión de </a:t>
            </a:r>
            <a:r>
              <a:rPr lang="es-ES" sz="2800" b="1" dirty="0"/>
              <a:t>86.5 %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La Regresión Logística obtuvo el mejor resultado. </a:t>
            </a:r>
          </a:p>
          <a:p>
            <a:r>
              <a:rPr lang="es-ES" sz="2800" dirty="0"/>
              <a:t>Estos resultados muestran que ambos modelos pudieron predecir si los estudiantes aprobarían o desaprobarían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Comparación de los modelos utilizados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646111" y="1997839"/>
            <a:ext cx="907466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Al comparar los resultados de los dos modelos, observé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La </a:t>
            </a:r>
            <a:r>
              <a:rPr lang="es-ES" sz="2800" b="1" dirty="0"/>
              <a:t>Regresión Logística</a:t>
            </a:r>
            <a:r>
              <a:rPr lang="es-ES" sz="2800" dirty="0"/>
              <a:t> obtuvo una precisión de </a:t>
            </a:r>
            <a:r>
              <a:rPr lang="es-ES" sz="2800" b="1" dirty="0"/>
              <a:t>89.5 %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El modelo de </a:t>
            </a:r>
            <a:r>
              <a:rPr lang="es-ES" sz="2800" b="1" dirty="0"/>
              <a:t>Deep </a:t>
            </a:r>
            <a:r>
              <a:rPr lang="es-ES" sz="2800" b="1" dirty="0" err="1"/>
              <a:t>Learning</a:t>
            </a:r>
            <a:r>
              <a:rPr lang="es-ES" sz="2800" b="1" dirty="0"/>
              <a:t> con </a:t>
            </a:r>
            <a:r>
              <a:rPr lang="es-ES" sz="2800" b="1" dirty="0" err="1"/>
              <a:t>PyTorch</a:t>
            </a:r>
            <a:r>
              <a:rPr lang="es-ES" sz="2800" dirty="0"/>
              <a:t> obtuvo </a:t>
            </a:r>
            <a:r>
              <a:rPr lang="es-ES" sz="2800" b="1" dirty="0"/>
              <a:t>86.5 %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La diferencia entre ambos modelos fue de </a:t>
            </a:r>
            <a:r>
              <a:rPr lang="es-ES" sz="2800" b="1" dirty="0"/>
              <a:t>3 puntos porcentuales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Por lo tanto, la </a:t>
            </a:r>
            <a:r>
              <a:rPr lang="es-ES" sz="2800" b="1" dirty="0"/>
              <a:t>Regresión Logística funcionó mejor</a:t>
            </a:r>
            <a:r>
              <a:rPr lang="es-ES" sz="2800" dirty="0"/>
              <a:t> con este conjunto de datos.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</a:t>
            </a:r>
            <a:r>
              <a:rPr lang="en-US" dirty="0" err="1"/>
              <a:t>Conclusiones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99696" y="1935373"/>
            <a:ext cx="117310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permitió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académicos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horas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asistencia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fueron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Regresión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Logística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obtuvo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89.5 %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permitió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 y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dos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lograron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predecir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estudiante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aprobar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desaprobar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11. </a:t>
            </a:r>
            <a:r>
              <a:rPr dirty="0" err="1"/>
              <a:t>Cierre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853439" y="1700075"/>
            <a:ext cx="102459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Espero que la presentación haya explicado de manera clara cómo utilicé </a:t>
            </a:r>
            <a:r>
              <a:rPr lang="es-ES" sz="2800" b="1" dirty="0"/>
              <a:t>Machine </a:t>
            </a:r>
            <a:r>
              <a:rPr lang="es-ES" sz="2800" b="1" dirty="0" err="1"/>
              <a:t>Learning</a:t>
            </a:r>
            <a:r>
              <a:rPr lang="es-ES" sz="2800" b="1" dirty="0"/>
              <a:t> con Python</a:t>
            </a:r>
            <a:r>
              <a:rPr lang="es-ES" sz="2800" dirty="0"/>
              <a:t> para analizar y predecir el rendimiento académico de los estudiantes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699</Words>
  <Application>Microsoft Office PowerPoint</Application>
  <PresentationFormat>Panorámica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Predicción del rendimiento académico de estudiantes</vt:lpstr>
      <vt:lpstr>Planteamiento del problema</vt:lpstr>
      <vt:lpstr>Objetivos del proyecto</vt:lpstr>
      <vt:lpstr>3. Conjunto de datos</vt:lpstr>
      <vt:lpstr>Metodología aplicada en el desarrollo del proyecto</vt:lpstr>
      <vt:lpstr>Análisis de los datos del rendimiento académico</vt:lpstr>
      <vt:lpstr>Visualizaciones utilizadas para analizar los resultados</vt:lpstr>
      <vt:lpstr>Modelos utilizados en el proyecto</vt:lpstr>
      <vt:lpstr>Resultados obtenidos en el proyecto</vt:lpstr>
      <vt:lpstr>Comparación de los modelos utilizados</vt:lpstr>
      <vt:lpstr>10. Conclusiones del proyecto</vt:lpstr>
      <vt:lpstr>11. 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del rendimiento académico de estudiantes</dc:title>
  <dc:subject/>
  <dc:creator>YAZMINA</dc:creator>
  <cp:keywords/>
  <dc:description>generated using python-pptx</dc:description>
  <cp:lastModifiedBy>YAZMINA</cp:lastModifiedBy>
  <cp:revision>5</cp:revision>
  <dcterms:created xsi:type="dcterms:W3CDTF">2013-01-27T09:14:16Z</dcterms:created>
  <dcterms:modified xsi:type="dcterms:W3CDTF">2026-09-12T14:04:26Z</dcterms:modified>
  <cp:category/>
</cp:coreProperties>
</file>