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Calibri (MS) Bold" charset="1" panose="020F0702030404030204"/>
      <p:regular r:id="rId22"/>
    </p:embeddedFont>
    <p:embeddedFont>
      <p:font typeface="Cambria Bold" charset="1" panose="02040803050406030204"/>
      <p:regular r:id="rId23"/>
    </p:embeddedFont>
    <p:embeddedFont>
      <p:font typeface="Calibri (MS) Italics" charset="1" panose="020F05020202040A0204"/>
      <p:regular r:id="rId24"/>
    </p:embeddedFont>
    <p:embeddedFont>
      <p:font typeface="Calibri (MS)" charset="1" panose="020F050202020403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notesSlides/notesSlide2.xml" Type="http://schemas.openxmlformats.org/officeDocument/2006/relationships/notesSlide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37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5.png" Type="http://schemas.openxmlformats.org/officeDocument/2006/relationships/image"/><Relationship Id="rId4" Target="../media/image2.jpeg" Type="http://schemas.openxmlformats.org/officeDocument/2006/relationships/image"/><Relationship Id="rId5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7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8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9.png" Type="http://schemas.openxmlformats.org/officeDocument/2006/relationships/image"/><Relationship Id="rId4" Target="../media/image2.jpe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9.png" Type="http://schemas.openxmlformats.org/officeDocument/2006/relationships/image"/><Relationship Id="rId4" Target="../media/image2.jpe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7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8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9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20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38960" y="-2194560"/>
            <a:ext cx="7543800" cy="7543800"/>
            <a:chOff x="0" y="0"/>
            <a:chExt cx="10058400" cy="1005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58400" cy="10058400"/>
            </a:xfrm>
            <a:custGeom>
              <a:avLst/>
              <a:gdLst/>
              <a:ahLst/>
              <a:cxnLst/>
              <a:rect r="r" b="b" t="t" l="l"/>
              <a:pathLst>
                <a:path h="10058400" w="10058400">
                  <a:moveTo>
                    <a:pt x="0" y="5029200"/>
                  </a:moveTo>
                  <a:cubicBezTo>
                    <a:pt x="0" y="2251710"/>
                    <a:pt x="2251710" y="0"/>
                    <a:pt x="5029200" y="0"/>
                  </a:cubicBezTo>
                  <a:cubicBezTo>
                    <a:pt x="7806690" y="0"/>
                    <a:pt x="10058400" y="2251710"/>
                    <a:pt x="10058400" y="5029200"/>
                  </a:cubicBezTo>
                  <a:cubicBezTo>
                    <a:pt x="10058400" y="7806690"/>
                    <a:pt x="7806690" y="10058400"/>
                    <a:pt x="5029200" y="10058400"/>
                  </a:cubicBezTo>
                  <a:cubicBezTo>
                    <a:pt x="2251710" y="10058400"/>
                    <a:pt x="0" y="7806690"/>
                    <a:pt x="0" y="5029200"/>
                  </a:cubicBezTo>
                  <a:close/>
                </a:path>
              </a:pathLst>
            </a:custGeom>
            <a:solidFill>
              <a:srgbClr val="2E3A8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910560" y="-822960"/>
            <a:ext cx="4800600" cy="4800600"/>
            <a:chOff x="0" y="0"/>
            <a:chExt cx="6400800" cy="6400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00800" cy="6400800"/>
            </a:xfrm>
            <a:custGeom>
              <a:avLst/>
              <a:gdLst/>
              <a:ahLst/>
              <a:cxnLst/>
              <a:rect r="r" b="b" t="t" l="l"/>
              <a:pathLst>
                <a:path h="6400800" w="6400800">
                  <a:moveTo>
                    <a:pt x="0" y="3200400"/>
                  </a:moveTo>
                  <a:cubicBezTo>
                    <a:pt x="0" y="1432814"/>
                    <a:pt x="1432814" y="0"/>
                    <a:pt x="3200400" y="0"/>
                  </a:cubicBezTo>
                  <a:cubicBezTo>
                    <a:pt x="4967986" y="0"/>
                    <a:pt x="6400800" y="1432814"/>
                    <a:pt x="6400800" y="3200400"/>
                  </a:cubicBezTo>
                  <a:cubicBezTo>
                    <a:pt x="6400800" y="4967986"/>
                    <a:pt x="4967986" y="6400800"/>
                    <a:pt x="3200400" y="6400800"/>
                  </a:cubicBezTo>
                  <a:cubicBezTo>
                    <a:pt x="1432814" y="6400800"/>
                    <a:pt x="0" y="4967986"/>
                    <a:pt x="0" y="3200400"/>
                  </a:cubicBezTo>
                  <a:close/>
                </a:path>
              </a:pathLst>
            </a:custGeom>
            <a:solidFill>
              <a:srgbClr val="00C2C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870680" y="137160"/>
            <a:ext cx="2880360" cy="2880360"/>
            <a:chOff x="0" y="0"/>
            <a:chExt cx="3840480" cy="38404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40480" cy="3840480"/>
            </a:xfrm>
            <a:custGeom>
              <a:avLst/>
              <a:gdLst/>
              <a:ahLst/>
              <a:cxnLst/>
              <a:rect r="r" b="b" t="t" l="l"/>
              <a:pathLst>
                <a:path h="3840480" w="3840480">
                  <a:moveTo>
                    <a:pt x="0" y="1920240"/>
                  </a:moveTo>
                  <a:cubicBezTo>
                    <a:pt x="0" y="859663"/>
                    <a:pt x="859663" y="0"/>
                    <a:pt x="1920240" y="0"/>
                  </a:cubicBezTo>
                  <a:cubicBezTo>
                    <a:pt x="2980817" y="0"/>
                    <a:pt x="3840480" y="859663"/>
                    <a:pt x="3840480" y="1920240"/>
                  </a:cubicBezTo>
                  <a:cubicBezTo>
                    <a:pt x="3840480" y="2980817"/>
                    <a:pt x="2980817" y="3840480"/>
                    <a:pt x="1920240" y="3840480"/>
                  </a:cubicBezTo>
                  <a:cubicBezTo>
                    <a:pt x="859663" y="3840480"/>
                    <a:pt x="0" y="2980817"/>
                    <a:pt x="0" y="1920240"/>
                  </a:cubicBezTo>
                  <a:close/>
                </a:path>
              </a:pathLst>
            </a:custGeom>
            <a:solidFill>
              <a:srgbClr val="141B4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487900" y="754380"/>
            <a:ext cx="1645920" cy="1645920"/>
            <a:chOff x="0" y="0"/>
            <a:chExt cx="2194560" cy="219456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60120" y="2606040"/>
            <a:ext cx="10972800" cy="548640"/>
            <a:chOff x="0" y="0"/>
            <a:chExt cx="1463040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299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PROYECTO DE CIENCIA DE DATOS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60120" y="3223260"/>
            <a:ext cx="13030200" cy="2743200"/>
            <a:chOff x="0" y="0"/>
            <a:chExt cx="17373600" cy="3657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3736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7373600" cy="3714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316"/>
                </a:lnSpc>
              </a:pPr>
              <a:r>
                <a:rPr lang="en-US" sz="6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Predicción del Rango de Precio</a:t>
              </a:r>
            </a:p>
            <a:p>
              <a:pPr algn="l">
                <a:lnSpc>
                  <a:spcPts val="8316"/>
                </a:lnSpc>
              </a:pPr>
              <a:r>
                <a:rPr lang="en-US" sz="6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 Celulares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60120" y="5966460"/>
            <a:ext cx="11658600" cy="822960"/>
            <a:chOff x="0" y="0"/>
            <a:chExt cx="15544800" cy="1097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544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6038" r="0" b="-22603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55448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i="true">
                  <a:solidFill>
                    <a:srgbClr val="CADC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Machine Learning y Deep Learning 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60120" y="9052560"/>
            <a:ext cx="10972800" cy="548640"/>
            <a:chOff x="0" y="0"/>
            <a:chExt cx="1463040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891C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Dataset: Mobile Price Classification · Axel Alexis Cotrina Ramirez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960120" cy="960120"/>
            <a:chOff x="0" y="0"/>
            <a:chExt cx="128016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891540"/>
            <a:ext cx="548640" cy="548640"/>
            <a:chOff x="0" y="0"/>
            <a:chExt cx="731520" cy="73152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057400" y="617220"/>
            <a:ext cx="14401800" cy="1097280"/>
            <a:chOff x="0" y="0"/>
            <a:chExt cx="19202400" cy="1463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2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920240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El Problema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822960" y="2217420"/>
            <a:ext cx="9052560" cy="6423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Las empresas de tecnología y retail necesitan estimar rápidamente en qué rango de precio debe ubicarse un dispositivo móvil según sus características técnicas, y entender qué opinan los usuarios sobre los productos ya existentes en el mercado.</a:t>
            </a:r>
          </a:p>
          <a:p>
            <a:pPr algn="l">
              <a:lnSpc>
                <a:spcPts val="3375"/>
              </a:lnSpc>
            </a:pPr>
          </a:p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Hoy este proceso suele hacerse de forma manual e intuitiva, sin apoyarse en datos históricos ni en modelos predictivos, lo que genera decisiones de pricing poco fundamentadas y una desconexión con la percepción real del cliente.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424160" y="2057400"/>
            <a:ext cx="6995160" cy="5349240"/>
            <a:chOff x="0" y="0"/>
            <a:chExt cx="9326880" cy="71323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26880" cy="7132320"/>
            </a:xfrm>
            <a:custGeom>
              <a:avLst/>
              <a:gdLst/>
              <a:ahLst/>
              <a:cxnLst/>
              <a:rect r="r" b="b" t="t" l="l"/>
              <a:pathLst>
                <a:path h="7132320" w="93268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144000" y="0"/>
                  </a:lnTo>
                  <a:cubicBezTo>
                    <a:pt x="9244965" y="0"/>
                    <a:pt x="9326880" y="81915"/>
                    <a:pt x="9326880" y="182880"/>
                  </a:cubicBezTo>
                  <a:lnTo>
                    <a:pt x="9326880" y="6949440"/>
                  </a:lnTo>
                  <a:cubicBezTo>
                    <a:pt x="9326880" y="7050405"/>
                    <a:pt x="9244965" y="7132320"/>
                    <a:pt x="9144000" y="7132320"/>
                  </a:cubicBezTo>
                  <a:lnTo>
                    <a:pt x="182880" y="7132320"/>
                  </a:lnTo>
                  <a:cubicBezTo>
                    <a:pt x="81915" y="7132320"/>
                    <a:pt x="0" y="7050405"/>
                    <a:pt x="0" y="69494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904220" y="2263140"/>
            <a:ext cx="6035040" cy="548640"/>
            <a:chOff x="0" y="0"/>
            <a:chExt cx="804672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046720" cy="731520"/>
            </a:xfrm>
            <a:custGeom>
              <a:avLst/>
              <a:gdLst/>
              <a:ahLst/>
              <a:cxnLst/>
              <a:rect r="r" b="b" t="t" l="l"/>
              <a:pathLst>
                <a:path h="7315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80467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E3A8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Puntos de dolor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904220" y="2976372"/>
            <a:ext cx="192024" cy="192024"/>
            <a:chOff x="0" y="0"/>
            <a:chExt cx="256032" cy="2560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1315700" y="2635377"/>
            <a:ext cx="5760720" cy="88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195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Falta de metodología para clasificar productos por precio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904220" y="4142232"/>
            <a:ext cx="192024" cy="192024"/>
            <a:chOff x="0" y="0"/>
            <a:chExt cx="256032" cy="25603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1315700" y="3801237"/>
            <a:ext cx="5760720" cy="88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195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Grandes volúmenes de datos (specs y reseñas) sin explotar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904220" y="5308092"/>
            <a:ext cx="192024" cy="192024"/>
            <a:chOff x="0" y="0"/>
            <a:chExt cx="256032" cy="25603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1315700" y="4967097"/>
            <a:ext cx="5760720" cy="88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195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Decisiones de pricing basadas en intuición, no en datos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904220" y="6473952"/>
            <a:ext cx="192024" cy="192024"/>
            <a:chOff x="0" y="0"/>
            <a:chExt cx="256032" cy="25603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1315700" y="6132957"/>
            <a:ext cx="5760720" cy="88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195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Poca visibilidad sobre el sentimiento real del cliente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7282160" y="9669780"/>
            <a:ext cx="685800" cy="480060"/>
            <a:chOff x="0" y="0"/>
            <a:chExt cx="914400" cy="6400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144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914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960120" cy="960120"/>
            <a:chOff x="0" y="0"/>
            <a:chExt cx="128016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2E3A8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891540"/>
            <a:ext cx="548640" cy="548640"/>
            <a:chOff x="0" y="0"/>
            <a:chExt cx="731520" cy="73152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057400" y="617220"/>
            <a:ext cx="14401800" cy="1097280"/>
            <a:chOff x="0" y="0"/>
            <a:chExt cx="19202400" cy="1463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2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920240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Objetivos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2125980"/>
            <a:ext cx="16596360" cy="1371600"/>
            <a:chOff x="0" y="0"/>
            <a:chExt cx="22128480" cy="1828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284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1682496"/>
                  </a:lnTo>
                  <a:cubicBezTo>
                    <a:pt x="22128480" y="1763268"/>
                    <a:pt x="22062948" y="1828800"/>
                    <a:pt x="21982176" y="1828800"/>
                  </a:cubicBezTo>
                  <a:lnTo>
                    <a:pt x="146304" y="1828800"/>
                  </a:lnTo>
                  <a:cubicBezTo>
                    <a:pt x="65532" y="1828800"/>
                    <a:pt x="0" y="1763268"/>
                    <a:pt x="0" y="1682496"/>
                  </a:cubicBezTo>
                  <a:close/>
                </a:path>
              </a:pathLst>
            </a:custGeom>
            <a:solidFill>
              <a:srgbClr val="141B4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34440" y="2125980"/>
            <a:ext cx="15773400" cy="1371600"/>
            <a:chOff x="0" y="0"/>
            <a:chExt cx="21031200" cy="1828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031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4077" r="0" b="-17407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2103120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97"/>
                </a:lnSpc>
              </a:pPr>
              <a:r>
                <a:rPr lang="en-US" sz="2100" b="true">
                  <a:solidFill>
                    <a:srgbClr val="00C2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Objetivo general:  </a:t>
              </a: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Predecir el rango de precio de un celular a partir de sus especificaciones técnicas, comparando enfoques de Machine Learning y Deep Learning.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13435" y="3899535"/>
            <a:ext cx="8180070" cy="2625090"/>
            <a:chOff x="0" y="0"/>
            <a:chExt cx="10906760" cy="35001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06760" cy="3500120"/>
            </a:xfrm>
            <a:custGeom>
              <a:avLst/>
              <a:gdLst/>
              <a:ahLst/>
              <a:cxnLst/>
              <a:rect r="r" b="b" t="t" l="l"/>
              <a:pathLst>
                <a:path h="3500120" w="1090676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10759313" y="0"/>
                  </a:lnTo>
                  <a:cubicBezTo>
                    <a:pt x="10840720" y="0"/>
                    <a:pt x="10906760" y="66040"/>
                    <a:pt x="10906760" y="147447"/>
                  </a:cubicBezTo>
                  <a:lnTo>
                    <a:pt x="10906760" y="3352673"/>
                  </a:lnTo>
                  <a:cubicBezTo>
                    <a:pt x="10906760" y="3434080"/>
                    <a:pt x="10840720" y="3500120"/>
                    <a:pt x="10759313" y="3500120"/>
                  </a:cubicBezTo>
                  <a:lnTo>
                    <a:pt x="147447" y="3500120"/>
                  </a:lnTo>
                  <a:cubicBezTo>
                    <a:pt x="66040" y="3500120"/>
                    <a:pt x="0" y="3434080"/>
                    <a:pt x="0" y="335267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5F0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65860" y="4251960"/>
            <a:ext cx="754380" cy="754380"/>
            <a:chOff x="0" y="0"/>
            <a:chExt cx="1005840" cy="10058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0C2CB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65860" y="4251960"/>
            <a:ext cx="754380" cy="754380"/>
            <a:chOff x="0" y="0"/>
            <a:chExt cx="1005840" cy="10058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1B4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125980" y="4155948"/>
            <a:ext cx="6583680" cy="2125980"/>
            <a:chOff x="0" y="0"/>
            <a:chExt cx="8778240" cy="2834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778240" cy="2834640"/>
            </a:xfrm>
            <a:custGeom>
              <a:avLst/>
              <a:gdLst/>
              <a:ahLst/>
              <a:cxnLst/>
              <a:rect r="r" b="b" t="t" l="l"/>
              <a:pathLst>
                <a:path h="28346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2834640"/>
                  </a:lnTo>
                  <a:lnTo>
                    <a:pt x="0" y="2834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340" r="0" b="-1034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76200"/>
              <a:ext cx="8778240" cy="2910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0"/>
                </a:lnSpc>
              </a:pPr>
              <a:r>
                <a:rPr lang="en-US" sz="19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Predecir el rango de precio de un celular a partir de sus especificaciones (RAM, batería, cámara, etc.)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248775" y="3899535"/>
            <a:ext cx="8180070" cy="2625090"/>
            <a:chOff x="0" y="0"/>
            <a:chExt cx="10906760" cy="35001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06760" cy="3500120"/>
            </a:xfrm>
            <a:custGeom>
              <a:avLst/>
              <a:gdLst/>
              <a:ahLst/>
              <a:cxnLst/>
              <a:rect r="r" b="b" t="t" l="l"/>
              <a:pathLst>
                <a:path h="3500120" w="1090676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10759313" y="0"/>
                  </a:lnTo>
                  <a:cubicBezTo>
                    <a:pt x="10840720" y="0"/>
                    <a:pt x="10906760" y="66040"/>
                    <a:pt x="10906760" y="147447"/>
                  </a:cubicBezTo>
                  <a:lnTo>
                    <a:pt x="10906760" y="3352673"/>
                  </a:lnTo>
                  <a:cubicBezTo>
                    <a:pt x="10906760" y="3434080"/>
                    <a:pt x="10840720" y="3500120"/>
                    <a:pt x="10759313" y="3500120"/>
                  </a:cubicBezTo>
                  <a:lnTo>
                    <a:pt x="147447" y="3500120"/>
                  </a:lnTo>
                  <a:cubicBezTo>
                    <a:pt x="66040" y="3500120"/>
                    <a:pt x="0" y="3434080"/>
                    <a:pt x="0" y="335267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5F0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9601200" y="4251960"/>
            <a:ext cx="754380" cy="754380"/>
            <a:chOff x="0" y="0"/>
            <a:chExt cx="1005840" cy="10058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0C2C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601200" y="4251960"/>
            <a:ext cx="754380" cy="754380"/>
            <a:chOff x="0" y="0"/>
            <a:chExt cx="1005840" cy="10058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1B4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561320" y="4155948"/>
            <a:ext cx="6858000" cy="2125980"/>
            <a:chOff x="0" y="0"/>
            <a:chExt cx="9144000" cy="28346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0" cy="2834640"/>
            </a:xfrm>
            <a:custGeom>
              <a:avLst/>
              <a:gdLst/>
              <a:ahLst/>
              <a:cxnLst/>
              <a:rect r="r" b="b" t="t" l="l"/>
              <a:pathLst>
                <a:path h="2834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2834640"/>
                  </a:lnTo>
                  <a:lnTo>
                    <a:pt x="0" y="2834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340" r="3999" b="-1034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76200"/>
              <a:ext cx="9144000" cy="2910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0"/>
                </a:lnSpc>
              </a:pPr>
              <a:r>
                <a:rPr lang="en-US" sz="19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Realizar la  exploración y limpieza de los datos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13435" y="6779895"/>
            <a:ext cx="8180070" cy="2625090"/>
            <a:chOff x="0" y="0"/>
            <a:chExt cx="10906760" cy="35001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06760" cy="3500120"/>
            </a:xfrm>
            <a:custGeom>
              <a:avLst/>
              <a:gdLst/>
              <a:ahLst/>
              <a:cxnLst/>
              <a:rect r="r" b="b" t="t" l="l"/>
              <a:pathLst>
                <a:path h="3500120" w="1090676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10759313" y="0"/>
                  </a:lnTo>
                  <a:cubicBezTo>
                    <a:pt x="10840720" y="0"/>
                    <a:pt x="10906760" y="66040"/>
                    <a:pt x="10906760" y="147447"/>
                  </a:cubicBezTo>
                  <a:lnTo>
                    <a:pt x="10906760" y="3352673"/>
                  </a:lnTo>
                  <a:cubicBezTo>
                    <a:pt x="10906760" y="3434080"/>
                    <a:pt x="10840720" y="3500120"/>
                    <a:pt x="10759313" y="3500120"/>
                  </a:cubicBezTo>
                  <a:lnTo>
                    <a:pt x="147447" y="3500120"/>
                  </a:lnTo>
                  <a:cubicBezTo>
                    <a:pt x="66040" y="3500120"/>
                    <a:pt x="0" y="3434080"/>
                    <a:pt x="0" y="335267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5F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165860" y="7132320"/>
            <a:ext cx="754380" cy="754380"/>
            <a:chOff x="0" y="0"/>
            <a:chExt cx="1005840" cy="10058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0C2CB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65860" y="7132320"/>
            <a:ext cx="754380" cy="754380"/>
            <a:chOff x="0" y="0"/>
            <a:chExt cx="1005840" cy="10058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1B4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125980" y="7036308"/>
            <a:ext cx="6583680" cy="2125980"/>
            <a:chOff x="0" y="0"/>
            <a:chExt cx="8778240" cy="2834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778240" cy="2834640"/>
            </a:xfrm>
            <a:custGeom>
              <a:avLst/>
              <a:gdLst/>
              <a:ahLst/>
              <a:cxnLst/>
              <a:rect r="r" b="b" t="t" l="l"/>
              <a:pathLst>
                <a:path h="28346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2834640"/>
                  </a:lnTo>
                  <a:lnTo>
                    <a:pt x="0" y="2834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340" r="0" b="-1034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76200"/>
              <a:ext cx="8778240" cy="2910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0"/>
                </a:lnSpc>
              </a:pPr>
              <a:r>
                <a:rPr lang="en-US" sz="19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</a:t>
              </a:r>
              <a:r>
                <a:rPr lang="en-US" sz="19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omparar el desempeño de un modelo de ML clásico frente a una red neuronal (Deep Learning)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248775" y="6779895"/>
            <a:ext cx="8180070" cy="2625090"/>
            <a:chOff x="0" y="0"/>
            <a:chExt cx="10906760" cy="35001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06760" cy="3500120"/>
            </a:xfrm>
            <a:custGeom>
              <a:avLst/>
              <a:gdLst/>
              <a:ahLst/>
              <a:cxnLst/>
              <a:rect r="r" b="b" t="t" l="l"/>
              <a:pathLst>
                <a:path h="3500120" w="1090676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10759313" y="0"/>
                  </a:lnTo>
                  <a:cubicBezTo>
                    <a:pt x="10840720" y="0"/>
                    <a:pt x="10906760" y="66040"/>
                    <a:pt x="10906760" y="147447"/>
                  </a:cubicBezTo>
                  <a:lnTo>
                    <a:pt x="10906760" y="3352673"/>
                  </a:lnTo>
                  <a:cubicBezTo>
                    <a:pt x="10906760" y="3434080"/>
                    <a:pt x="10840720" y="3500120"/>
                    <a:pt x="10759313" y="3500120"/>
                  </a:cubicBezTo>
                  <a:lnTo>
                    <a:pt x="147447" y="3500120"/>
                  </a:lnTo>
                  <a:cubicBezTo>
                    <a:pt x="66040" y="3500120"/>
                    <a:pt x="0" y="3434080"/>
                    <a:pt x="0" y="335267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5F0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9601200" y="7132320"/>
            <a:ext cx="754380" cy="754380"/>
            <a:chOff x="0" y="0"/>
            <a:chExt cx="1005840" cy="10058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0C2CB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601200" y="7132320"/>
            <a:ext cx="754380" cy="754380"/>
            <a:chOff x="0" y="0"/>
            <a:chExt cx="1005840" cy="10058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1B4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561320" y="7036308"/>
            <a:ext cx="6583680" cy="2125980"/>
            <a:chOff x="0" y="0"/>
            <a:chExt cx="8778240" cy="2834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778240" cy="2834640"/>
            </a:xfrm>
            <a:custGeom>
              <a:avLst/>
              <a:gdLst/>
              <a:ahLst/>
              <a:cxnLst/>
              <a:rect r="r" b="b" t="t" l="l"/>
              <a:pathLst>
                <a:path h="28346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2834640"/>
                  </a:lnTo>
                  <a:lnTo>
                    <a:pt x="0" y="2834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340" r="0" b="-1034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76200"/>
              <a:ext cx="8778240" cy="2910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0"/>
                </a:lnSpc>
              </a:pPr>
              <a:r>
                <a:rPr lang="en-US" sz="19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Visualizar los patrones de los datos y los resultados para apoyar la toma de decisiones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7282160" y="9669780"/>
            <a:ext cx="685800" cy="480060"/>
            <a:chOff x="0" y="0"/>
            <a:chExt cx="914400" cy="6400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144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914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960120" cy="960120"/>
            <a:chOff x="0" y="0"/>
            <a:chExt cx="128016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B998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891540"/>
            <a:ext cx="548640" cy="548640"/>
            <a:chOff x="0" y="0"/>
            <a:chExt cx="731520" cy="73152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057400" y="617220"/>
            <a:ext cx="14401800" cy="1097280"/>
            <a:chOff x="0" y="0"/>
            <a:chExt cx="19202400" cy="1463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2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920240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Dataset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2194560"/>
            <a:ext cx="8161020" cy="7063740"/>
            <a:chOff x="0" y="0"/>
            <a:chExt cx="10881360" cy="94183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81360" cy="9418320"/>
            </a:xfrm>
            <a:custGeom>
              <a:avLst/>
              <a:gdLst/>
              <a:ahLst/>
              <a:cxnLst/>
              <a:rect r="r" b="b" t="t" l="l"/>
              <a:pathLst>
                <a:path h="9418320" w="108813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98480" y="0"/>
                  </a:lnTo>
                  <a:cubicBezTo>
                    <a:pt x="10799445" y="0"/>
                    <a:pt x="10881360" y="81915"/>
                    <a:pt x="10881360" y="182880"/>
                  </a:cubicBezTo>
                  <a:lnTo>
                    <a:pt x="10881360" y="9235440"/>
                  </a:lnTo>
                  <a:cubicBezTo>
                    <a:pt x="10881360" y="9336405"/>
                    <a:pt x="10799445" y="9418320"/>
                    <a:pt x="10698480" y="9418320"/>
                  </a:cubicBezTo>
                  <a:lnTo>
                    <a:pt x="182880" y="9418320"/>
                  </a:lnTo>
                  <a:cubicBezTo>
                    <a:pt x="81915" y="9418320"/>
                    <a:pt x="0" y="9336405"/>
                    <a:pt x="0" y="92354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2194560"/>
            <a:ext cx="8161020" cy="1577340"/>
            <a:chOff x="0" y="0"/>
            <a:chExt cx="10881360" cy="21031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881360" cy="2103120"/>
            </a:xfrm>
            <a:custGeom>
              <a:avLst/>
              <a:gdLst/>
              <a:ahLst/>
              <a:cxnLst/>
              <a:rect r="r" b="b" t="t" l="l"/>
              <a:pathLst>
                <a:path h="2103120" w="108813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98480" y="0"/>
                  </a:lnTo>
                  <a:cubicBezTo>
                    <a:pt x="10799445" y="0"/>
                    <a:pt x="10881360" y="81915"/>
                    <a:pt x="10881360" y="182880"/>
                  </a:cubicBezTo>
                  <a:lnTo>
                    <a:pt x="10881360" y="1920240"/>
                  </a:lnTo>
                  <a:cubicBezTo>
                    <a:pt x="10881360" y="2021205"/>
                    <a:pt x="10799445" y="2103120"/>
                    <a:pt x="10698480" y="2103120"/>
                  </a:cubicBezTo>
                  <a:lnTo>
                    <a:pt x="182880" y="2103120"/>
                  </a:lnTo>
                  <a:cubicBezTo>
                    <a:pt x="81915" y="2103120"/>
                    <a:pt x="0" y="2021205"/>
                    <a:pt x="0" y="1920240"/>
                  </a:cubicBezTo>
                  <a:close/>
                </a:path>
              </a:pathLst>
            </a:custGeom>
            <a:solidFill>
              <a:srgbClr val="2E3A8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22960" y="3017520"/>
            <a:ext cx="8161020" cy="754380"/>
            <a:chOff x="0" y="0"/>
            <a:chExt cx="10881360" cy="1005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8813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881360">
                  <a:moveTo>
                    <a:pt x="0" y="0"/>
                  </a:moveTo>
                  <a:lnTo>
                    <a:pt x="10881360" y="0"/>
                  </a:lnTo>
                  <a:lnTo>
                    <a:pt x="1088136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2E3A8C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34440" y="2331720"/>
            <a:ext cx="7338060" cy="960120"/>
            <a:chOff x="0" y="0"/>
            <a:chExt cx="9784080" cy="12801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7840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921" r="0" b="-9892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978408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Mobile Price Classification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4440" y="3840480"/>
            <a:ext cx="7338060" cy="480060"/>
            <a:chOff x="0" y="0"/>
            <a:chExt cx="978408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784080" cy="640080"/>
            </a:xfrm>
            <a:custGeom>
              <a:avLst/>
              <a:gdLst/>
              <a:ahLst/>
              <a:cxnLst/>
              <a:rect r="r" b="b" t="t" l="l"/>
              <a:pathLst>
                <a:path h="64008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7842" r="0" b="-24784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978408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Kaggle · iabhishekofficial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34440" y="4704588"/>
            <a:ext cx="164592" cy="164592"/>
            <a:chOff x="0" y="0"/>
            <a:chExt cx="219456" cy="2194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1B998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577340" y="4485132"/>
            <a:ext cx="6926580" cy="1028700"/>
            <a:chOff x="0" y="0"/>
            <a:chExt cx="9235440" cy="1371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2354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199" r="0" b="-8119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9235440" cy="1438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875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2,000 registros de celulares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34440" y="5829300"/>
            <a:ext cx="164592" cy="164592"/>
            <a:chOff x="0" y="0"/>
            <a:chExt cx="219456" cy="2194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1B998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577340" y="5609844"/>
            <a:ext cx="6926580" cy="1028700"/>
            <a:chOff x="0" y="0"/>
            <a:chExt cx="9235440" cy="1371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2354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199" r="0" b="-8119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9235440" cy="1438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875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 variables numéricas (RAM, batería,</a:t>
              </a:r>
            </a:p>
            <a:p>
              <a:pPr algn="l">
                <a:lnSpc>
                  <a:spcPts val="2587"/>
                </a:lnSpc>
              </a:pPr>
              <a:r>
                <a:rPr lang="en-US" sz="1875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cámara, núcleos, resolución, etc.)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34440" y="6954012"/>
            <a:ext cx="164592" cy="164592"/>
            <a:chOff x="0" y="0"/>
            <a:chExt cx="219456" cy="2194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1B998B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577340" y="6734556"/>
            <a:ext cx="6926580" cy="1028700"/>
            <a:chOff x="0" y="0"/>
            <a:chExt cx="9235440" cy="1371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2354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199" r="0" b="-8119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9235440" cy="1438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875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Variable objetivo: price_range</a:t>
              </a:r>
            </a:p>
            <a:p>
              <a:pPr algn="l">
                <a:lnSpc>
                  <a:spcPts val="2587"/>
                </a:lnSpc>
              </a:pPr>
              <a:r>
                <a:rPr lang="en-US" sz="1875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(0=bajo · 1=medio · 2=alto · 3=muy alto)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34440" y="8078724"/>
            <a:ext cx="164592" cy="164592"/>
            <a:chOff x="0" y="0"/>
            <a:chExt cx="219456" cy="21945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1B998B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577340" y="7859268"/>
            <a:ext cx="6926580" cy="1028700"/>
            <a:chOff x="0" y="0"/>
            <a:chExt cx="9235440" cy="1371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2354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199" r="0" b="-8119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9235440" cy="1438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875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Sin valores nulos ni duplicados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7282160" y="9669780"/>
            <a:ext cx="685800" cy="480060"/>
            <a:chOff x="0" y="0"/>
            <a:chExt cx="914400" cy="6400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144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914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0">
            <a:off x="9486014" y="3947035"/>
            <a:ext cx="8139046" cy="3089273"/>
          </a:xfrm>
          <a:custGeom>
            <a:avLst/>
            <a:gdLst/>
            <a:ahLst/>
            <a:cxnLst/>
            <a:rect r="r" b="b" t="t" l="l"/>
            <a:pathLst>
              <a:path h="3089273" w="8139046">
                <a:moveTo>
                  <a:pt x="0" y="0"/>
                </a:moveTo>
                <a:lnTo>
                  <a:pt x="8139046" y="0"/>
                </a:lnTo>
                <a:lnTo>
                  <a:pt x="8139046" y="3089273"/>
                </a:lnTo>
                <a:lnTo>
                  <a:pt x="0" y="30892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960120" cy="960120"/>
            <a:chOff x="0" y="0"/>
            <a:chExt cx="128016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2E3A8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891540"/>
            <a:ext cx="548640" cy="548640"/>
            <a:chOff x="0" y="0"/>
            <a:chExt cx="731520" cy="73152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057400" y="617220"/>
            <a:ext cx="14401800" cy="1097280"/>
            <a:chOff x="0" y="0"/>
            <a:chExt cx="19202400" cy="1463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2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920240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Metodología Usada</a:t>
              </a:r>
            </a:p>
          </p:txBody>
        </p:sp>
      </p:grpSp>
      <p:sp>
        <p:nvSpPr>
          <p:cNvPr name="AutoShape 9" id="9"/>
          <p:cNvSpPr/>
          <p:nvPr/>
        </p:nvSpPr>
        <p:spPr>
          <a:xfrm rot="9180">
            <a:off x="2004031" y="4722495"/>
            <a:ext cx="14234208" cy="0"/>
          </a:xfrm>
          <a:prstGeom prst="line">
            <a:avLst/>
          </a:prstGeom>
          <a:ln cap="rnd" w="19050">
            <a:solidFill>
              <a:srgbClr val="C7CEE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822960" y="3977640"/>
            <a:ext cx="2400300" cy="2400300"/>
            <a:chOff x="0" y="0"/>
            <a:chExt cx="3200400" cy="3200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200400" cy="3200400"/>
            </a:xfrm>
            <a:custGeom>
              <a:avLst/>
              <a:gdLst/>
              <a:ahLst/>
              <a:cxnLst/>
              <a:rect r="r" b="b" t="t" l="l"/>
              <a:pathLst>
                <a:path h="3200400" w="3200400">
                  <a:moveTo>
                    <a:pt x="0" y="1600200"/>
                  </a:moveTo>
                  <a:cubicBezTo>
                    <a:pt x="0" y="716407"/>
                    <a:pt x="716407" y="0"/>
                    <a:pt x="1600200" y="0"/>
                  </a:cubicBezTo>
                  <a:cubicBezTo>
                    <a:pt x="2483993" y="0"/>
                    <a:pt x="3200400" y="716407"/>
                    <a:pt x="3200400" y="1600200"/>
                  </a:cubicBezTo>
                  <a:cubicBezTo>
                    <a:pt x="3200400" y="2483993"/>
                    <a:pt x="2483993" y="3200400"/>
                    <a:pt x="1600200" y="3200400"/>
                  </a:cubicBezTo>
                  <a:cubicBezTo>
                    <a:pt x="716407" y="3200400"/>
                    <a:pt x="0" y="2483993"/>
                    <a:pt x="0" y="1600200"/>
                  </a:cubicBezTo>
                  <a:close/>
                </a:path>
              </a:pathLst>
            </a:custGeom>
            <a:solidFill>
              <a:srgbClr val="2E3A8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3977640"/>
            <a:ext cx="2400300" cy="2400300"/>
            <a:chOff x="0" y="0"/>
            <a:chExt cx="3200400" cy="3200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200400" cy="3200400"/>
            </a:xfrm>
            <a:custGeom>
              <a:avLst/>
              <a:gdLst/>
              <a:ahLst/>
              <a:cxnLst/>
              <a:rect r="r" b="b" t="t" l="l"/>
              <a:pathLst>
                <a:path h="320040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3200400"/>
                  </a:lnTo>
                  <a:lnTo>
                    <a:pt x="0" y="3200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3200400" cy="3200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80060" y="6583680"/>
            <a:ext cx="3086100" cy="1165860"/>
            <a:chOff x="0" y="0"/>
            <a:chExt cx="4114800" cy="15544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1148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78" r="0" b="-157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411480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3"/>
                </a:lnSpc>
              </a:pPr>
              <a:r>
                <a:rPr lang="en-US" sz="1725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Carga y limpieza</a:t>
              </a:r>
            </a:p>
            <a:p>
              <a:pPr algn="ctr">
                <a:lnSpc>
                  <a:spcPts val="2173"/>
                </a:lnSpc>
              </a:pPr>
              <a:r>
                <a:rPr lang="en-US" sz="1725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 datos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80060" y="7749540"/>
            <a:ext cx="3086100" cy="548640"/>
            <a:chOff x="0" y="0"/>
            <a:chExt cx="411480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14800" cy="731520"/>
            </a:xfrm>
            <a:custGeom>
              <a:avLst/>
              <a:gdLst/>
              <a:ahLst/>
              <a:cxnLst/>
              <a:rect r="r" b="b" t="t" l="l"/>
              <a:pathLst>
                <a:path h="73152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114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Pandas / NumPy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662172" y="3977640"/>
            <a:ext cx="2400300" cy="2400300"/>
            <a:chOff x="0" y="0"/>
            <a:chExt cx="3200400" cy="3200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200400" cy="3200400"/>
            </a:xfrm>
            <a:custGeom>
              <a:avLst/>
              <a:gdLst/>
              <a:ahLst/>
              <a:cxnLst/>
              <a:rect r="r" b="b" t="t" l="l"/>
              <a:pathLst>
                <a:path h="3200400" w="3200400">
                  <a:moveTo>
                    <a:pt x="0" y="1600200"/>
                  </a:moveTo>
                  <a:cubicBezTo>
                    <a:pt x="0" y="716407"/>
                    <a:pt x="716407" y="0"/>
                    <a:pt x="1600200" y="0"/>
                  </a:cubicBezTo>
                  <a:cubicBezTo>
                    <a:pt x="2483993" y="0"/>
                    <a:pt x="3200400" y="716407"/>
                    <a:pt x="3200400" y="1600200"/>
                  </a:cubicBezTo>
                  <a:cubicBezTo>
                    <a:pt x="3200400" y="2483993"/>
                    <a:pt x="2483993" y="3200400"/>
                    <a:pt x="1600200" y="3200400"/>
                  </a:cubicBezTo>
                  <a:cubicBezTo>
                    <a:pt x="716407" y="3200400"/>
                    <a:pt x="0" y="2483993"/>
                    <a:pt x="0" y="1600200"/>
                  </a:cubicBezTo>
                  <a:close/>
                </a:path>
              </a:pathLst>
            </a:custGeom>
            <a:solidFill>
              <a:srgbClr val="00C2C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662172" y="3977640"/>
            <a:ext cx="2400300" cy="2400300"/>
            <a:chOff x="0" y="0"/>
            <a:chExt cx="3200400" cy="3200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200400" cy="3200400"/>
            </a:xfrm>
            <a:custGeom>
              <a:avLst/>
              <a:gdLst/>
              <a:ahLst/>
              <a:cxnLst/>
              <a:rect r="r" b="b" t="t" l="l"/>
              <a:pathLst>
                <a:path h="320040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3200400"/>
                  </a:lnTo>
                  <a:lnTo>
                    <a:pt x="0" y="3200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3200400" cy="3200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319272" y="6583680"/>
            <a:ext cx="3086100" cy="1165860"/>
            <a:chOff x="0" y="0"/>
            <a:chExt cx="4114800" cy="15544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1148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78" r="0" b="-157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411480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3"/>
                </a:lnSpc>
              </a:pPr>
              <a:r>
                <a:rPr lang="en-US" sz="1725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Análisis exploratorio</a:t>
              </a:r>
            </a:p>
            <a:p>
              <a:pPr algn="ctr">
                <a:lnSpc>
                  <a:spcPts val="2173"/>
                </a:lnSpc>
              </a:pPr>
              <a:r>
                <a:rPr lang="en-US" sz="1725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 visualización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319272" y="7749540"/>
            <a:ext cx="3086100" cy="548640"/>
            <a:chOff x="0" y="0"/>
            <a:chExt cx="411480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114800" cy="731520"/>
            </a:xfrm>
            <a:custGeom>
              <a:avLst/>
              <a:gdLst/>
              <a:ahLst/>
              <a:cxnLst/>
              <a:rect r="r" b="b" t="t" l="l"/>
              <a:pathLst>
                <a:path h="73152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114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Matplotlib / Seaborn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501384" y="3977640"/>
            <a:ext cx="2400300" cy="2400300"/>
            <a:chOff x="0" y="0"/>
            <a:chExt cx="3200400" cy="3200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200400" cy="3200400"/>
            </a:xfrm>
            <a:custGeom>
              <a:avLst/>
              <a:gdLst/>
              <a:ahLst/>
              <a:cxnLst/>
              <a:rect r="r" b="b" t="t" l="l"/>
              <a:pathLst>
                <a:path h="3200400" w="3200400">
                  <a:moveTo>
                    <a:pt x="0" y="1600200"/>
                  </a:moveTo>
                  <a:cubicBezTo>
                    <a:pt x="0" y="716407"/>
                    <a:pt x="716407" y="0"/>
                    <a:pt x="1600200" y="0"/>
                  </a:cubicBezTo>
                  <a:cubicBezTo>
                    <a:pt x="2483993" y="0"/>
                    <a:pt x="3200400" y="716407"/>
                    <a:pt x="3200400" y="1600200"/>
                  </a:cubicBezTo>
                  <a:cubicBezTo>
                    <a:pt x="3200400" y="2483993"/>
                    <a:pt x="2483993" y="3200400"/>
                    <a:pt x="1600200" y="3200400"/>
                  </a:cubicBezTo>
                  <a:cubicBezTo>
                    <a:pt x="716407" y="3200400"/>
                    <a:pt x="0" y="2483993"/>
                    <a:pt x="0" y="1600200"/>
                  </a:cubicBezTo>
                  <a:close/>
                </a:path>
              </a:pathLst>
            </a:custGeom>
            <a:solidFill>
              <a:srgbClr val="2E3A8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501384" y="3977640"/>
            <a:ext cx="2400300" cy="2400300"/>
            <a:chOff x="0" y="0"/>
            <a:chExt cx="3200400" cy="3200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200400" cy="3200400"/>
            </a:xfrm>
            <a:custGeom>
              <a:avLst/>
              <a:gdLst/>
              <a:ahLst/>
              <a:cxnLst/>
              <a:rect r="r" b="b" t="t" l="l"/>
              <a:pathLst>
                <a:path h="320040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3200400"/>
                  </a:lnTo>
                  <a:lnTo>
                    <a:pt x="0" y="3200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200400" cy="3200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158484" y="6583680"/>
            <a:ext cx="3086100" cy="1165860"/>
            <a:chOff x="0" y="0"/>
            <a:chExt cx="4114800" cy="15544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1148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78" r="0" b="-157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411480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3"/>
                </a:lnSpc>
              </a:pPr>
              <a:r>
                <a:rPr lang="en-US" sz="1725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Preparación:</a:t>
              </a:r>
            </a:p>
            <a:p>
              <a:pPr algn="ctr">
                <a:lnSpc>
                  <a:spcPts val="2173"/>
                </a:lnSpc>
              </a:pPr>
              <a:r>
                <a:rPr lang="en-US" sz="1725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split + escalado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158484" y="7749540"/>
            <a:ext cx="3086100" cy="548640"/>
            <a:chOff x="0" y="0"/>
            <a:chExt cx="411480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114800" cy="731520"/>
            </a:xfrm>
            <a:custGeom>
              <a:avLst/>
              <a:gdLst/>
              <a:ahLst/>
              <a:cxnLst/>
              <a:rect r="r" b="b" t="t" l="l"/>
              <a:pathLst>
                <a:path h="73152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4114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Scikit-learn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340596" y="3977640"/>
            <a:ext cx="2400300" cy="2400300"/>
            <a:chOff x="0" y="0"/>
            <a:chExt cx="3200400" cy="3200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200400" cy="3200400"/>
            </a:xfrm>
            <a:custGeom>
              <a:avLst/>
              <a:gdLst/>
              <a:ahLst/>
              <a:cxnLst/>
              <a:rect r="r" b="b" t="t" l="l"/>
              <a:pathLst>
                <a:path h="3200400" w="3200400">
                  <a:moveTo>
                    <a:pt x="0" y="1600200"/>
                  </a:moveTo>
                  <a:cubicBezTo>
                    <a:pt x="0" y="716407"/>
                    <a:pt x="716407" y="0"/>
                    <a:pt x="1600200" y="0"/>
                  </a:cubicBezTo>
                  <a:cubicBezTo>
                    <a:pt x="2483993" y="0"/>
                    <a:pt x="3200400" y="716407"/>
                    <a:pt x="3200400" y="1600200"/>
                  </a:cubicBezTo>
                  <a:cubicBezTo>
                    <a:pt x="3200400" y="2483993"/>
                    <a:pt x="2483993" y="3200400"/>
                    <a:pt x="1600200" y="3200400"/>
                  </a:cubicBezTo>
                  <a:cubicBezTo>
                    <a:pt x="716407" y="3200400"/>
                    <a:pt x="0" y="2483993"/>
                    <a:pt x="0" y="1600200"/>
                  </a:cubicBezTo>
                  <a:close/>
                </a:path>
              </a:pathLst>
            </a:custGeom>
            <a:solidFill>
              <a:srgbClr val="00C2CB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340596" y="3977640"/>
            <a:ext cx="2400300" cy="2400300"/>
            <a:chOff x="0" y="0"/>
            <a:chExt cx="3200400" cy="3200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200400" cy="3200400"/>
            </a:xfrm>
            <a:custGeom>
              <a:avLst/>
              <a:gdLst/>
              <a:ahLst/>
              <a:cxnLst/>
              <a:rect r="r" b="b" t="t" l="l"/>
              <a:pathLst>
                <a:path h="320040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3200400"/>
                  </a:lnTo>
                  <a:lnTo>
                    <a:pt x="0" y="3200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200400" cy="3200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997696" y="6583680"/>
            <a:ext cx="3086100" cy="1165860"/>
            <a:chOff x="0" y="0"/>
            <a:chExt cx="4114800" cy="15544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1148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78" r="0" b="-1578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411480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3"/>
                </a:lnSpc>
              </a:pPr>
              <a:r>
                <a:rPr lang="en-US" sz="1725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Modelado:</a:t>
              </a:r>
            </a:p>
            <a:p>
              <a:pPr algn="ctr">
                <a:lnSpc>
                  <a:spcPts val="2173"/>
                </a:lnSpc>
              </a:pPr>
              <a:r>
                <a:rPr lang="en-US" sz="1725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ML y Deep Learning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997696" y="7749540"/>
            <a:ext cx="3086100" cy="548640"/>
            <a:chOff x="0" y="0"/>
            <a:chExt cx="4114800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114800" cy="731520"/>
            </a:xfrm>
            <a:custGeom>
              <a:avLst/>
              <a:gdLst/>
              <a:ahLst/>
              <a:cxnLst/>
              <a:rect r="r" b="b" t="t" l="l"/>
              <a:pathLst>
                <a:path h="73152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4114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Scikit-learn / Keras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179808" y="3977640"/>
            <a:ext cx="2400300" cy="2400300"/>
            <a:chOff x="0" y="0"/>
            <a:chExt cx="3200400" cy="32004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200400" cy="3200400"/>
            </a:xfrm>
            <a:custGeom>
              <a:avLst/>
              <a:gdLst/>
              <a:ahLst/>
              <a:cxnLst/>
              <a:rect r="r" b="b" t="t" l="l"/>
              <a:pathLst>
                <a:path h="3200400" w="3200400">
                  <a:moveTo>
                    <a:pt x="0" y="1600200"/>
                  </a:moveTo>
                  <a:cubicBezTo>
                    <a:pt x="0" y="716407"/>
                    <a:pt x="716407" y="0"/>
                    <a:pt x="1600200" y="0"/>
                  </a:cubicBezTo>
                  <a:cubicBezTo>
                    <a:pt x="2483993" y="0"/>
                    <a:pt x="3200400" y="716407"/>
                    <a:pt x="3200400" y="1600200"/>
                  </a:cubicBezTo>
                  <a:cubicBezTo>
                    <a:pt x="3200400" y="2483993"/>
                    <a:pt x="2483993" y="3200400"/>
                    <a:pt x="1600200" y="3200400"/>
                  </a:cubicBezTo>
                  <a:cubicBezTo>
                    <a:pt x="716407" y="3200400"/>
                    <a:pt x="0" y="2483993"/>
                    <a:pt x="0" y="1600200"/>
                  </a:cubicBezTo>
                  <a:close/>
                </a:path>
              </a:pathLst>
            </a:custGeom>
            <a:solidFill>
              <a:srgbClr val="2E3A8C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179808" y="3977640"/>
            <a:ext cx="2400300" cy="2400300"/>
            <a:chOff x="0" y="0"/>
            <a:chExt cx="3200400" cy="32004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200400" cy="3200400"/>
            </a:xfrm>
            <a:custGeom>
              <a:avLst/>
              <a:gdLst/>
              <a:ahLst/>
              <a:cxnLst/>
              <a:rect r="r" b="b" t="t" l="l"/>
              <a:pathLst>
                <a:path h="320040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3200400"/>
                  </a:lnTo>
                  <a:lnTo>
                    <a:pt x="0" y="3200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3200400" cy="3200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1836908" y="6583680"/>
            <a:ext cx="3086100" cy="1165860"/>
            <a:chOff x="0" y="0"/>
            <a:chExt cx="4114800" cy="15544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1148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78" r="0" b="-1578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411480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3"/>
                </a:lnSpc>
              </a:pPr>
              <a:r>
                <a:rPr lang="en-US" sz="1725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Evaluación:</a:t>
              </a:r>
            </a:p>
            <a:p>
              <a:pPr algn="ctr">
                <a:lnSpc>
                  <a:spcPts val="2173"/>
                </a:lnSpc>
              </a:pPr>
              <a:r>
                <a:rPr lang="en-US" sz="1725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accuracy, matriz, ROC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836908" y="7749540"/>
            <a:ext cx="3086100" cy="548640"/>
            <a:chOff x="0" y="0"/>
            <a:chExt cx="4114800" cy="731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114800" cy="731520"/>
            </a:xfrm>
            <a:custGeom>
              <a:avLst/>
              <a:gdLst/>
              <a:ahLst/>
              <a:cxnLst/>
              <a:rect r="r" b="b" t="t" l="l"/>
              <a:pathLst>
                <a:path h="73152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4114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Scikit-learn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5019020" y="3977640"/>
            <a:ext cx="2400300" cy="2400300"/>
            <a:chOff x="0" y="0"/>
            <a:chExt cx="3200400" cy="32004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200400" cy="3200400"/>
            </a:xfrm>
            <a:custGeom>
              <a:avLst/>
              <a:gdLst/>
              <a:ahLst/>
              <a:cxnLst/>
              <a:rect r="r" b="b" t="t" l="l"/>
              <a:pathLst>
                <a:path h="3200400" w="3200400">
                  <a:moveTo>
                    <a:pt x="0" y="1600200"/>
                  </a:moveTo>
                  <a:cubicBezTo>
                    <a:pt x="0" y="716407"/>
                    <a:pt x="716407" y="0"/>
                    <a:pt x="1600200" y="0"/>
                  </a:cubicBezTo>
                  <a:cubicBezTo>
                    <a:pt x="2483993" y="0"/>
                    <a:pt x="3200400" y="716407"/>
                    <a:pt x="3200400" y="1600200"/>
                  </a:cubicBezTo>
                  <a:cubicBezTo>
                    <a:pt x="3200400" y="2483993"/>
                    <a:pt x="2483993" y="3200400"/>
                    <a:pt x="1600200" y="3200400"/>
                  </a:cubicBezTo>
                  <a:cubicBezTo>
                    <a:pt x="716407" y="3200400"/>
                    <a:pt x="0" y="2483993"/>
                    <a:pt x="0" y="1600200"/>
                  </a:cubicBezTo>
                  <a:close/>
                </a:path>
              </a:pathLst>
            </a:custGeom>
            <a:solidFill>
              <a:srgbClr val="00C2CB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5019020" y="3977640"/>
            <a:ext cx="2400300" cy="2400300"/>
            <a:chOff x="0" y="0"/>
            <a:chExt cx="3200400" cy="32004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200400" cy="3200400"/>
            </a:xfrm>
            <a:custGeom>
              <a:avLst/>
              <a:gdLst/>
              <a:ahLst/>
              <a:cxnLst/>
              <a:rect r="r" b="b" t="t" l="l"/>
              <a:pathLst>
                <a:path h="320040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3200400"/>
                  </a:lnTo>
                  <a:lnTo>
                    <a:pt x="0" y="3200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3200400" cy="3200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6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4676120" y="6583680"/>
            <a:ext cx="3086100" cy="1165860"/>
            <a:chOff x="0" y="0"/>
            <a:chExt cx="4114800" cy="15544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1148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78" r="0" b="-1578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411480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3"/>
                </a:lnSpc>
              </a:pPr>
              <a:r>
                <a:rPr lang="en-US" sz="1725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Comparación de rendimiento entre ML y Deep Learning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4676120" y="7749540"/>
            <a:ext cx="3086100" cy="548640"/>
            <a:chOff x="0" y="0"/>
            <a:chExt cx="4114800" cy="7315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114800" cy="731520"/>
            </a:xfrm>
            <a:custGeom>
              <a:avLst/>
              <a:gdLst/>
              <a:ahLst/>
              <a:cxnLst/>
              <a:rect r="r" b="b" t="t" l="l"/>
              <a:pathLst>
                <a:path h="73152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4114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Scikit-learn / Keras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7282160" y="9669780"/>
            <a:ext cx="685800" cy="480060"/>
            <a:chOff x="0" y="0"/>
            <a:chExt cx="914400" cy="64008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144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914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960120" cy="960120"/>
            <a:chOff x="0" y="0"/>
            <a:chExt cx="128016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B8860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891540"/>
            <a:ext cx="548640" cy="548640"/>
            <a:chOff x="0" y="0"/>
            <a:chExt cx="731520" cy="73152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057400" y="617220"/>
            <a:ext cx="14401800" cy="1097280"/>
            <a:chOff x="0" y="0"/>
            <a:chExt cx="19202400" cy="1463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2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920240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Análisis de Datos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13435" y="2322195"/>
            <a:ext cx="5368290" cy="3036570"/>
            <a:chOff x="0" y="0"/>
            <a:chExt cx="7157720" cy="40487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57720" cy="4048760"/>
            </a:xfrm>
            <a:custGeom>
              <a:avLst/>
              <a:gdLst/>
              <a:ahLst/>
              <a:cxnLst/>
              <a:rect r="r" b="b" t="t" l="l"/>
              <a:pathLst>
                <a:path h="4048760" w="71577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7010527" y="0"/>
                  </a:lnTo>
                  <a:cubicBezTo>
                    <a:pt x="7091807" y="0"/>
                    <a:pt x="7157720" y="65913"/>
                    <a:pt x="7157720" y="147193"/>
                  </a:cubicBezTo>
                  <a:lnTo>
                    <a:pt x="7157720" y="3901567"/>
                  </a:lnTo>
                  <a:cubicBezTo>
                    <a:pt x="7157720" y="3982847"/>
                    <a:pt x="7091807" y="4048760"/>
                    <a:pt x="7010527" y="4048760"/>
                  </a:cubicBezTo>
                  <a:lnTo>
                    <a:pt x="147193" y="4048760"/>
                  </a:lnTo>
                  <a:cubicBezTo>
                    <a:pt x="65913" y="4048760"/>
                    <a:pt x="0" y="3982847"/>
                    <a:pt x="0" y="390156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5F0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2674620"/>
            <a:ext cx="5349240" cy="1371600"/>
            <a:chOff x="0" y="0"/>
            <a:chExt cx="7132320" cy="1828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323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991" r="0" b="-2599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713232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sz="5100" b="true">
                  <a:solidFill>
                    <a:srgbClr val="2E3A8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2,000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34440" y="4183380"/>
            <a:ext cx="4526280" cy="960120"/>
            <a:chOff x="0" y="0"/>
            <a:chExt cx="6035040" cy="12801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0350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858" r="0" b="-4185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6035040" cy="1346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74"/>
                </a:lnSpc>
              </a:pPr>
              <a:r>
                <a:rPr lang="en-US" sz="19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Registros analizados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436995" y="2322195"/>
            <a:ext cx="5368290" cy="3036570"/>
            <a:chOff x="0" y="0"/>
            <a:chExt cx="7157720" cy="40487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57720" cy="4048760"/>
            </a:xfrm>
            <a:custGeom>
              <a:avLst/>
              <a:gdLst/>
              <a:ahLst/>
              <a:cxnLst/>
              <a:rect r="r" b="b" t="t" l="l"/>
              <a:pathLst>
                <a:path h="4048760" w="71577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7010527" y="0"/>
                  </a:lnTo>
                  <a:cubicBezTo>
                    <a:pt x="7091807" y="0"/>
                    <a:pt x="7157720" y="65913"/>
                    <a:pt x="7157720" y="147193"/>
                  </a:cubicBezTo>
                  <a:lnTo>
                    <a:pt x="7157720" y="3901567"/>
                  </a:lnTo>
                  <a:cubicBezTo>
                    <a:pt x="7157720" y="3982847"/>
                    <a:pt x="7091807" y="4048760"/>
                    <a:pt x="7010527" y="4048760"/>
                  </a:cubicBezTo>
                  <a:lnTo>
                    <a:pt x="147193" y="4048760"/>
                  </a:lnTo>
                  <a:cubicBezTo>
                    <a:pt x="65913" y="4048760"/>
                    <a:pt x="0" y="3982847"/>
                    <a:pt x="0" y="390156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5F0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446520" y="2674620"/>
            <a:ext cx="5349240" cy="1371600"/>
            <a:chOff x="0" y="0"/>
            <a:chExt cx="7132320" cy="1828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1323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991" r="0" b="-2599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713232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sz="5100" b="true">
                  <a:solidFill>
                    <a:srgbClr val="2E3A8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20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858000" y="4183380"/>
            <a:ext cx="4526280" cy="960120"/>
            <a:chOff x="0" y="0"/>
            <a:chExt cx="6035040" cy="12801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0350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858" r="0" b="-4185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6035040" cy="1346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74"/>
                </a:lnSpc>
              </a:pPr>
              <a:r>
                <a:rPr lang="en-US" sz="19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Variables numéricas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060555" y="2322195"/>
            <a:ext cx="5368290" cy="3036570"/>
            <a:chOff x="0" y="0"/>
            <a:chExt cx="7157720" cy="40487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157720" cy="4048760"/>
            </a:xfrm>
            <a:custGeom>
              <a:avLst/>
              <a:gdLst/>
              <a:ahLst/>
              <a:cxnLst/>
              <a:rect r="r" b="b" t="t" l="l"/>
              <a:pathLst>
                <a:path h="4048760" w="71577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7010527" y="0"/>
                  </a:lnTo>
                  <a:cubicBezTo>
                    <a:pt x="7091807" y="0"/>
                    <a:pt x="7157720" y="65913"/>
                    <a:pt x="7157720" y="147193"/>
                  </a:cubicBezTo>
                  <a:lnTo>
                    <a:pt x="7157720" y="3901567"/>
                  </a:lnTo>
                  <a:cubicBezTo>
                    <a:pt x="7157720" y="3982847"/>
                    <a:pt x="7091807" y="4048760"/>
                    <a:pt x="7010527" y="4048760"/>
                  </a:cubicBezTo>
                  <a:lnTo>
                    <a:pt x="147193" y="4048760"/>
                  </a:lnTo>
                  <a:cubicBezTo>
                    <a:pt x="65913" y="4048760"/>
                    <a:pt x="0" y="3982847"/>
                    <a:pt x="0" y="390156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5F0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2070080" y="2674620"/>
            <a:ext cx="5349240" cy="1371600"/>
            <a:chOff x="0" y="0"/>
            <a:chExt cx="7132320" cy="1828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1323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991" r="0" b="-2599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713232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sz="5100" b="true">
                  <a:solidFill>
                    <a:srgbClr val="2E3A8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481560" y="4183380"/>
            <a:ext cx="4526280" cy="960120"/>
            <a:chOff x="0" y="0"/>
            <a:chExt cx="6035040" cy="12801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0350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858" r="0" b="-4185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6035040" cy="1346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74"/>
                </a:lnSpc>
              </a:pPr>
              <a:r>
                <a:rPr lang="en-US" sz="19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Valores nulos o duplicados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13435" y="5614035"/>
            <a:ext cx="5368290" cy="3036570"/>
            <a:chOff x="0" y="0"/>
            <a:chExt cx="7157720" cy="40487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157720" cy="4048760"/>
            </a:xfrm>
            <a:custGeom>
              <a:avLst/>
              <a:gdLst/>
              <a:ahLst/>
              <a:cxnLst/>
              <a:rect r="r" b="b" t="t" l="l"/>
              <a:pathLst>
                <a:path h="4048760" w="71577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7010527" y="0"/>
                  </a:lnTo>
                  <a:cubicBezTo>
                    <a:pt x="7091807" y="0"/>
                    <a:pt x="7157720" y="65913"/>
                    <a:pt x="7157720" y="147193"/>
                  </a:cubicBezTo>
                  <a:lnTo>
                    <a:pt x="7157720" y="3901567"/>
                  </a:lnTo>
                  <a:cubicBezTo>
                    <a:pt x="7157720" y="3982847"/>
                    <a:pt x="7091807" y="4048760"/>
                    <a:pt x="7010527" y="4048760"/>
                  </a:cubicBezTo>
                  <a:lnTo>
                    <a:pt x="147193" y="4048760"/>
                  </a:lnTo>
                  <a:cubicBezTo>
                    <a:pt x="65913" y="4048760"/>
                    <a:pt x="0" y="3982847"/>
                    <a:pt x="0" y="390156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5F0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822960" y="5966460"/>
            <a:ext cx="5349240" cy="1371600"/>
            <a:chOff x="0" y="0"/>
            <a:chExt cx="7132320" cy="1828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1323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991" r="0" b="-2599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713232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sz="5100" b="true">
                  <a:solidFill>
                    <a:srgbClr val="2E3A8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34440" y="7475220"/>
            <a:ext cx="4526280" cy="960120"/>
            <a:chOff x="0" y="0"/>
            <a:chExt cx="6035040" cy="12801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0350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858" r="0" b="-4185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6035040" cy="1346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74"/>
                </a:lnSpc>
              </a:pPr>
              <a:r>
                <a:rPr lang="en-US" sz="19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Clases de precio (balanceadas)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436995" y="5614035"/>
            <a:ext cx="5368290" cy="3036570"/>
            <a:chOff x="0" y="0"/>
            <a:chExt cx="7157720" cy="40487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157720" cy="4048760"/>
            </a:xfrm>
            <a:custGeom>
              <a:avLst/>
              <a:gdLst/>
              <a:ahLst/>
              <a:cxnLst/>
              <a:rect r="r" b="b" t="t" l="l"/>
              <a:pathLst>
                <a:path h="4048760" w="71577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7010527" y="0"/>
                  </a:lnTo>
                  <a:cubicBezTo>
                    <a:pt x="7091807" y="0"/>
                    <a:pt x="7157720" y="65913"/>
                    <a:pt x="7157720" y="147193"/>
                  </a:cubicBezTo>
                  <a:lnTo>
                    <a:pt x="7157720" y="3901567"/>
                  </a:lnTo>
                  <a:cubicBezTo>
                    <a:pt x="7157720" y="3982847"/>
                    <a:pt x="7091807" y="4048760"/>
                    <a:pt x="7010527" y="4048760"/>
                  </a:cubicBezTo>
                  <a:lnTo>
                    <a:pt x="147193" y="4048760"/>
                  </a:lnTo>
                  <a:cubicBezTo>
                    <a:pt x="65913" y="4048760"/>
                    <a:pt x="0" y="3982847"/>
                    <a:pt x="0" y="390156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5F0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6446520" y="5966460"/>
            <a:ext cx="5349240" cy="1371600"/>
            <a:chOff x="0" y="0"/>
            <a:chExt cx="7132320" cy="1828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1323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991" r="0" b="-2599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713232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sz="5100" b="true">
                  <a:solidFill>
                    <a:srgbClr val="2E3A8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RAM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858000" y="7475220"/>
            <a:ext cx="4526280" cy="960120"/>
            <a:chOff x="0" y="0"/>
            <a:chExt cx="6035040" cy="12801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0350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858" r="0" b="-4185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66675"/>
              <a:ext cx="6035040" cy="1346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74"/>
                </a:lnSpc>
              </a:pPr>
              <a:r>
                <a:rPr lang="en-US" sz="19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Variable más influyente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060555" y="5614035"/>
            <a:ext cx="5368290" cy="3036570"/>
            <a:chOff x="0" y="0"/>
            <a:chExt cx="7157720" cy="40487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157720" cy="4048760"/>
            </a:xfrm>
            <a:custGeom>
              <a:avLst/>
              <a:gdLst/>
              <a:ahLst/>
              <a:cxnLst/>
              <a:rect r="r" b="b" t="t" l="l"/>
              <a:pathLst>
                <a:path h="4048760" w="71577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7010527" y="0"/>
                  </a:lnTo>
                  <a:cubicBezTo>
                    <a:pt x="7091807" y="0"/>
                    <a:pt x="7157720" y="65913"/>
                    <a:pt x="7157720" y="147193"/>
                  </a:cubicBezTo>
                  <a:lnTo>
                    <a:pt x="7157720" y="3901567"/>
                  </a:lnTo>
                  <a:cubicBezTo>
                    <a:pt x="7157720" y="3982847"/>
                    <a:pt x="7091807" y="4048760"/>
                    <a:pt x="7010527" y="4048760"/>
                  </a:cubicBezTo>
                  <a:lnTo>
                    <a:pt x="147193" y="4048760"/>
                  </a:lnTo>
                  <a:cubicBezTo>
                    <a:pt x="65913" y="4048760"/>
                    <a:pt x="0" y="3982847"/>
                    <a:pt x="0" y="390156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5F0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2070080" y="5966460"/>
            <a:ext cx="5349240" cy="1371600"/>
            <a:chOff x="0" y="0"/>
            <a:chExt cx="7132320" cy="1828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1323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991" r="0" b="-2599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713232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sz="5100" b="true">
                  <a:solidFill>
                    <a:srgbClr val="2E3A8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px_H / px_W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481560" y="7475220"/>
            <a:ext cx="4526280" cy="960120"/>
            <a:chOff x="0" y="0"/>
            <a:chExt cx="6035040" cy="12801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0350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858" r="0" b="-41858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66675"/>
              <a:ext cx="6035040" cy="1346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74"/>
                </a:lnSpc>
              </a:pPr>
              <a:r>
                <a:rPr lang="en-US" sz="19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Alta correlación con el precio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7282160" y="9669780"/>
            <a:ext cx="685800" cy="480060"/>
            <a:chOff x="0" y="0"/>
            <a:chExt cx="914400" cy="6400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144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914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960120" cy="960120"/>
            <a:chOff x="0" y="0"/>
            <a:chExt cx="128016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8E44A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891540"/>
            <a:ext cx="548640" cy="548640"/>
            <a:chOff x="0" y="0"/>
            <a:chExt cx="731520" cy="73152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057400" y="617220"/>
            <a:ext cx="14401800" cy="1097280"/>
            <a:chOff x="0" y="0"/>
            <a:chExt cx="19202400" cy="1463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2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920240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Visualizaciones Generadas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07143" y="3386709"/>
            <a:ext cx="5716766" cy="3735849"/>
            <a:chOff x="0" y="0"/>
            <a:chExt cx="6296655" cy="4114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296654" cy="4114800"/>
            </a:xfrm>
            <a:custGeom>
              <a:avLst/>
              <a:gdLst/>
              <a:ahLst/>
              <a:cxnLst/>
              <a:rect r="r" b="b" t="t" l="l"/>
              <a:pathLst>
                <a:path h="4114800" w="6296654">
                  <a:moveTo>
                    <a:pt x="0" y="146304"/>
                  </a:moveTo>
                  <a:cubicBezTo>
                    <a:pt x="0" y="65532"/>
                    <a:pt x="76485" y="0"/>
                    <a:pt x="170757" y="0"/>
                  </a:cubicBezTo>
                  <a:lnTo>
                    <a:pt x="6125898" y="0"/>
                  </a:lnTo>
                  <a:cubicBezTo>
                    <a:pt x="6220170" y="0"/>
                    <a:pt x="6296654" y="65532"/>
                    <a:pt x="6296654" y="146304"/>
                  </a:cubicBezTo>
                  <a:lnTo>
                    <a:pt x="6296654" y="3968496"/>
                  </a:lnTo>
                  <a:cubicBezTo>
                    <a:pt x="6296654" y="4049268"/>
                    <a:pt x="6220170" y="4114800"/>
                    <a:pt x="6125898" y="4114800"/>
                  </a:cubicBezTo>
                  <a:lnTo>
                    <a:pt x="170757" y="4114800"/>
                  </a:lnTo>
                  <a:cubicBezTo>
                    <a:pt x="76485" y="4114800"/>
                    <a:pt x="0" y="4049268"/>
                    <a:pt x="0" y="3968496"/>
                  </a:cubicBezTo>
                  <a:close/>
                </a:path>
              </a:pathLst>
            </a:custGeom>
            <a:blipFill>
              <a:blip r:embed="rId5"/>
              <a:stretch>
                <a:fillRect l="0" t="-575" r="0" b="-575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434590" y="1906524"/>
            <a:ext cx="822960" cy="822960"/>
            <a:chOff x="0" y="0"/>
            <a:chExt cx="109728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8E44AD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626614" y="2098548"/>
            <a:ext cx="438912" cy="438912"/>
            <a:chOff x="0" y="0"/>
            <a:chExt cx="585216" cy="585216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980071" y="3324606"/>
            <a:ext cx="5285237" cy="4563618"/>
            <a:chOff x="0" y="0"/>
            <a:chExt cx="5394960" cy="4658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394960" cy="4658360"/>
            </a:xfrm>
            <a:custGeom>
              <a:avLst/>
              <a:gdLst/>
              <a:ahLst/>
              <a:cxnLst/>
              <a:rect r="r" b="b" t="t" l="l"/>
              <a:pathLst>
                <a:path h="4658360" w="5394960">
                  <a:moveTo>
                    <a:pt x="0" y="165631"/>
                  </a:moveTo>
                  <a:cubicBezTo>
                    <a:pt x="0" y="74189"/>
                    <a:pt x="65532" y="0"/>
                    <a:pt x="146304" y="0"/>
                  </a:cubicBezTo>
                  <a:lnTo>
                    <a:pt x="5248656" y="0"/>
                  </a:lnTo>
                  <a:cubicBezTo>
                    <a:pt x="5329428" y="0"/>
                    <a:pt x="5394960" y="74189"/>
                    <a:pt x="5394960" y="165631"/>
                  </a:cubicBezTo>
                  <a:lnTo>
                    <a:pt x="5394960" y="4492730"/>
                  </a:lnTo>
                  <a:cubicBezTo>
                    <a:pt x="5394960" y="4584172"/>
                    <a:pt x="5329428" y="4658360"/>
                    <a:pt x="5248656" y="4658360"/>
                  </a:cubicBezTo>
                  <a:lnTo>
                    <a:pt x="146304" y="4658360"/>
                  </a:lnTo>
                  <a:cubicBezTo>
                    <a:pt x="65532" y="4658360"/>
                    <a:pt x="0" y="4584171"/>
                    <a:pt x="0" y="4492730"/>
                  </a:cubicBezTo>
                  <a:close/>
                </a:path>
              </a:pathLst>
            </a:custGeom>
            <a:blipFill>
              <a:blip r:embed="rId6"/>
              <a:stretch>
                <a:fillRect l="-496" t="0" r="-496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11210" y="1906524"/>
            <a:ext cx="822960" cy="822960"/>
            <a:chOff x="0" y="0"/>
            <a:chExt cx="1097280" cy="1097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8E44AD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403234" y="2098548"/>
            <a:ext cx="438912" cy="438912"/>
            <a:chOff x="0" y="0"/>
            <a:chExt cx="585216" cy="585216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524651" y="3429000"/>
            <a:ext cx="6234358" cy="4103490"/>
            <a:chOff x="0" y="0"/>
            <a:chExt cx="6251541" cy="4114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251541" cy="4114800"/>
            </a:xfrm>
            <a:custGeom>
              <a:avLst/>
              <a:gdLst/>
              <a:ahLst/>
              <a:cxnLst/>
              <a:rect r="r" b="b" t="t" l="l"/>
              <a:pathLst>
                <a:path h="4114800" w="6251541">
                  <a:moveTo>
                    <a:pt x="0" y="146304"/>
                  </a:moveTo>
                  <a:cubicBezTo>
                    <a:pt x="0" y="65532"/>
                    <a:pt x="75937" y="0"/>
                    <a:pt x="169533" y="0"/>
                  </a:cubicBezTo>
                  <a:lnTo>
                    <a:pt x="6082007" y="0"/>
                  </a:lnTo>
                  <a:cubicBezTo>
                    <a:pt x="6175604" y="0"/>
                    <a:pt x="6251541" y="65532"/>
                    <a:pt x="6251541" y="146304"/>
                  </a:cubicBezTo>
                  <a:lnTo>
                    <a:pt x="6251541" y="3968496"/>
                  </a:lnTo>
                  <a:cubicBezTo>
                    <a:pt x="6251541" y="4049268"/>
                    <a:pt x="6175604" y="4114800"/>
                    <a:pt x="6082007" y="4114800"/>
                  </a:cubicBezTo>
                  <a:lnTo>
                    <a:pt x="169533" y="4114800"/>
                  </a:lnTo>
                  <a:cubicBezTo>
                    <a:pt x="75937" y="4114800"/>
                    <a:pt x="0" y="4049268"/>
                    <a:pt x="0" y="3968496"/>
                  </a:cubicBezTo>
                  <a:close/>
                </a:path>
              </a:pathLst>
            </a:custGeom>
            <a:blipFill>
              <a:blip r:embed="rId7"/>
              <a:stretch>
                <a:fillRect l="0" t="-213" r="0" b="-213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4230350" y="1906524"/>
            <a:ext cx="822960" cy="822960"/>
            <a:chOff x="0" y="0"/>
            <a:chExt cx="1097280" cy="1097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8E44AD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4422374" y="2098548"/>
            <a:ext cx="438912" cy="438912"/>
            <a:chOff x="0" y="0"/>
            <a:chExt cx="585216" cy="585216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7282160" y="9669780"/>
            <a:ext cx="685800" cy="480060"/>
            <a:chOff x="0" y="0"/>
            <a:chExt cx="914400" cy="6400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144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914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012598" y="2672334"/>
            <a:ext cx="3634740" cy="163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7"/>
              </a:lnSpc>
            </a:pPr>
            <a:r>
              <a:rPr lang="en-US" sz="1725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Distribución de celulares</a:t>
            </a:r>
          </a:p>
          <a:p>
            <a:pPr algn="ctr">
              <a:lnSpc>
                <a:spcPts val="2277"/>
              </a:lnSpc>
            </a:pPr>
            <a:r>
              <a:rPr lang="en-US" sz="1725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por rango de precio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805320" y="2670810"/>
            <a:ext cx="3634740" cy="163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7"/>
              </a:lnSpc>
            </a:pPr>
            <a:r>
              <a:rPr lang="en-US" sz="1725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Mapa de calor de</a:t>
            </a:r>
          </a:p>
          <a:p>
            <a:pPr algn="ctr">
              <a:lnSpc>
                <a:spcPts val="2277"/>
              </a:lnSpc>
            </a:pPr>
            <a:r>
              <a:rPr lang="en-US" sz="1725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correlación entre variables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824460" y="2672334"/>
            <a:ext cx="3634740" cy="163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7"/>
              </a:lnSpc>
            </a:pPr>
            <a:r>
              <a:rPr lang="en-US" sz="1725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RAM vs. rango</a:t>
            </a:r>
          </a:p>
          <a:p>
            <a:pPr algn="ctr">
              <a:lnSpc>
                <a:spcPts val="2277"/>
              </a:lnSpc>
            </a:pPr>
            <a:r>
              <a:rPr lang="en-US" sz="1725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de precio (boxplot)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960120" cy="960120"/>
            <a:chOff x="0" y="0"/>
            <a:chExt cx="128016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8E44A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891540"/>
            <a:ext cx="548640" cy="548640"/>
            <a:chOff x="0" y="0"/>
            <a:chExt cx="731520" cy="73152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057400" y="617220"/>
            <a:ext cx="14401800" cy="1097280"/>
            <a:chOff x="0" y="0"/>
            <a:chExt cx="19202400" cy="1463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2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920240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Visualizaciones Generadas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2263140"/>
            <a:ext cx="4046220" cy="3086100"/>
            <a:chOff x="0" y="0"/>
            <a:chExt cx="5394960" cy="4114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4960" cy="4114800"/>
            </a:xfrm>
            <a:custGeom>
              <a:avLst/>
              <a:gdLst/>
              <a:ahLst/>
              <a:cxnLst/>
              <a:rect r="r" b="b" t="t" l="l"/>
              <a:pathLst>
                <a:path h="4114800" w="53949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248656" y="0"/>
                  </a:lnTo>
                  <a:cubicBezTo>
                    <a:pt x="5329428" y="0"/>
                    <a:pt x="5394960" y="65532"/>
                    <a:pt x="5394960" y="146304"/>
                  </a:cubicBezTo>
                  <a:lnTo>
                    <a:pt x="5394960" y="3968496"/>
                  </a:lnTo>
                  <a:cubicBezTo>
                    <a:pt x="5394960" y="4049268"/>
                    <a:pt x="5329428" y="4114800"/>
                    <a:pt x="5248656" y="4114800"/>
                  </a:cubicBezTo>
                  <a:lnTo>
                    <a:pt x="146304" y="4114800"/>
                  </a:lnTo>
                  <a:cubicBezTo>
                    <a:pt x="65532" y="4114800"/>
                    <a:pt x="0" y="4049268"/>
                    <a:pt x="0" y="39684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94945" y="3395272"/>
            <a:ext cx="5810466" cy="5069342"/>
            <a:chOff x="0" y="0"/>
            <a:chExt cx="4716372" cy="4114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716372" cy="4114800"/>
            </a:xfrm>
            <a:custGeom>
              <a:avLst/>
              <a:gdLst/>
              <a:ahLst/>
              <a:cxnLst/>
              <a:rect r="r" b="b" t="t" l="l"/>
              <a:pathLst>
                <a:path h="4114800" w="4716372">
                  <a:moveTo>
                    <a:pt x="0" y="146304"/>
                  </a:moveTo>
                  <a:cubicBezTo>
                    <a:pt x="0" y="65532"/>
                    <a:pt x="57289" y="0"/>
                    <a:pt x="127902" y="0"/>
                  </a:cubicBezTo>
                  <a:lnTo>
                    <a:pt x="4588471" y="0"/>
                  </a:lnTo>
                  <a:cubicBezTo>
                    <a:pt x="4659083" y="0"/>
                    <a:pt x="4716372" y="65532"/>
                    <a:pt x="4716372" y="146304"/>
                  </a:cubicBezTo>
                  <a:lnTo>
                    <a:pt x="4716372" y="3968496"/>
                  </a:lnTo>
                  <a:cubicBezTo>
                    <a:pt x="4716372" y="4049268"/>
                    <a:pt x="4659083" y="4114800"/>
                    <a:pt x="4588471" y="4114800"/>
                  </a:cubicBezTo>
                  <a:lnTo>
                    <a:pt x="127902" y="4114800"/>
                  </a:lnTo>
                  <a:cubicBezTo>
                    <a:pt x="57289" y="4114800"/>
                    <a:pt x="0" y="4049268"/>
                    <a:pt x="0" y="3968496"/>
                  </a:cubicBezTo>
                  <a:close/>
                </a:path>
              </a:pathLst>
            </a:custGeom>
            <a:blipFill>
              <a:blip r:embed="rId5"/>
              <a:stretch>
                <a:fillRect l="0" t="-325" r="0" b="-325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708910" y="1870801"/>
            <a:ext cx="822960" cy="822960"/>
            <a:chOff x="0" y="0"/>
            <a:chExt cx="1097280" cy="1097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8E44AD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900934" y="2062825"/>
            <a:ext cx="438912" cy="438912"/>
            <a:chOff x="0" y="0"/>
            <a:chExt cx="585216" cy="585216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572896" y="3489181"/>
            <a:ext cx="5553964" cy="4823845"/>
            <a:chOff x="0" y="0"/>
            <a:chExt cx="5394960" cy="46857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94960" cy="4685744"/>
            </a:xfrm>
            <a:custGeom>
              <a:avLst/>
              <a:gdLst/>
              <a:ahLst/>
              <a:cxnLst/>
              <a:rect r="r" b="b" t="t" l="l"/>
              <a:pathLst>
                <a:path h="4685744" w="5394960">
                  <a:moveTo>
                    <a:pt x="0" y="166604"/>
                  </a:moveTo>
                  <a:cubicBezTo>
                    <a:pt x="0" y="74625"/>
                    <a:pt x="65532" y="0"/>
                    <a:pt x="146304" y="0"/>
                  </a:cubicBezTo>
                  <a:lnTo>
                    <a:pt x="5248656" y="0"/>
                  </a:lnTo>
                  <a:cubicBezTo>
                    <a:pt x="5329428" y="0"/>
                    <a:pt x="5394960" y="74625"/>
                    <a:pt x="5394960" y="166604"/>
                  </a:cubicBezTo>
                  <a:lnTo>
                    <a:pt x="5394960" y="4519140"/>
                  </a:lnTo>
                  <a:cubicBezTo>
                    <a:pt x="5394960" y="4611119"/>
                    <a:pt x="5329428" y="4685744"/>
                    <a:pt x="5248656" y="4685744"/>
                  </a:cubicBezTo>
                  <a:lnTo>
                    <a:pt x="146304" y="4685744"/>
                  </a:lnTo>
                  <a:cubicBezTo>
                    <a:pt x="65532" y="4685744"/>
                    <a:pt x="0" y="4611119"/>
                    <a:pt x="0" y="4519140"/>
                  </a:cubicBezTo>
                  <a:close/>
                </a:path>
              </a:pathLst>
            </a:custGeom>
            <a:blipFill>
              <a:blip r:embed="rId6"/>
              <a:stretch>
                <a:fillRect l="-787" t="0" r="-787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732520" y="1935952"/>
            <a:ext cx="822960" cy="822960"/>
            <a:chOff x="0" y="0"/>
            <a:chExt cx="1097280" cy="1097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8E44AD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924544" y="2127976"/>
            <a:ext cx="438912" cy="438912"/>
            <a:chOff x="0" y="0"/>
            <a:chExt cx="585216" cy="585216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107654" y="2347432"/>
            <a:ext cx="4668552" cy="3086100"/>
            <a:chOff x="0" y="0"/>
            <a:chExt cx="6224736" cy="4114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224736" cy="4114800"/>
            </a:xfrm>
            <a:custGeom>
              <a:avLst/>
              <a:gdLst/>
              <a:ahLst/>
              <a:cxnLst/>
              <a:rect r="r" b="b" t="t" l="l"/>
              <a:pathLst>
                <a:path h="4114800" w="6224736">
                  <a:moveTo>
                    <a:pt x="0" y="146304"/>
                  </a:moveTo>
                  <a:cubicBezTo>
                    <a:pt x="0" y="65532"/>
                    <a:pt x="75611" y="0"/>
                    <a:pt x="168806" y="0"/>
                  </a:cubicBezTo>
                  <a:lnTo>
                    <a:pt x="6055930" y="0"/>
                  </a:lnTo>
                  <a:cubicBezTo>
                    <a:pt x="6149125" y="0"/>
                    <a:pt x="6224736" y="65532"/>
                    <a:pt x="6224736" y="146304"/>
                  </a:cubicBezTo>
                  <a:lnTo>
                    <a:pt x="6224736" y="3968496"/>
                  </a:lnTo>
                  <a:cubicBezTo>
                    <a:pt x="6224736" y="4049268"/>
                    <a:pt x="6149125" y="4114800"/>
                    <a:pt x="6055930" y="4114800"/>
                  </a:cubicBezTo>
                  <a:lnTo>
                    <a:pt x="168806" y="4114800"/>
                  </a:lnTo>
                  <a:cubicBezTo>
                    <a:pt x="75611" y="4114800"/>
                    <a:pt x="0" y="4049268"/>
                    <a:pt x="0" y="3968496"/>
                  </a:cubicBezTo>
                  <a:close/>
                </a:path>
              </a:pathLst>
            </a:custGeom>
            <a:blipFill>
              <a:blip r:embed="rId7"/>
              <a:stretch>
                <a:fillRect l="-1103" t="0" r="-1103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5030450" y="927826"/>
            <a:ext cx="822960" cy="822960"/>
            <a:chOff x="0" y="0"/>
            <a:chExt cx="1097280" cy="1097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8E44AD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5222474" y="1119850"/>
            <a:ext cx="438912" cy="438912"/>
            <a:chOff x="0" y="0"/>
            <a:chExt cx="585216" cy="585216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7282160" y="9669780"/>
            <a:ext cx="685800" cy="480060"/>
            <a:chOff x="0" y="0"/>
            <a:chExt cx="914400" cy="6400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914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107654" y="5736272"/>
            <a:ext cx="4668552" cy="3086100"/>
            <a:chOff x="0" y="0"/>
            <a:chExt cx="6224736" cy="4114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224736" cy="4114800"/>
            </a:xfrm>
            <a:custGeom>
              <a:avLst/>
              <a:gdLst/>
              <a:ahLst/>
              <a:cxnLst/>
              <a:rect r="r" b="b" t="t" l="l"/>
              <a:pathLst>
                <a:path h="4114800" w="6224736">
                  <a:moveTo>
                    <a:pt x="0" y="146304"/>
                  </a:moveTo>
                  <a:cubicBezTo>
                    <a:pt x="0" y="65532"/>
                    <a:pt x="75611" y="0"/>
                    <a:pt x="168806" y="0"/>
                  </a:cubicBezTo>
                  <a:lnTo>
                    <a:pt x="6055930" y="0"/>
                  </a:lnTo>
                  <a:cubicBezTo>
                    <a:pt x="6149125" y="0"/>
                    <a:pt x="6224736" y="65532"/>
                    <a:pt x="6224736" y="146304"/>
                  </a:cubicBezTo>
                  <a:lnTo>
                    <a:pt x="6224736" y="3968496"/>
                  </a:lnTo>
                  <a:cubicBezTo>
                    <a:pt x="6224736" y="4049268"/>
                    <a:pt x="6149125" y="4114800"/>
                    <a:pt x="6055930" y="4114800"/>
                  </a:cubicBezTo>
                  <a:lnTo>
                    <a:pt x="168806" y="4114800"/>
                  </a:lnTo>
                  <a:cubicBezTo>
                    <a:pt x="75611" y="4114800"/>
                    <a:pt x="0" y="4049268"/>
                    <a:pt x="0" y="3968496"/>
                  </a:cubicBezTo>
                  <a:close/>
                </a:path>
              </a:pathLst>
            </a:custGeom>
            <a:blipFill>
              <a:blip r:embed="rId8"/>
              <a:stretch>
                <a:fillRect l="-340" t="0" r="-340" b="0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303020" y="2636611"/>
            <a:ext cx="3634740" cy="602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7"/>
              </a:lnSpc>
            </a:pPr>
            <a:r>
              <a:rPr lang="en-US" sz="1725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Matriz de confusión</a:t>
            </a:r>
          </a:p>
          <a:p>
            <a:pPr algn="ctr">
              <a:lnSpc>
                <a:spcPts val="2277"/>
              </a:lnSpc>
            </a:pPr>
            <a:r>
              <a:rPr lang="en-US" sz="1725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(Random Forest)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326630" y="2907502"/>
            <a:ext cx="3634740" cy="163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7"/>
              </a:lnSpc>
            </a:pPr>
            <a:r>
              <a:rPr lang="en-US" sz="1725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Curvas ROC / AUC</a:t>
            </a:r>
          </a:p>
          <a:p>
            <a:pPr algn="ctr">
              <a:lnSpc>
                <a:spcPts val="2277"/>
              </a:lnSpc>
            </a:pPr>
            <a:r>
              <a:rPr lang="en-US" sz="1725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por clase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624560" y="1693636"/>
            <a:ext cx="3634740" cy="163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7"/>
              </a:lnSpc>
            </a:pPr>
            <a:r>
              <a:rPr lang="en-US" sz="1725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Accuracy y loss por</a:t>
            </a:r>
          </a:p>
          <a:p>
            <a:pPr algn="ctr">
              <a:lnSpc>
                <a:spcPts val="2277"/>
              </a:lnSpc>
            </a:pPr>
            <a:r>
              <a:rPr lang="en-US" sz="1725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época (red neuronal)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960120" cy="960120"/>
            <a:chOff x="0" y="0"/>
            <a:chExt cx="128016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2E3A8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891540"/>
            <a:ext cx="548640" cy="548640"/>
            <a:chOff x="0" y="0"/>
            <a:chExt cx="731520" cy="73152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057400" y="617220"/>
            <a:ext cx="14401800" cy="1097280"/>
            <a:chOff x="0" y="0"/>
            <a:chExt cx="19202400" cy="1463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2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920240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Modelos Utilizados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2263140"/>
            <a:ext cx="8161020" cy="5623560"/>
            <a:chOff x="0" y="0"/>
            <a:chExt cx="10881360" cy="74980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81360" cy="7498080"/>
            </a:xfrm>
            <a:custGeom>
              <a:avLst/>
              <a:gdLst/>
              <a:ahLst/>
              <a:cxnLst/>
              <a:rect r="r" b="b" t="t" l="l"/>
              <a:pathLst>
                <a:path h="7498080" w="108813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98480" y="0"/>
                  </a:lnTo>
                  <a:cubicBezTo>
                    <a:pt x="10799445" y="0"/>
                    <a:pt x="10881360" y="81915"/>
                    <a:pt x="10881360" y="182880"/>
                  </a:cubicBezTo>
                  <a:lnTo>
                    <a:pt x="10881360" y="7315200"/>
                  </a:lnTo>
                  <a:cubicBezTo>
                    <a:pt x="10881360" y="7416165"/>
                    <a:pt x="10799445" y="7498080"/>
                    <a:pt x="10698480" y="7498080"/>
                  </a:cubicBezTo>
                  <a:lnTo>
                    <a:pt x="182880" y="7498080"/>
                  </a:lnTo>
                  <a:cubicBezTo>
                    <a:pt x="81915" y="7498080"/>
                    <a:pt x="0" y="7416165"/>
                    <a:pt x="0" y="7315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71600" y="2743200"/>
            <a:ext cx="891540" cy="891540"/>
            <a:chOff x="0" y="0"/>
            <a:chExt cx="1188720" cy="11887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2E3A8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77340" y="2948940"/>
            <a:ext cx="480060" cy="480060"/>
            <a:chOff x="0" y="0"/>
            <a:chExt cx="640080" cy="640080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537460" y="2674620"/>
            <a:ext cx="6103620" cy="685800"/>
            <a:chOff x="0" y="0"/>
            <a:chExt cx="8138160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38160" cy="914400"/>
            </a:xfrm>
            <a:custGeom>
              <a:avLst/>
              <a:gdLst/>
              <a:ahLst/>
              <a:cxnLst/>
              <a:rect r="r" b="b" t="t" l="l"/>
              <a:pathLst>
                <a:path h="91440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3416" r="0" b="-12341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813816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A1A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Random Forest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537460" y="3360420"/>
            <a:ext cx="6103620" cy="480060"/>
            <a:chOff x="0" y="0"/>
            <a:chExt cx="813816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38160" cy="640080"/>
            </a:xfrm>
            <a:custGeom>
              <a:avLst/>
              <a:gdLst/>
              <a:ahLst/>
              <a:cxnLst/>
              <a:rect r="r" b="b" t="t" l="l"/>
              <a:pathLst>
                <a:path h="64008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7738" r="0" b="-19773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13816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Machine Learning clásico · Scikit-learn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71600" y="4361688"/>
            <a:ext cx="150876" cy="150876"/>
            <a:chOff x="0" y="0"/>
            <a:chExt cx="201168" cy="20116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2E3A8C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714500" y="4142232"/>
            <a:ext cx="6789420" cy="685800"/>
            <a:chOff x="0" y="0"/>
            <a:chExt cx="9052560" cy="914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052560" cy="914400"/>
            </a:xfrm>
            <a:custGeom>
              <a:avLst/>
              <a:gdLst/>
              <a:ahLst/>
              <a:cxnLst/>
              <a:rect r="r" b="b" t="t" l="l"/>
              <a:pathLst>
                <a:path h="914400" w="9052560">
                  <a:moveTo>
                    <a:pt x="0" y="0"/>
                  </a:moveTo>
                  <a:lnTo>
                    <a:pt x="9052560" y="0"/>
                  </a:lnTo>
                  <a:lnTo>
                    <a:pt x="9052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2901" r="0" b="-14290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905256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200 árboles de decisión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71600" y="5212080"/>
            <a:ext cx="150876" cy="150876"/>
            <a:chOff x="0" y="0"/>
            <a:chExt cx="201168" cy="20116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2E3A8C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714500" y="4992624"/>
            <a:ext cx="6789420" cy="685800"/>
            <a:chOff x="0" y="0"/>
            <a:chExt cx="9052560" cy="914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052560" cy="914400"/>
            </a:xfrm>
            <a:custGeom>
              <a:avLst/>
              <a:gdLst/>
              <a:ahLst/>
              <a:cxnLst/>
              <a:rect r="r" b="b" t="t" l="l"/>
              <a:pathLst>
                <a:path h="914400" w="9052560">
                  <a:moveTo>
                    <a:pt x="0" y="0"/>
                  </a:moveTo>
                  <a:lnTo>
                    <a:pt x="9052560" y="0"/>
                  </a:lnTo>
                  <a:lnTo>
                    <a:pt x="9052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2901" r="0" b="-14290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905256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Ensamble por votación mayoritaria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71600" y="6062472"/>
            <a:ext cx="150876" cy="150876"/>
            <a:chOff x="0" y="0"/>
            <a:chExt cx="201168" cy="20116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2E3A8C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14500" y="5843016"/>
            <a:ext cx="6789420" cy="685800"/>
            <a:chOff x="0" y="0"/>
            <a:chExt cx="9052560" cy="914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052560" cy="914400"/>
            </a:xfrm>
            <a:custGeom>
              <a:avLst/>
              <a:gdLst/>
              <a:ahLst/>
              <a:cxnLst/>
              <a:rect r="r" b="b" t="t" l="l"/>
              <a:pathLst>
                <a:path h="914400" w="9052560">
                  <a:moveTo>
                    <a:pt x="0" y="0"/>
                  </a:moveTo>
                  <a:lnTo>
                    <a:pt x="9052560" y="0"/>
                  </a:lnTo>
                  <a:lnTo>
                    <a:pt x="9052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2901" r="0" b="-14290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905256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Rápido de entrenar e interpretar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71600" y="6912864"/>
            <a:ext cx="150876" cy="150876"/>
            <a:chOff x="0" y="0"/>
            <a:chExt cx="201168" cy="20116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2E3A8C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714500" y="6693408"/>
            <a:ext cx="6789420" cy="685800"/>
            <a:chOff x="0" y="0"/>
            <a:chExt cx="9052560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052560" cy="914400"/>
            </a:xfrm>
            <a:custGeom>
              <a:avLst/>
              <a:gdLst/>
              <a:ahLst/>
              <a:cxnLst/>
              <a:rect r="r" b="b" t="t" l="l"/>
              <a:pathLst>
                <a:path h="914400" w="9052560">
                  <a:moveTo>
                    <a:pt x="0" y="0"/>
                  </a:moveTo>
                  <a:lnTo>
                    <a:pt x="9052560" y="0"/>
                  </a:lnTo>
                  <a:lnTo>
                    <a:pt x="9052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2901" r="0" b="-14290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905256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 importancia de variables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258300" y="2263140"/>
            <a:ext cx="8161020" cy="5623560"/>
            <a:chOff x="0" y="0"/>
            <a:chExt cx="10881360" cy="74980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881360" cy="7498080"/>
            </a:xfrm>
            <a:custGeom>
              <a:avLst/>
              <a:gdLst/>
              <a:ahLst/>
              <a:cxnLst/>
              <a:rect r="r" b="b" t="t" l="l"/>
              <a:pathLst>
                <a:path h="7498080" w="108813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98480" y="0"/>
                  </a:lnTo>
                  <a:cubicBezTo>
                    <a:pt x="10799445" y="0"/>
                    <a:pt x="10881360" y="81915"/>
                    <a:pt x="10881360" y="182880"/>
                  </a:cubicBezTo>
                  <a:lnTo>
                    <a:pt x="10881360" y="7315200"/>
                  </a:lnTo>
                  <a:cubicBezTo>
                    <a:pt x="10881360" y="7416165"/>
                    <a:pt x="10799445" y="7498080"/>
                    <a:pt x="10698480" y="7498080"/>
                  </a:cubicBezTo>
                  <a:lnTo>
                    <a:pt x="182880" y="7498080"/>
                  </a:lnTo>
                  <a:cubicBezTo>
                    <a:pt x="81915" y="7498080"/>
                    <a:pt x="0" y="7416165"/>
                    <a:pt x="0" y="7315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806940" y="2743200"/>
            <a:ext cx="891540" cy="891540"/>
            <a:chOff x="0" y="0"/>
            <a:chExt cx="1188720" cy="11887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00C2CB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0012680" y="2948940"/>
            <a:ext cx="480060" cy="480060"/>
            <a:chOff x="0" y="0"/>
            <a:chExt cx="640080" cy="640080"/>
          </a:xfrm>
        </p:grpSpPr>
        <p:sp>
          <p:nvSpPr>
            <p:cNvPr name="Freeform 46" id="46" descr="preencoded.png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972800" y="2674620"/>
            <a:ext cx="6103620" cy="685800"/>
            <a:chOff x="0" y="0"/>
            <a:chExt cx="8138160" cy="914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38160" cy="914400"/>
            </a:xfrm>
            <a:custGeom>
              <a:avLst/>
              <a:gdLst/>
              <a:ahLst/>
              <a:cxnLst/>
              <a:rect r="r" b="b" t="t" l="l"/>
              <a:pathLst>
                <a:path h="91440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3416" r="0" b="-12341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813816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A1A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Red Neuronal Densa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972800" y="3360420"/>
            <a:ext cx="6103620" cy="480060"/>
            <a:chOff x="0" y="0"/>
            <a:chExt cx="8138160" cy="6400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38160" cy="640080"/>
            </a:xfrm>
            <a:custGeom>
              <a:avLst/>
              <a:gdLst/>
              <a:ahLst/>
              <a:cxnLst/>
              <a:rect r="r" b="b" t="t" l="l"/>
              <a:pathLst>
                <a:path h="64008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7738" r="0" b="-19773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813816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Deep Learning · TensorFlow / Keras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806940" y="4361688"/>
            <a:ext cx="150876" cy="150876"/>
            <a:chOff x="0" y="0"/>
            <a:chExt cx="201168" cy="20116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00C2CB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0149840" y="4142232"/>
            <a:ext cx="6789420" cy="685800"/>
            <a:chOff x="0" y="0"/>
            <a:chExt cx="9052560" cy="9144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052560" cy="914400"/>
            </a:xfrm>
            <a:custGeom>
              <a:avLst/>
              <a:gdLst/>
              <a:ahLst/>
              <a:cxnLst/>
              <a:rect r="r" b="b" t="t" l="l"/>
              <a:pathLst>
                <a:path h="914400" w="9052560">
                  <a:moveTo>
                    <a:pt x="0" y="0"/>
                  </a:moveTo>
                  <a:lnTo>
                    <a:pt x="9052560" y="0"/>
                  </a:lnTo>
                  <a:lnTo>
                    <a:pt x="9052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2901" r="0" b="-142901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905256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 capas ocultas (32 y 16 neuronas)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806940" y="5212080"/>
            <a:ext cx="150876" cy="150876"/>
            <a:chOff x="0" y="0"/>
            <a:chExt cx="201168" cy="20116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00C2CB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0149840" y="4992624"/>
            <a:ext cx="6789420" cy="685800"/>
            <a:chOff x="0" y="0"/>
            <a:chExt cx="9052560" cy="9144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052560" cy="914400"/>
            </a:xfrm>
            <a:custGeom>
              <a:avLst/>
              <a:gdLst/>
              <a:ahLst/>
              <a:cxnLst/>
              <a:rect r="r" b="b" t="t" l="l"/>
              <a:pathLst>
                <a:path h="914400" w="9052560">
                  <a:moveTo>
                    <a:pt x="0" y="0"/>
                  </a:moveTo>
                  <a:lnTo>
                    <a:pt x="9052560" y="0"/>
                  </a:lnTo>
                  <a:lnTo>
                    <a:pt x="9052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2901" r="0" b="-142901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905256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Activación ReLU + Softmax final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806940" y="6062472"/>
            <a:ext cx="150876" cy="150876"/>
            <a:chOff x="0" y="0"/>
            <a:chExt cx="201168" cy="20116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00C2CB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149840" y="5843016"/>
            <a:ext cx="6789420" cy="685800"/>
            <a:chOff x="0" y="0"/>
            <a:chExt cx="9052560" cy="9144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052560" cy="914400"/>
            </a:xfrm>
            <a:custGeom>
              <a:avLst/>
              <a:gdLst/>
              <a:ahLst/>
              <a:cxnLst/>
              <a:rect r="r" b="b" t="t" l="l"/>
              <a:pathLst>
                <a:path h="914400" w="9052560">
                  <a:moveTo>
                    <a:pt x="0" y="0"/>
                  </a:moveTo>
                  <a:lnTo>
                    <a:pt x="9052560" y="0"/>
                  </a:lnTo>
                  <a:lnTo>
                    <a:pt x="9052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2901" r="0" b="-14290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905256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Captura relaciones no lineales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806940" y="6912864"/>
            <a:ext cx="150876" cy="150876"/>
            <a:chOff x="0" y="0"/>
            <a:chExt cx="201168" cy="20116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00C2CB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0149840" y="6693408"/>
            <a:ext cx="6789420" cy="685800"/>
            <a:chOff x="0" y="0"/>
            <a:chExt cx="9052560" cy="9144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052560" cy="914400"/>
            </a:xfrm>
            <a:custGeom>
              <a:avLst/>
              <a:gdLst/>
              <a:ahLst/>
              <a:cxnLst/>
              <a:rect r="r" b="b" t="t" l="l"/>
              <a:pathLst>
                <a:path h="914400" w="9052560">
                  <a:moveTo>
                    <a:pt x="0" y="0"/>
                  </a:moveTo>
                  <a:lnTo>
                    <a:pt x="9052560" y="0"/>
                  </a:lnTo>
                  <a:lnTo>
                    <a:pt x="9052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2901" r="0" b="-14290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905256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Requiere más datos y ajuste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7282160" y="9669780"/>
            <a:ext cx="685800" cy="480060"/>
            <a:chOff x="0" y="0"/>
            <a:chExt cx="914400" cy="64008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144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914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960120" cy="960120"/>
            <a:chOff x="0" y="0"/>
            <a:chExt cx="128016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B998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891540"/>
            <a:ext cx="548640" cy="548640"/>
            <a:chOff x="0" y="0"/>
            <a:chExt cx="731520" cy="73152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057400" y="617220"/>
            <a:ext cx="14401800" cy="1097280"/>
            <a:chOff x="0" y="0"/>
            <a:chExt cx="19202400" cy="1463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2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920240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Resultados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2125980"/>
            <a:ext cx="16459200" cy="548640"/>
            <a:chOff x="0" y="0"/>
            <a:chExt cx="2194560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Métricas obtenidas al evaluar cada modelo sobre el conjunto de prueba (20% de los datos):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2960" y="2948940"/>
            <a:ext cx="3154680" cy="2194560"/>
            <a:chOff x="0" y="0"/>
            <a:chExt cx="4206240" cy="29260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062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206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059936" y="0"/>
                  </a:lnTo>
                  <a:cubicBezTo>
                    <a:pt x="4140708" y="0"/>
                    <a:pt x="4206240" y="65532"/>
                    <a:pt x="4206240" y="146304"/>
                  </a:cubicBezTo>
                  <a:lnTo>
                    <a:pt x="4206240" y="2779776"/>
                  </a:lnTo>
                  <a:cubicBezTo>
                    <a:pt x="4206240" y="2860548"/>
                    <a:pt x="4140708" y="2926080"/>
                    <a:pt x="4059936" y="2926080"/>
                  </a:cubicBezTo>
                  <a:lnTo>
                    <a:pt x="146304" y="2926080"/>
                  </a:lnTo>
                  <a:cubicBezTo>
                    <a:pt x="65532" y="2926080"/>
                    <a:pt x="0" y="2860548"/>
                    <a:pt x="0" y="2779776"/>
                  </a:cubicBezTo>
                  <a:close/>
                </a:path>
              </a:pathLst>
            </a:custGeom>
            <a:solidFill>
              <a:srgbClr val="141B4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3291840"/>
            <a:ext cx="3154680" cy="960120"/>
            <a:chOff x="0" y="0"/>
            <a:chExt cx="4206240" cy="12801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062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022" r="0" b="-1402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420624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00C2C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88 %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4320540"/>
            <a:ext cx="3154680" cy="685800"/>
            <a:chOff x="0" y="0"/>
            <a:chExt cx="4206240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206240" cy="914400"/>
            </a:xfrm>
            <a:custGeom>
              <a:avLst/>
              <a:gdLst/>
              <a:ahLst/>
              <a:cxnLst/>
              <a:rect r="r" b="b" t="t" l="l"/>
              <a:pathLst>
                <a:path h="9144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2062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Accuracy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224528" y="2948940"/>
            <a:ext cx="3154680" cy="2194560"/>
            <a:chOff x="0" y="0"/>
            <a:chExt cx="4206240" cy="2926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062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206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059936" y="0"/>
                  </a:lnTo>
                  <a:cubicBezTo>
                    <a:pt x="4140708" y="0"/>
                    <a:pt x="4206240" y="65532"/>
                    <a:pt x="4206240" y="146304"/>
                  </a:cubicBezTo>
                  <a:lnTo>
                    <a:pt x="4206240" y="2779776"/>
                  </a:lnTo>
                  <a:cubicBezTo>
                    <a:pt x="4206240" y="2860548"/>
                    <a:pt x="4140708" y="2926080"/>
                    <a:pt x="4059936" y="2926080"/>
                  </a:cubicBezTo>
                  <a:lnTo>
                    <a:pt x="146304" y="2926080"/>
                  </a:lnTo>
                  <a:cubicBezTo>
                    <a:pt x="65532" y="2926080"/>
                    <a:pt x="0" y="2860548"/>
                    <a:pt x="0" y="2779776"/>
                  </a:cubicBezTo>
                  <a:close/>
                </a:path>
              </a:pathLst>
            </a:custGeom>
            <a:solidFill>
              <a:srgbClr val="141B4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224528" y="3291840"/>
            <a:ext cx="3154680" cy="960120"/>
            <a:chOff x="0" y="0"/>
            <a:chExt cx="4206240" cy="12801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2062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022" r="0" b="-1402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420624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00C2C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94 %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224528" y="4320540"/>
            <a:ext cx="3154680" cy="685800"/>
            <a:chOff x="0" y="0"/>
            <a:chExt cx="4206240" cy="914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206240" cy="914400"/>
            </a:xfrm>
            <a:custGeom>
              <a:avLst/>
              <a:gdLst/>
              <a:ahLst/>
              <a:cxnLst/>
              <a:rect r="r" b="b" t="t" l="l"/>
              <a:pathLst>
                <a:path h="9144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42062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Precision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626096" y="2948940"/>
            <a:ext cx="3154680" cy="2194560"/>
            <a:chOff x="0" y="0"/>
            <a:chExt cx="4206240" cy="29260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2062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206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059936" y="0"/>
                  </a:lnTo>
                  <a:cubicBezTo>
                    <a:pt x="4140708" y="0"/>
                    <a:pt x="4206240" y="65532"/>
                    <a:pt x="4206240" y="146304"/>
                  </a:cubicBezTo>
                  <a:lnTo>
                    <a:pt x="4206240" y="2779776"/>
                  </a:lnTo>
                  <a:cubicBezTo>
                    <a:pt x="4206240" y="2860548"/>
                    <a:pt x="4140708" y="2926080"/>
                    <a:pt x="4059936" y="2926080"/>
                  </a:cubicBezTo>
                  <a:lnTo>
                    <a:pt x="146304" y="2926080"/>
                  </a:lnTo>
                  <a:cubicBezTo>
                    <a:pt x="65532" y="2926080"/>
                    <a:pt x="0" y="2860548"/>
                    <a:pt x="0" y="2779776"/>
                  </a:cubicBezTo>
                  <a:close/>
                </a:path>
              </a:pathLst>
            </a:custGeom>
            <a:solidFill>
              <a:srgbClr val="141B41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626096" y="3291840"/>
            <a:ext cx="3154680" cy="960120"/>
            <a:chOff x="0" y="0"/>
            <a:chExt cx="4206240" cy="12801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2062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022" r="0" b="-1402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420624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00C2C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95 %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626096" y="4320540"/>
            <a:ext cx="3154680" cy="685800"/>
            <a:chOff x="0" y="0"/>
            <a:chExt cx="4206240" cy="914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206240" cy="914400"/>
            </a:xfrm>
            <a:custGeom>
              <a:avLst/>
              <a:gdLst/>
              <a:ahLst/>
              <a:cxnLst/>
              <a:rect r="r" b="b" t="t" l="l"/>
              <a:pathLst>
                <a:path h="9144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42062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Recall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027664" y="2948940"/>
            <a:ext cx="3154680" cy="2194560"/>
            <a:chOff x="0" y="0"/>
            <a:chExt cx="4206240" cy="29260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2062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206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059936" y="0"/>
                  </a:lnTo>
                  <a:cubicBezTo>
                    <a:pt x="4140708" y="0"/>
                    <a:pt x="4206240" y="65532"/>
                    <a:pt x="4206240" y="146304"/>
                  </a:cubicBezTo>
                  <a:lnTo>
                    <a:pt x="4206240" y="2779776"/>
                  </a:lnTo>
                  <a:cubicBezTo>
                    <a:pt x="4206240" y="2860548"/>
                    <a:pt x="4140708" y="2926080"/>
                    <a:pt x="4059936" y="2926080"/>
                  </a:cubicBezTo>
                  <a:lnTo>
                    <a:pt x="146304" y="2926080"/>
                  </a:lnTo>
                  <a:cubicBezTo>
                    <a:pt x="65532" y="2926080"/>
                    <a:pt x="0" y="2860548"/>
                    <a:pt x="0" y="2779776"/>
                  </a:cubicBezTo>
                  <a:close/>
                </a:path>
              </a:pathLst>
            </a:custGeom>
            <a:solidFill>
              <a:srgbClr val="141B41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027664" y="3291840"/>
            <a:ext cx="3154680" cy="960120"/>
            <a:chOff x="0" y="0"/>
            <a:chExt cx="4206240" cy="12801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2062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022" r="0" b="-1402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420624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00C2C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95 %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027664" y="4320540"/>
            <a:ext cx="3154680" cy="685800"/>
            <a:chOff x="0" y="0"/>
            <a:chExt cx="4206240" cy="914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206240" cy="914400"/>
            </a:xfrm>
            <a:custGeom>
              <a:avLst/>
              <a:gdLst/>
              <a:ahLst/>
              <a:cxnLst/>
              <a:rect r="r" b="b" t="t" l="l"/>
              <a:pathLst>
                <a:path h="9144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42062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F1-score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429232" y="2948940"/>
            <a:ext cx="3154680" cy="2194560"/>
            <a:chOff x="0" y="0"/>
            <a:chExt cx="4206240" cy="29260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2062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206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059936" y="0"/>
                  </a:lnTo>
                  <a:cubicBezTo>
                    <a:pt x="4140708" y="0"/>
                    <a:pt x="4206240" y="65532"/>
                    <a:pt x="4206240" y="146304"/>
                  </a:cubicBezTo>
                  <a:lnTo>
                    <a:pt x="4206240" y="2779776"/>
                  </a:lnTo>
                  <a:cubicBezTo>
                    <a:pt x="4206240" y="2860548"/>
                    <a:pt x="4140708" y="2926080"/>
                    <a:pt x="4059936" y="2926080"/>
                  </a:cubicBezTo>
                  <a:lnTo>
                    <a:pt x="146304" y="2926080"/>
                  </a:lnTo>
                  <a:cubicBezTo>
                    <a:pt x="65532" y="2926080"/>
                    <a:pt x="0" y="2860548"/>
                    <a:pt x="0" y="2779776"/>
                  </a:cubicBezTo>
                  <a:close/>
                </a:path>
              </a:pathLst>
            </a:custGeom>
            <a:solidFill>
              <a:srgbClr val="141B41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4429232" y="3291840"/>
            <a:ext cx="3154680" cy="960120"/>
            <a:chOff x="0" y="0"/>
            <a:chExt cx="4206240" cy="12801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2062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022" r="0" b="-1402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420624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00C2C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98 %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4429232" y="4320540"/>
            <a:ext cx="3154680" cy="685800"/>
            <a:chOff x="0" y="0"/>
            <a:chExt cx="4206240" cy="9144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206240" cy="914400"/>
            </a:xfrm>
            <a:custGeom>
              <a:avLst/>
              <a:gdLst/>
              <a:ahLst/>
              <a:cxnLst/>
              <a:rect r="r" b="b" t="t" l="l"/>
              <a:pathLst>
                <a:path h="9144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42062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AUC promedio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22960" y="6309360"/>
            <a:ext cx="8229600" cy="548640"/>
            <a:chOff x="0" y="0"/>
            <a:chExt cx="10972800" cy="731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109728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E3A8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Hallazgos cualitativos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822960" y="7118604"/>
            <a:ext cx="164592" cy="164592"/>
            <a:chOff x="0" y="0"/>
            <a:chExt cx="219456" cy="21945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1B998B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165860" y="6912864"/>
            <a:ext cx="16184880" cy="617220"/>
            <a:chOff x="0" y="0"/>
            <a:chExt cx="21579840" cy="8229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1579839" cy="822960"/>
            </a:xfrm>
            <a:custGeom>
              <a:avLst/>
              <a:gdLst/>
              <a:ahLst/>
              <a:cxnLst/>
              <a:rect r="r" b="b" t="t" l="l"/>
              <a:pathLst>
                <a:path h="82296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0940" r="0" b="-46094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2157984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RAM es, de forma consistente, la variable con mayor peso en la predicción del precio.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822960" y="7776972"/>
            <a:ext cx="164592" cy="164592"/>
            <a:chOff x="0" y="0"/>
            <a:chExt cx="219456" cy="21945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1B998B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65860" y="7571232"/>
            <a:ext cx="16184880" cy="617220"/>
            <a:chOff x="0" y="0"/>
            <a:chExt cx="21579840" cy="8229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1579839" cy="822960"/>
            </a:xfrm>
            <a:custGeom>
              <a:avLst/>
              <a:gdLst/>
              <a:ahLst/>
              <a:cxnLst/>
              <a:rect r="r" b="b" t="t" l="l"/>
              <a:pathLst>
                <a:path h="82296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0940" r="0" b="-46094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2157984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Random Forest ofrece buen desempeño con bajo esfuerzo de ajuste (pocos hiperparámetros).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22960" y="8435340"/>
            <a:ext cx="164592" cy="164592"/>
            <a:chOff x="0" y="0"/>
            <a:chExt cx="219456" cy="21945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1B998B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165860" y="8229600"/>
            <a:ext cx="16184880" cy="617220"/>
            <a:chOff x="0" y="0"/>
            <a:chExt cx="21579840" cy="82296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1579839" cy="822960"/>
            </a:xfrm>
            <a:custGeom>
              <a:avLst/>
              <a:gdLst/>
              <a:ahLst/>
              <a:cxnLst/>
              <a:rect r="r" b="b" t="t" l="l"/>
              <a:pathLst>
                <a:path h="82296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0940" r="0" b="-46094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2157984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 red neuronal necesita más épocas / datos para superar claramente al modelo clásico.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7282160" y="9669780"/>
            <a:ext cx="685800" cy="480060"/>
            <a:chOff x="0" y="0"/>
            <a:chExt cx="914400" cy="6400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144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914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960120" cy="960120"/>
            <a:chOff x="0" y="0"/>
            <a:chExt cx="128016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2E3A8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891540"/>
            <a:ext cx="548640" cy="548640"/>
            <a:chOff x="0" y="0"/>
            <a:chExt cx="731520" cy="73152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057400" y="617220"/>
            <a:ext cx="14401800" cy="1097280"/>
            <a:chOff x="0" y="0"/>
            <a:chExt cx="19202400" cy="1463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2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920240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A1A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Comparación de Modelos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13435" y="2322195"/>
            <a:ext cx="4956810" cy="773430"/>
            <a:chOff x="0" y="0"/>
            <a:chExt cx="6609080" cy="10312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609080" cy="1031240"/>
            </a:xfrm>
            <a:custGeom>
              <a:avLst/>
              <a:gdLst/>
              <a:ahLst/>
              <a:cxnLst/>
              <a:rect r="r" b="b" t="t" l="l"/>
              <a:pathLst>
                <a:path h="1031240" w="6609080">
                  <a:moveTo>
                    <a:pt x="0" y="0"/>
                  </a:moveTo>
                  <a:lnTo>
                    <a:pt x="6609080" y="0"/>
                  </a:lnTo>
                  <a:lnTo>
                    <a:pt x="6609080" y="1031240"/>
                  </a:lnTo>
                  <a:lnTo>
                    <a:pt x="0" y="1031240"/>
                  </a:lnTo>
                  <a:close/>
                </a:path>
              </a:pathLst>
            </a:custGeom>
            <a:solidFill>
              <a:srgbClr val="141B41"/>
            </a:solidFill>
            <a:ln w="19050" cap="sq">
              <a:solidFill>
                <a:srgbClr val="F5F7FC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2331720"/>
            <a:ext cx="4937760" cy="754380"/>
            <a:chOff x="0" y="0"/>
            <a:chExt cx="6583680" cy="10058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5836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7538" r="0" b="-7753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658368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Criterio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751195" y="2322195"/>
            <a:ext cx="5848350" cy="773430"/>
            <a:chOff x="0" y="0"/>
            <a:chExt cx="7797800" cy="1031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797800" cy="1031240"/>
            </a:xfrm>
            <a:custGeom>
              <a:avLst/>
              <a:gdLst/>
              <a:ahLst/>
              <a:cxnLst/>
              <a:rect r="r" b="b" t="t" l="l"/>
              <a:pathLst>
                <a:path h="1031240" w="7797800">
                  <a:moveTo>
                    <a:pt x="0" y="0"/>
                  </a:moveTo>
                  <a:lnTo>
                    <a:pt x="7797800" y="0"/>
                  </a:lnTo>
                  <a:lnTo>
                    <a:pt x="7797800" y="1031240"/>
                  </a:lnTo>
                  <a:lnTo>
                    <a:pt x="0" y="1031240"/>
                  </a:lnTo>
                  <a:close/>
                </a:path>
              </a:pathLst>
            </a:custGeom>
            <a:solidFill>
              <a:srgbClr val="141B41"/>
            </a:solidFill>
            <a:ln w="19050" cap="sq">
              <a:solidFill>
                <a:srgbClr val="F5F7FC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5760720" y="2331720"/>
            <a:ext cx="5829300" cy="754380"/>
            <a:chOff x="0" y="0"/>
            <a:chExt cx="7772400" cy="10058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772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0566" r="0" b="-10056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777240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Random Forest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580495" y="2322195"/>
            <a:ext cx="5848350" cy="773430"/>
            <a:chOff x="0" y="0"/>
            <a:chExt cx="7797800" cy="10312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797800" cy="1031240"/>
            </a:xfrm>
            <a:custGeom>
              <a:avLst/>
              <a:gdLst/>
              <a:ahLst/>
              <a:cxnLst/>
              <a:rect r="r" b="b" t="t" l="l"/>
              <a:pathLst>
                <a:path h="1031240" w="7797800">
                  <a:moveTo>
                    <a:pt x="0" y="0"/>
                  </a:moveTo>
                  <a:lnTo>
                    <a:pt x="7797800" y="0"/>
                  </a:lnTo>
                  <a:lnTo>
                    <a:pt x="7797800" y="1031240"/>
                  </a:lnTo>
                  <a:lnTo>
                    <a:pt x="0" y="1031240"/>
                  </a:lnTo>
                  <a:close/>
                </a:path>
              </a:pathLst>
            </a:custGeom>
            <a:solidFill>
              <a:srgbClr val="141B41"/>
            </a:solidFill>
            <a:ln w="19050" cap="sq">
              <a:solidFill>
                <a:srgbClr val="F5F7FC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1590020" y="2331720"/>
            <a:ext cx="5829300" cy="754380"/>
            <a:chOff x="0" y="0"/>
            <a:chExt cx="7772400" cy="1005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772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0566" r="0" b="-10056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777240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Red Neuronal (Keras)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13435" y="3076575"/>
            <a:ext cx="4956810" cy="979170"/>
            <a:chOff x="0" y="0"/>
            <a:chExt cx="6609080" cy="13055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609080" cy="1305560"/>
            </a:xfrm>
            <a:custGeom>
              <a:avLst/>
              <a:gdLst/>
              <a:ahLst/>
              <a:cxnLst/>
              <a:rect r="r" b="b" t="t" l="l"/>
              <a:pathLst>
                <a:path h="1305560" w="6609080">
                  <a:moveTo>
                    <a:pt x="0" y="0"/>
                  </a:moveTo>
                  <a:lnTo>
                    <a:pt x="6609080" y="0"/>
                  </a:lnTo>
                  <a:lnTo>
                    <a:pt x="6609080" y="1305560"/>
                  </a:lnTo>
                  <a:lnTo>
                    <a:pt x="0" y="130556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5F0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" y="3086100"/>
            <a:ext cx="4937760" cy="960120"/>
            <a:chOff x="0" y="0"/>
            <a:chExt cx="6583680" cy="12801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5836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58368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Accuracy en prueba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751195" y="3076575"/>
            <a:ext cx="5848350" cy="979170"/>
            <a:chOff x="0" y="0"/>
            <a:chExt cx="7797800" cy="13055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797800" cy="1305560"/>
            </a:xfrm>
            <a:custGeom>
              <a:avLst/>
              <a:gdLst/>
              <a:ahLst/>
              <a:cxnLst/>
              <a:rect r="r" b="b" t="t" l="l"/>
              <a:pathLst>
                <a:path h="1305560" w="7797800">
                  <a:moveTo>
                    <a:pt x="0" y="0"/>
                  </a:moveTo>
                  <a:lnTo>
                    <a:pt x="7797800" y="0"/>
                  </a:lnTo>
                  <a:lnTo>
                    <a:pt x="7797800" y="1305560"/>
                  </a:lnTo>
                  <a:lnTo>
                    <a:pt x="0" y="130556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5F0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5760720" y="3086100"/>
            <a:ext cx="5829300" cy="960120"/>
            <a:chOff x="0" y="0"/>
            <a:chExt cx="7772400" cy="12801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77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777240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88 % 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580495" y="3076575"/>
            <a:ext cx="5848350" cy="979170"/>
            <a:chOff x="0" y="0"/>
            <a:chExt cx="7797800" cy="13055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797800" cy="1305560"/>
            </a:xfrm>
            <a:custGeom>
              <a:avLst/>
              <a:gdLst/>
              <a:ahLst/>
              <a:cxnLst/>
              <a:rect r="r" b="b" t="t" l="l"/>
              <a:pathLst>
                <a:path h="1305560" w="7797800">
                  <a:moveTo>
                    <a:pt x="0" y="0"/>
                  </a:moveTo>
                  <a:lnTo>
                    <a:pt x="7797800" y="0"/>
                  </a:lnTo>
                  <a:lnTo>
                    <a:pt x="7797800" y="1305560"/>
                  </a:lnTo>
                  <a:lnTo>
                    <a:pt x="0" y="130556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5F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1590020" y="3086100"/>
            <a:ext cx="5829300" cy="960120"/>
            <a:chOff x="0" y="0"/>
            <a:chExt cx="7772400" cy="12801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77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777240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93 %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13435" y="4036695"/>
            <a:ext cx="4956810" cy="979170"/>
            <a:chOff x="0" y="0"/>
            <a:chExt cx="6609080" cy="13055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609080" cy="1305560"/>
            </a:xfrm>
            <a:custGeom>
              <a:avLst/>
              <a:gdLst/>
              <a:ahLst/>
              <a:cxnLst/>
              <a:rect r="r" b="b" t="t" l="l"/>
              <a:pathLst>
                <a:path h="1305560" w="6609080">
                  <a:moveTo>
                    <a:pt x="0" y="0"/>
                  </a:moveTo>
                  <a:lnTo>
                    <a:pt x="6609080" y="0"/>
                  </a:lnTo>
                  <a:lnTo>
                    <a:pt x="6609080" y="1305560"/>
                  </a:lnTo>
                  <a:lnTo>
                    <a:pt x="0" y="1305560"/>
                  </a:lnTo>
                  <a:close/>
                </a:path>
              </a:pathLst>
            </a:custGeom>
            <a:solidFill>
              <a:srgbClr val="EDEFF8"/>
            </a:solidFill>
            <a:ln w="19050" cap="sq">
              <a:solidFill>
                <a:srgbClr val="E2E5F0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822960" y="4046220"/>
            <a:ext cx="4937760" cy="960120"/>
            <a:chOff x="0" y="0"/>
            <a:chExt cx="6583680" cy="12801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5836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658368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Tiempo de entrenamiento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751195" y="4036695"/>
            <a:ext cx="5848350" cy="979170"/>
            <a:chOff x="0" y="0"/>
            <a:chExt cx="7797800" cy="13055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797800" cy="1305560"/>
            </a:xfrm>
            <a:custGeom>
              <a:avLst/>
              <a:gdLst/>
              <a:ahLst/>
              <a:cxnLst/>
              <a:rect r="r" b="b" t="t" l="l"/>
              <a:pathLst>
                <a:path h="1305560" w="7797800">
                  <a:moveTo>
                    <a:pt x="0" y="0"/>
                  </a:moveTo>
                  <a:lnTo>
                    <a:pt x="7797800" y="0"/>
                  </a:lnTo>
                  <a:lnTo>
                    <a:pt x="7797800" y="1305560"/>
                  </a:lnTo>
                  <a:lnTo>
                    <a:pt x="0" y="1305560"/>
                  </a:lnTo>
                  <a:close/>
                </a:path>
              </a:pathLst>
            </a:custGeom>
            <a:solidFill>
              <a:srgbClr val="EDEFF8"/>
            </a:solidFill>
            <a:ln w="19050" cap="sq">
              <a:solidFill>
                <a:srgbClr val="E2E5F0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5760720" y="4046220"/>
            <a:ext cx="5829300" cy="960120"/>
            <a:chOff x="0" y="0"/>
            <a:chExt cx="7772400" cy="12801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77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777240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Segundos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580495" y="4036695"/>
            <a:ext cx="5848350" cy="979170"/>
            <a:chOff x="0" y="0"/>
            <a:chExt cx="7797800" cy="13055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797800" cy="1305560"/>
            </a:xfrm>
            <a:custGeom>
              <a:avLst/>
              <a:gdLst/>
              <a:ahLst/>
              <a:cxnLst/>
              <a:rect r="r" b="b" t="t" l="l"/>
              <a:pathLst>
                <a:path h="1305560" w="7797800">
                  <a:moveTo>
                    <a:pt x="0" y="0"/>
                  </a:moveTo>
                  <a:lnTo>
                    <a:pt x="7797800" y="0"/>
                  </a:lnTo>
                  <a:lnTo>
                    <a:pt x="7797800" y="1305560"/>
                  </a:lnTo>
                  <a:lnTo>
                    <a:pt x="0" y="1305560"/>
                  </a:lnTo>
                  <a:close/>
                </a:path>
              </a:pathLst>
            </a:custGeom>
            <a:solidFill>
              <a:srgbClr val="EDEFF8"/>
            </a:solidFill>
            <a:ln w="19050" cap="sq">
              <a:solidFill>
                <a:srgbClr val="E2E5F0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1590020" y="4046220"/>
            <a:ext cx="5829300" cy="960120"/>
            <a:chOff x="0" y="0"/>
            <a:chExt cx="7772400" cy="12801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77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777240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Minutos (más lento)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813435" y="4996815"/>
            <a:ext cx="4956810" cy="979170"/>
            <a:chOff x="0" y="0"/>
            <a:chExt cx="6609080" cy="13055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609080" cy="1305560"/>
            </a:xfrm>
            <a:custGeom>
              <a:avLst/>
              <a:gdLst/>
              <a:ahLst/>
              <a:cxnLst/>
              <a:rect r="r" b="b" t="t" l="l"/>
              <a:pathLst>
                <a:path h="1305560" w="6609080">
                  <a:moveTo>
                    <a:pt x="0" y="0"/>
                  </a:moveTo>
                  <a:lnTo>
                    <a:pt x="6609080" y="0"/>
                  </a:lnTo>
                  <a:lnTo>
                    <a:pt x="6609080" y="1305560"/>
                  </a:lnTo>
                  <a:lnTo>
                    <a:pt x="0" y="130556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5F0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822960" y="5006340"/>
            <a:ext cx="4937760" cy="960120"/>
            <a:chOff x="0" y="0"/>
            <a:chExt cx="6583680" cy="12801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5836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658368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Interpretabilidad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5751195" y="4996815"/>
            <a:ext cx="5848350" cy="979170"/>
            <a:chOff x="0" y="0"/>
            <a:chExt cx="7797800" cy="13055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797800" cy="1305560"/>
            </a:xfrm>
            <a:custGeom>
              <a:avLst/>
              <a:gdLst/>
              <a:ahLst/>
              <a:cxnLst/>
              <a:rect r="r" b="b" t="t" l="l"/>
              <a:pathLst>
                <a:path h="1305560" w="7797800">
                  <a:moveTo>
                    <a:pt x="0" y="0"/>
                  </a:moveTo>
                  <a:lnTo>
                    <a:pt x="7797800" y="0"/>
                  </a:lnTo>
                  <a:lnTo>
                    <a:pt x="7797800" y="1305560"/>
                  </a:lnTo>
                  <a:lnTo>
                    <a:pt x="0" y="130556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5F0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5760720" y="5006340"/>
            <a:ext cx="5829300" cy="960120"/>
            <a:chOff x="0" y="0"/>
            <a:chExt cx="7772400" cy="128016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77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777240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Alta (importancia de variables)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1580495" y="4996815"/>
            <a:ext cx="5848350" cy="979170"/>
            <a:chOff x="0" y="0"/>
            <a:chExt cx="7797800" cy="13055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797800" cy="1305560"/>
            </a:xfrm>
            <a:custGeom>
              <a:avLst/>
              <a:gdLst/>
              <a:ahLst/>
              <a:cxnLst/>
              <a:rect r="r" b="b" t="t" l="l"/>
              <a:pathLst>
                <a:path h="1305560" w="7797800">
                  <a:moveTo>
                    <a:pt x="0" y="0"/>
                  </a:moveTo>
                  <a:lnTo>
                    <a:pt x="7797800" y="0"/>
                  </a:lnTo>
                  <a:lnTo>
                    <a:pt x="7797800" y="1305560"/>
                  </a:lnTo>
                  <a:lnTo>
                    <a:pt x="0" y="130556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5F0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1590020" y="5006340"/>
            <a:ext cx="5829300" cy="960120"/>
            <a:chOff x="0" y="0"/>
            <a:chExt cx="7772400" cy="12801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77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777240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Baja ("caja negra")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813435" y="5956935"/>
            <a:ext cx="4956810" cy="979170"/>
            <a:chOff x="0" y="0"/>
            <a:chExt cx="6609080" cy="130556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609080" cy="1305560"/>
            </a:xfrm>
            <a:custGeom>
              <a:avLst/>
              <a:gdLst/>
              <a:ahLst/>
              <a:cxnLst/>
              <a:rect r="r" b="b" t="t" l="l"/>
              <a:pathLst>
                <a:path h="1305560" w="6609080">
                  <a:moveTo>
                    <a:pt x="0" y="0"/>
                  </a:moveTo>
                  <a:lnTo>
                    <a:pt x="6609080" y="0"/>
                  </a:lnTo>
                  <a:lnTo>
                    <a:pt x="6609080" y="1305560"/>
                  </a:lnTo>
                  <a:lnTo>
                    <a:pt x="0" y="1305560"/>
                  </a:lnTo>
                  <a:close/>
                </a:path>
              </a:pathLst>
            </a:custGeom>
            <a:solidFill>
              <a:srgbClr val="EDEFF8"/>
            </a:solidFill>
            <a:ln w="19050" cap="sq">
              <a:solidFill>
                <a:srgbClr val="E2E5F0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822960" y="5966460"/>
            <a:ext cx="4937760" cy="960120"/>
            <a:chOff x="0" y="0"/>
            <a:chExt cx="6583680" cy="12801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5836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658368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Ajuste de hiperparámetros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5751195" y="5956935"/>
            <a:ext cx="5848350" cy="979170"/>
            <a:chOff x="0" y="0"/>
            <a:chExt cx="7797800" cy="130556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797800" cy="1305560"/>
            </a:xfrm>
            <a:custGeom>
              <a:avLst/>
              <a:gdLst/>
              <a:ahLst/>
              <a:cxnLst/>
              <a:rect r="r" b="b" t="t" l="l"/>
              <a:pathLst>
                <a:path h="1305560" w="7797800">
                  <a:moveTo>
                    <a:pt x="0" y="0"/>
                  </a:moveTo>
                  <a:lnTo>
                    <a:pt x="7797800" y="0"/>
                  </a:lnTo>
                  <a:lnTo>
                    <a:pt x="7797800" y="1305560"/>
                  </a:lnTo>
                  <a:lnTo>
                    <a:pt x="0" y="1305560"/>
                  </a:lnTo>
                  <a:close/>
                </a:path>
              </a:pathLst>
            </a:custGeom>
            <a:solidFill>
              <a:srgbClr val="EDEFF8"/>
            </a:solidFill>
            <a:ln w="19050" cap="sq">
              <a:solidFill>
                <a:srgbClr val="E2E5F0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5760720" y="5966460"/>
            <a:ext cx="5829300" cy="960120"/>
            <a:chOff x="0" y="0"/>
            <a:chExt cx="7772400" cy="128016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77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777240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Mínimo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1580495" y="5956935"/>
            <a:ext cx="5848350" cy="979170"/>
            <a:chOff x="0" y="0"/>
            <a:chExt cx="7797800" cy="130556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797800" cy="1305560"/>
            </a:xfrm>
            <a:custGeom>
              <a:avLst/>
              <a:gdLst/>
              <a:ahLst/>
              <a:cxnLst/>
              <a:rect r="r" b="b" t="t" l="l"/>
              <a:pathLst>
                <a:path h="1305560" w="7797800">
                  <a:moveTo>
                    <a:pt x="0" y="0"/>
                  </a:moveTo>
                  <a:lnTo>
                    <a:pt x="7797800" y="0"/>
                  </a:lnTo>
                  <a:lnTo>
                    <a:pt x="7797800" y="1305560"/>
                  </a:lnTo>
                  <a:lnTo>
                    <a:pt x="0" y="1305560"/>
                  </a:lnTo>
                  <a:close/>
                </a:path>
              </a:pathLst>
            </a:custGeom>
            <a:solidFill>
              <a:srgbClr val="EDEFF8"/>
            </a:solidFill>
            <a:ln w="19050" cap="sq">
              <a:solidFill>
                <a:srgbClr val="E2E5F0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11590020" y="5966460"/>
            <a:ext cx="5829300" cy="960120"/>
            <a:chOff x="0" y="0"/>
            <a:chExt cx="7772400" cy="128016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777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777240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Requiere más pruebas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813435" y="6917055"/>
            <a:ext cx="4956810" cy="979170"/>
            <a:chOff x="0" y="0"/>
            <a:chExt cx="6609080" cy="130556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609080" cy="1305560"/>
            </a:xfrm>
            <a:custGeom>
              <a:avLst/>
              <a:gdLst/>
              <a:ahLst/>
              <a:cxnLst/>
              <a:rect r="r" b="b" t="t" l="l"/>
              <a:pathLst>
                <a:path h="1305560" w="6609080">
                  <a:moveTo>
                    <a:pt x="0" y="0"/>
                  </a:moveTo>
                  <a:lnTo>
                    <a:pt x="6609080" y="0"/>
                  </a:lnTo>
                  <a:lnTo>
                    <a:pt x="6609080" y="1305560"/>
                  </a:lnTo>
                  <a:lnTo>
                    <a:pt x="0" y="130556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5F0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822960" y="6926580"/>
            <a:ext cx="4937760" cy="960120"/>
            <a:chOff x="0" y="0"/>
            <a:chExt cx="6583680" cy="128016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5836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658368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Cuándo conviene usarlo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5751195" y="6917055"/>
            <a:ext cx="5848350" cy="979170"/>
            <a:chOff x="0" y="0"/>
            <a:chExt cx="7797800" cy="130556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797800" cy="1305560"/>
            </a:xfrm>
            <a:custGeom>
              <a:avLst/>
              <a:gdLst/>
              <a:ahLst/>
              <a:cxnLst/>
              <a:rect r="r" b="b" t="t" l="l"/>
              <a:pathLst>
                <a:path h="1305560" w="7797800">
                  <a:moveTo>
                    <a:pt x="0" y="0"/>
                  </a:moveTo>
                  <a:lnTo>
                    <a:pt x="7797800" y="0"/>
                  </a:lnTo>
                  <a:lnTo>
                    <a:pt x="7797800" y="1305560"/>
                  </a:lnTo>
                  <a:lnTo>
                    <a:pt x="0" y="130556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5F0"/>
              </a:solidFill>
              <a:prstDash val="solid"/>
              <a:miter/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5760720" y="6926580"/>
            <a:ext cx="5829300" cy="960120"/>
            <a:chOff x="0" y="0"/>
            <a:chExt cx="7772400" cy="128016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777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777240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Datos tabulares, pocos registros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1580495" y="6917055"/>
            <a:ext cx="5848350" cy="979170"/>
            <a:chOff x="0" y="0"/>
            <a:chExt cx="7797800" cy="130556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7797800" cy="1305560"/>
            </a:xfrm>
            <a:custGeom>
              <a:avLst/>
              <a:gdLst/>
              <a:ahLst/>
              <a:cxnLst/>
              <a:rect r="r" b="b" t="t" l="l"/>
              <a:pathLst>
                <a:path h="1305560" w="7797800">
                  <a:moveTo>
                    <a:pt x="0" y="0"/>
                  </a:moveTo>
                  <a:lnTo>
                    <a:pt x="7797800" y="0"/>
                  </a:lnTo>
                  <a:lnTo>
                    <a:pt x="7797800" y="1305560"/>
                  </a:lnTo>
                  <a:lnTo>
                    <a:pt x="0" y="130556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5F0"/>
              </a:solidFill>
              <a:prstDash val="solid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11590020" y="6926580"/>
            <a:ext cx="5829300" cy="960120"/>
            <a:chOff x="0" y="0"/>
            <a:chExt cx="7772400" cy="128016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777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777240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Relaciones no lineales complejas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7282160" y="9669780"/>
            <a:ext cx="685800" cy="480060"/>
            <a:chOff x="0" y="0"/>
            <a:chExt cx="914400" cy="64008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9144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914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960120" cy="960120"/>
            <a:chOff x="0" y="0"/>
            <a:chExt cx="128016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0C2C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891540"/>
            <a:ext cx="548640" cy="548640"/>
            <a:chOff x="0" y="0"/>
            <a:chExt cx="731520" cy="73152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057400" y="617220"/>
            <a:ext cx="14401800" cy="1097280"/>
            <a:chOff x="0" y="0"/>
            <a:chExt cx="19202400" cy="1463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2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920240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Conclusiones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2400300"/>
            <a:ext cx="16596360" cy="1165860"/>
            <a:chOff x="0" y="0"/>
            <a:chExt cx="22128480" cy="15544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28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1408176"/>
                  </a:lnTo>
                  <a:cubicBezTo>
                    <a:pt x="22128480" y="1488948"/>
                    <a:pt x="22062948" y="1554480"/>
                    <a:pt x="21982176" y="1554480"/>
                  </a:cubicBezTo>
                  <a:lnTo>
                    <a:pt x="146304" y="1554480"/>
                  </a:lnTo>
                  <a:cubicBezTo>
                    <a:pt x="65532" y="1554480"/>
                    <a:pt x="0" y="1488948"/>
                    <a:pt x="0" y="1408176"/>
                  </a:cubicBezTo>
                  <a:close/>
                </a:path>
              </a:pathLst>
            </a:custGeom>
            <a:solidFill>
              <a:srgbClr val="1E265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65860" y="2702052"/>
            <a:ext cx="576072" cy="576072"/>
            <a:chOff x="0" y="0"/>
            <a:chExt cx="768096" cy="7680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00C2CB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65860" y="2702052"/>
            <a:ext cx="576072" cy="576072"/>
            <a:chOff x="0" y="0"/>
            <a:chExt cx="768096" cy="7680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768096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41B4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057400" y="2400300"/>
            <a:ext cx="14950440" cy="1165860"/>
            <a:chOff x="0" y="0"/>
            <a:chExt cx="19933920" cy="15544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9339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9866" r="0" b="-19986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9933920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73"/>
                </a:lnSpc>
              </a:pPr>
              <a:r>
                <a:rPr lang="en-US" sz="20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Random Forest resulta simple, interpretable y con buen desempeño para este problema tabular.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3744468"/>
            <a:ext cx="16596360" cy="1165860"/>
            <a:chOff x="0" y="0"/>
            <a:chExt cx="22128480" cy="15544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28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1408176"/>
                  </a:lnTo>
                  <a:cubicBezTo>
                    <a:pt x="22128480" y="1488948"/>
                    <a:pt x="22062948" y="1554480"/>
                    <a:pt x="21982176" y="1554480"/>
                  </a:cubicBezTo>
                  <a:lnTo>
                    <a:pt x="146304" y="1554480"/>
                  </a:lnTo>
                  <a:cubicBezTo>
                    <a:pt x="65532" y="1554480"/>
                    <a:pt x="0" y="1488948"/>
                    <a:pt x="0" y="1408176"/>
                  </a:cubicBezTo>
                  <a:close/>
                </a:path>
              </a:pathLst>
            </a:custGeom>
            <a:solidFill>
              <a:srgbClr val="1E265C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65860" y="4046220"/>
            <a:ext cx="576072" cy="576072"/>
            <a:chOff x="0" y="0"/>
            <a:chExt cx="768096" cy="76809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00C2C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65860" y="4046220"/>
            <a:ext cx="576072" cy="576072"/>
            <a:chOff x="0" y="0"/>
            <a:chExt cx="768096" cy="7680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768096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41B4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057400" y="3744468"/>
            <a:ext cx="14950440" cy="1165860"/>
            <a:chOff x="0" y="0"/>
            <a:chExt cx="19933920" cy="15544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9339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9866" r="0" b="-19986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9933920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73"/>
                </a:lnSpc>
              </a:pPr>
              <a:r>
                <a:rPr lang="en-US" sz="20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 red neuronal aporta valor cuando se buscan relaciones más complejas, pero exige más datos y ajuste fino.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2960" y="5143500"/>
            <a:ext cx="16596360" cy="1165860"/>
            <a:chOff x="0" y="0"/>
            <a:chExt cx="22128480" cy="15544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128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1408176"/>
                  </a:lnTo>
                  <a:cubicBezTo>
                    <a:pt x="22128480" y="1488948"/>
                    <a:pt x="22062948" y="1554480"/>
                    <a:pt x="21982176" y="1554480"/>
                  </a:cubicBezTo>
                  <a:lnTo>
                    <a:pt x="146304" y="1554480"/>
                  </a:lnTo>
                  <a:cubicBezTo>
                    <a:pt x="65532" y="1554480"/>
                    <a:pt x="0" y="1488948"/>
                    <a:pt x="0" y="1408176"/>
                  </a:cubicBezTo>
                  <a:close/>
                </a:path>
              </a:pathLst>
            </a:custGeom>
            <a:solidFill>
              <a:srgbClr val="1E265C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65860" y="5445252"/>
            <a:ext cx="576072" cy="576072"/>
            <a:chOff x="0" y="0"/>
            <a:chExt cx="768096" cy="7680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00C2CB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165860" y="5445252"/>
            <a:ext cx="576072" cy="576072"/>
            <a:chOff x="0" y="0"/>
            <a:chExt cx="768096" cy="76809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768096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41B4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057400" y="5143500"/>
            <a:ext cx="14950440" cy="1165860"/>
            <a:chOff x="0" y="0"/>
            <a:chExt cx="19933920" cy="15544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99339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9866" r="0" b="-19986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19933920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73"/>
                </a:lnSpc>
              </a:pPr>
              <a:r>
                <a:rPr lang="en-US" sz="20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 metodología es reproducible y escalable a otros datasets tecnológicos (laptops, tablets, wearables).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22960" y="6487668"/>
            <a:ext cx="16596360" cy="1165860"/>
            <a:chOff x="0" y="0"/>
            <a:chExt cx="22128480" cy="15544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128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1408176"/>
                  </a:lnTo>
                  <a:cubicBezTo>
                    <a:pt x="22128480" y="1488948"/>
                    <a:pt x="22062948" y="1554480"/>
                    <a:pt x="21982176" y="1554480"/>
                  </a:cubicBezTo>
                  <a:lnTo>
                    <a:pt x="146304" y="1554480"/>
                  </a:lnTo>
                  <a:cubicBezTo>
                    <a:pt x="65532" y="1554480"/>
                    <a:pt x="0" y="1488948"/>
                    <a:pt x="0" y="1408176"/>
                  </a:cubicBezTo>
                  <a:close/>
                </a:path>
              </a:pathLst>
            </a:custGeom>
            <a:solidFill>
              <a:srgbClr val="1E265C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65860" y="6789420"/>
            <a:ext cx="576072" cy="576072"/>
            <a:chOff x="0" y="0"/>
            <a:chExt cx="768096" cy="76809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00C2CB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165860" y="6789420"/>
            <a:ext cx="576072" cy="576072"/>
            <a:chOff x="0" y="0"/>
            <a:chExt cx="768096" cy="76809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768096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41B4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2057400" y="6487668"/>
            <a:ext cx="14950440" cy="1165860"/>
            <a:chOff x="0" y="0"/>
            <a:chExt cx="19933920" cy="15544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99339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9866" r="0" b="-19986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19933920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73"/>
                </a:lnSpc>
              </a:pPr>
              <a:r>
                <a:rPr lang="en-US" sz="20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Próximos pasos: ampliar el dataset, probar otros modelos (XGBoost, SVM) y afinar hiperparámetros de la red.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7282160" y="9669780"/>
            <a:ext cx="685800" cy="480060"/>
            <a:chOff x="0" y="0"/>
            <a:chExt cx="914400" cy="6400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144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914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57400" y="5760720"/>
            <a:ext cx="6858000" cy="6858000"/>
            <a:chOff x="0" y="0"/>
            <a:chExt cx="914400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2E3A8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822960" y="6995160"/>
            <a:ext cx="4389120" cy="4389120"/>
            <a:chOff x="0" y="0"/>
            <a:chExt cx="5852160" cy="5852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216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852160">
                  <a:moveTo>
                    <a:pt x="0" y="2926080"/>
                  </a:moveTo>
                  <a:cubicBezTo>
                    <a:pt x="0" y="1310005"/>
                    <a:pt x="1310005" y="0"/>
                    <a:pt x="2926080" y="0"/>
                  </a:cubicBezTo>
                  <a:cubicBezTo>
                    <a:pt x="4542155" y="0"/>
                    <a:pt x="5852160" y="1310005"/>
                    <a:pt x="5852160" y="2926080"/>
                  </a:cubicBezTo>
                  <a:cubicBezTo>
                    <a:pt x="5852160" y="4542155"/>
                    <a:pt x="4542155" y="5852160"/>
                    <a:pt x="2926080" y="5852160"/>
                  </a:cubicBezTo>
                  <a:cubicBezTo>
                    <a:pt x="1310005" y="5852160"/>
                    <a:pt x="0" y="4542155"/>
                    <a:pt x="0" y="2926080"/>
                  </a:cubicBezTo>
                  <a:close/>
                </a:path>
              </a:pathLst>
            </a:custGeom>
            <a:solidFill>
              <a:srgbClr val="00C2C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3566160"/>
            <a:ext cx="18242280" cy="1645920"/>
            <a:chOff x="0" y="0"/>
            <a:chExt cx="24323040" cy="21945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23039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23039">
                  <a:moveTo>
                    <a:pt x="0" y="0"/>
                  </a:moveTo>
                  <a:lnTo>
                    <a:pt x="24323039" y="0"/>
                  </a:lnTo>
                  <a:lnTo>
                    <a:pt x="24323039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959" r="0" b="-16595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4323040" cy="221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¡Gracias!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DAHU-2wMibc</dc:identifier>
  <dcterms:modified xsi:type="dcterms:W3CDTF">2011-08-01T06:04:30Z</dcterms:modified>
  <cp:revision>1</cp:revision>
  <dc:title>Presentacion_Prediccion_Precio_Celulares.pptx</dc:title>
</cp:coreProperties>
</file>