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75" r:id="rId5"/>
    <p:sldId id="259" r:id="rId6"/>
    <p:sldId id="260" r:id="rId7"/>
    <p:sldId id="276" r:id="rId8"/>
    <p:sldId id="277" r:id="rId9"/>
    <p:sldId id="278" r:id="rId10"/>
    <p:sldId id="261" r:id="rId11"/>
    <p:sldId id="280" r:id="rId12"/>
    <p:sldId id="281" r:id="rId13"/>
    <p:sldId id="282" r:id="rId14"/>
    <p:sldId id="283" r:id="rId15"/>
    <p:sldId id="262" r:id="rId16"/>
    <p:sldId id="263" r:id="rId17"/>
    <p:sldId id="285" r:id="rId18"/>
    <p:sldId id="264" r:id="rId19"/>
    <p:sldId id="265" r:id="rId20"/>
    <p:sldId id="274" r:id="rId21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0A39E4"/>
    <a:srgbClr val="F8F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E3FDE45-AF77-4B5C-9715-49D594BDF05E}" styleName="Estilo claro 1 - Acento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E8034E78-7F5D-4C2E-B375-FC64B27BC917}" styleName="Estilo oscuro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Estilo clar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Acento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70" autoAdjust="0"/>
    <p:restoredTop sz="96247" autoAdjust="0"/>
  </p:normalViewPr>
  <p:slideViewPr>
    <p:cSldViewPr snapToGrid="0">
      <p:cViewPr varScale="1">
        <p:scale>
          <a:sx n="111" d="100"/>
          <a:sy n="111" d="100"/>
        </p:scale>
        <p:origin x="117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9EB9F45-287E-4445-8641-491EBB1D32C8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54F3E7-703C-4AA9-A4C2-E24C1B2A5F67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853593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 err="1"/>
              <a:t>Credit</a:t>
            </a:r>
            <a:r>
              <a:rPr lang="es-PE" dirty="0"/>
              <a:t> </a:t>
            </a:r>
            <a:r>
              <a:rPr lang="es-PE" dirty="0" err="1"/>
              <a:t>Card</a:t>
            </a:r>
            <a:r>
              <a:rPr lang="es-PE" dirty="0"/>
              <a:t> </a:t>
            </a:r>
            <a:r>
              <a:rPr lang="es-PE" dirty="0" err="1"/>
              <a:t>Approval</a:t>
            </a:r>
            <a:r>
              <a:rPr lang="es-PE" dirty="0"/>
              <a:t>   </a:t>
            </a:r>
            <a:r>
              <a:rPr lang="es-PE" dirty="0" err="1"/>
              <a:t>Prediction</a:t>
            </a:r>
            <a:r>
              <a:rPr lang="es-PE" dirty="0"/>
              <a:t>   </a:t>
            </a:r>
          </a:p>
          <a:p>
            <a:endParaRPr lang="es-PE" dirty="0"/>
          </a:p>
          <a:p>
            <a:r>
              <a:rPr lang="es-PE" dirty="0"/>
              <a:t>https://www.kaggle.com/datasets/rikdifos/credit-card-approval-prediction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54F3E7-703C-4AA9-A4C2-E24C1B2A5F67}" type="slidenum">
              <a:rPr lang="es-PE" smtClean="0"/>
              <a:t>2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023925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48764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640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75349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65371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0191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451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74053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41610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64056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183CB3-B8E8-1E97-82BE-544EBE167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08D0C40-1A72-FEF6-EEC9-D39F9391DD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C0BDAF-07DA-3AEC-CACB-F10E06EA5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BB977E9-1F9F-0BBF-CE09-20633B81B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A4FB3BC-592B-54E5-BA46-7E2EC1CCB0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8912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862649-F2C1-2ED6-152E-1494187143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FC6A1CFA-2116-0130-2502-3A2064BCD2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90261AB-A244-C14D-7D83-0FB9498920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73718E5-E600-EDC1-BD09-D6C5FEE1EA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01747EA-DA01-30D2-0D27-D3868E875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110639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2CD32-D06C-19F2-0F90-AE3B71270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408C08C-657B-7F2D-5146-DC6289805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4C421B9-14EB-9357-8834-AFF1318E8E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DFD8C5-D872-0721-6CD9-1508F8B954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653A9ED-EE91-E77B-61C6-70463029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110722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3CA717-0E2F-A24B-3C19-A6DDF9D50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C8C82FA-18DC-7F8D-A962-C22245B30F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F24860A-8B37-8A27-6805-EFFF3A889C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6EB5591-5E79-B5DB-9B68-97AA6E695F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1B35BE8-222C-C32F-9463-90A990F51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45DB5AD-1694-1240-3B05-99AE196A5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26631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EDC02D2-23B6-BAF5-9983-19C5DB7986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FD5F963-89C2-ECFB-2AF2-58F7FD2DE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A30F79DE-91DC-DFD9-0EA4-6C93BB78F3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193D3DB-B90B-3481-E0EC-59422B45B88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B3FD5829-5703-E187-5DEF-E57BF1CC7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0395FA4-AD97-6D39-E8D9-6181D7093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B5CE1AB-1744-6B2E-D971-48216AC44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D76A49E9-1743-6D7C-12F1-87795F79D9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995236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F30015-B525-CD47-8C62-466EDE2134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BB4EA34-A889-9942-2913-699D328D7B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C7B77012-6D29-926E-7C8B-85D7C68096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DCFDBBF3-AE07-2088-5552-8CD3897008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59805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54A1CC4C-7298-A19C-535D-FB3CCA56D9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781A8701-AE8D-ADBE-C3BA-02A5027E3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B57420C-FAD0-9B89-8417-7ACC341FD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65291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CA346A-9614-1969-B39D-B5FF5F7F8F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331EF7-4557-2CC9-B783-16102C26C7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DBA30990-14B5-D24A-588C-73FE0C7B59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F33130E9-048F-E6FB-9C35-ED6B7E0C8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77E19A-042E-7F03-8AC9-C8CA8DE4B1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8702F4B1-B9E4-503D-AA5A-533C53B13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9088003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710FA3-F199-F16F-C907-46F87A146C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50908693-1DD8-9ECF-3B27-5FD6740047F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F88B102-3CA1-FC88-5C30-49158140DA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84FA4AC-8FC9-60DF-7FDF-8D555E975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4E99D3-33F4-13E4-E6CC-289C10F93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A48C699-A069-DDA0-1D17-A6650E917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939109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360C47-9D7C-62C5-EF3E-85753FB1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2301DC6-4C5D-E876-862D-D6665B2F28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B78D696-78E1-E690-C962-4E6A4F9C1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61F6EBF-841E-2580-C24C-C97795A59D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A219E1-ED72-25B2-FE89-75F7019E10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42723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B6F944CD-F1EF-4D17-E691-12C39E89E6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754C6CE-A583-A578-7573-24C37A964A6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4C76BD-756A-6B40-1E06-6CBE4F1F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CE7EC6-765A-02A4-56E1-E6C645082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C59412A-0F83-2884-1BD8-DC8832AA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15639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95252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360ACB2-C08F-C72D-2641-A0A58597C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3FF9BB0-62B1-089D-F2C5-24FC567F8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8F3A575-6D1E-CB8E-CEB3-9D55BEFB2F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2B0CF1-A7ED-4B76-9164-177F95FC2AD6}" type="datetimeFigureOut">
              <a:rPr lang="es-PE" smtClean="0"/>
              <a:t>4/09/2026</a:t>
            </a:fld>
            <a:endParaRPr lang="es-PE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2F3F686-A431-1454-2734-C4049C48BC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BA9C852-AC1C-5F64-F204-27DC99DB87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B7D2DB-3C99-43C2-81D2-DEE4206419BF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03965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2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9" name="Rectangle 14">
            <a:extLst>
              <a:ext uri="{FF2B5EF4-FFF2-40B4-BE49-F238E27FC236}">
                <a16:creationId xmlns:a16="http://schemas.microsoft.com/office/drawing/2014/main" id="{0E91F5CA-B392-444C-88E3-BF5BAAEBDE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6">
            <a:extLst>
              <a:ext uri="{FF2B5EF4-FFF2-40B4-BE49-F238E27FC236}">
                <a16:creationId xmlns:a16="http://schemas.microsoft.com/office/drawing/2014/main" id="{0459807F-B6FA-44D3-9A53-C55B6B568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80681"/>
            <a:ext cx="12192000" cy="2777318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Imagen 7" descr="Imagen que contiene tabla, computadora, pequeño, computer&#10;&#10;El contenido generado por IA puede ser incorrecto.">
            <a:extLst>
              <a:ext uri="{FF2B5EF4-FFF2-40B4-BE49-F238E27FC236}">
                <a16:creationId xmlns:a16="http://schemas.microsoft.com/office/drawing/2014/main" id="{90DE2D2A-BA42-39CF-3354-1E42BBFFB8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67"/>
          <a:stretch>
            <a:fillRect/>
          </a:stretch>
        </p:blipFill>
        <p:spPr>
          <a:xfrm>
            <a:off x="0" y="-1"/>
            <a:ext cx="12323411" cy="5886523"/>
          </a:xfrm>
          <a:custGeom>
            <a:avLst/>
            <a:gdLst/>
            <a:ahLst/>
            <a:cxnLst/>
            <a:rect l="l" t="t" r="r" b="b"/>
            <a:pathLst>
              <a:path w="12191999" h="5886533">
                <a:moveTo>
                  <a:pt x="4721173" y="4907914"/>
                </a:moveTo>
                <a:lnTo>
                  <a:pt x="4722109" y="4908125"/>
                </a:lnTo>
                <a:cubicBezTo>
                  <a:pt x="4721143" y="4908767"/>
                  <a:pt x="4718263" y="4909373"/>
                  <a:pt x="4717199" y="4909396"/>
                </a:cubicBez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5751311"/>
                </a:lnTo>
                <a:lnTo>
                  <a:pt x="12140860" y="5770509"/>
                </a:lnTo>
                <a:cubicBezTo>
                  <a:pt x="12126656" y="5772723"/>
                  <a:pt x="12093589" y="5827925"/>
                  <a:pt x="12080161" y="5826358"/>
                </a:cubicBezTo>
                <a:cubicBezTo>
                  <a:pt x="11978188" y="5850511"/>
                  <a:pt x="11967361" y="5873564"/>
                  <a:pt x="11917885" y="5861578"/>
                </a:cubicBezTo>
                <a:cubicBezTo>
                  <a:pt x="11872779" y="5859863"/>
                  <a:pt x="11928861" y="5896778"/>
                  <a:pt x="11894610" y="5883738"/>
                </a:cubicBezTo>
                <a:cubicBezTo>
                  <a:pt x="11860359" y="5870698"/>
                  <a:pt x="11736091" y="5807232"/>
                  <a:pt x="11712379" y="5783337"/>
                </a:cubicBezTo>
                <a:cubicBezTo>
                  <a:pt x="11688667" y="5759442"/>
                  <a:pt x="11627912" y="5782933"/>
                  <a:pt x="11585366" y="5740371"/>
                </a:cubicBezTo>
                <a:lnTo>
                  <a:pt x="11516470" y="5663679"/>
                </a:lnTo>
                <a:cubicBezTo>
                  <a:pt x="11468274" y="5661847"/>
                  <a:pt x="11507335" y="5626593"/>
                  <a:pt x="11462692" y="5610127"/>
                </a:cubicBezTo>
                <a:cubicBezTo>
                  <a:pt x="11417567" y="5608500"/>
                  <a:pt x="11408021" y="5556613"/>
                  <a:pt x="11369712" y="5548654"/>
                </a:cubicBezTo>
                <a:cubicBezTo>
                  <a:pt x="11354317" y="5554704"/>
                  <a:pt x="11288328" y="5499810"/>
                  <a:pt x="11273969" y="5488986"/>
                </a:cubicBezTo>
                <a:cubicBezTo>
                  <a:pt x="11231913" y="5490378"/>
                  <a:pt x="11221973" y="5480544"/>
                  <a:pt x="11195084" y="5467967"/>
                </a:cubicBezTo>
                <a:cubicBezTo>
                  <a:pt x="11164086" y="5497749"/>
                  <a:pt x="11171649" y="5471790"/>
                  <a:pt x="11143408" y="5468614"/>
                </a:cubicBezTo>
                <a:cubicBezTo>
                  <a:pt x="11125906" y="5464975"/>
                  <a:pt x="11102603" y="5460835"/>
                  <a:pt x="11085935" y="5459365"/>
                </a:cubicBezTo>
                <a:cubicBezTo>
                  <a:pt x="11057493" y="5459661"/>
                  <a:pt x="11029906" y="5441496"/>
                  <a:pt x="11030953" y="5456484"/>
                </a:cubicBezTo>
                <a:cubicBezTo>
                  <a:pt x="11007784" y="5459001"/>
                  <a:pt x="10982005" y="5463178"/>
                  <a:pt x="10951060" y="5461240"/>
                </a:cubicBezTo>
                <a:cubicBezTo>
                  <a:pt x="10885365" y="5424406"/>
                  <a:pt x="10915288" y="5460968"/>
                  <a:pt x="10857721" y="5448157"/>
                </a:cubicBezTo>
                <a:cubicBezTo>
                  <a:pt x="10806646" y="5435790"/>
                  <a:pt x="10707075" y="5402712"/>
                  <a:pt x="10644616" y="5387039"/>
                </a:cubicBezTo>
                <a:cubicBezTo>
                  <a:pt x="10616446" y="5382224"/>
                  <a:pt x="10558603" y="5371613"/>
                  <a:pt x="10519277" y="5366793"/>
                </a:cubicBezTo>
                <a:cubicBezTo>
                  <a:pt x="10495461" y="5368312"/>
                  <a:pt x="10473830" y="5354868"/>
                  <a:pt x="10445981" y="5364735"/>
                </a:cubicBezTo>
                <a:cubicBezTo>
                  <a:pt x="10436536" y="5368773"/>
                  <a:pt x="10409281" y="5367966"/>
                  <a:pt x="10383865" y="5360888"/>
                </a:cubicBezTo>
                <a:cubicBezTo>
                  <a:pt x="10374827" y="5369095"/>
                  <a:pt x="10347864" y="5360432"/>
                  <a:pt x="10336852" y="5360277"/>
                </a:cubicBezTo>
                <a:cubicBezTo>
                  <a:pt x="10323586" y="5366987"/>
                  <a:pt x="10274741" y="5357921"/>
                  <a:pt x="10261098" y="5350526"/>
                </a:cubicBezTo>
                <a:lnTo>
                  <a:pt x="10126497" y="5339011"/>
                </a:lnTo>
                <a:lnTo>
                  <a:pt x="10082166" y="5336916"/>
                </a:lnTo>
                <a:cubicBezTo>
                  <a:pt x="10074567" y="5338985"/>
                  <a:pt x="10046860" y="5337657"/>
                  <a:pt x="10039237" y="5338580"/>
                </a:cubicBezTo>
                <a:cubicBezTo>
                  <a:pt x="9998458" y="5328479"/>
                  <a:pt x="9984394" y="5327989"/>
                  <a:pt x="9960016" y="5323065"/>
                </a:cubicBezTo>
                <a:cubicBezTo>
                  <a:pt x="9918980" y="5322923"/>
                  <a:pt x="9888741" y="5326122"/>
                  <a:pt x="9847789" y="5316297"/>
                </a:cubicBezTo>
                <a:lnTo>
                  <a:pt x="9728306" y="5296090"/>
                </a:lnTo>
                <a:cubicBezTo>
                  <a:pt x="9675056" y="5305676"/>
                  <a:pt x="9602035" y="5297282"/>
                  <a:pt x="9584504" y="5284670"/>
                </a:cubicBezTo>
                <a:cubicBezTo>
                  <a:pt x="9518952" y="5270394"/>
                  <a:pt x="9415429" y="5244268"/>
                  <a:pt x="9343049" y="5238968"/>
                </a:cubicBezTo>
                <a:lnTo>
                  <a:pt x="9231367" y="5187063"/>
                </a:lnTo>
                <a:lnTo>
                  <a:pt x="9194807" y="5176984"/>
                </a:lnTo>
                <a:lnTo>
                  <a:pt x="9189243" y="5167745"/>
                </a:lnTo>
                <a:lnTo>
                  <a:pt x="9151229" y="5156543"/>
                </a:lnTo>
                <a:lnTo>
                  <a:pt x="9150207" y="5157608"/>
                </a:lnTo>
                <a:cubicBezTo>
                  <a:pt x="9147045" y="5159739"/>
                  <a:pt x="9143081" y="5160831"/>
                  <a:pt x="9137315" y="5159777"/>
                </a:cubicBezTo>
                <a:cubicBezTo>
                  <a:pt x="9138862" y="5179261"/>
                  <a:pt x="9130952" y="5165972"/>
                  <a:pt x="9113809" y="5161143"/>
                </a:cubicBezTo>
                <a:cubicBezTo>
                  <a:pt x="9112388" y="5190326"/>
                  <a:pt x="9068114" y="5155892"/>
                  <a:pt x="9053450" y="5169457"/>
                </a:cubicBezTo>
                <a:lnTo>
                  <a:pt x="9005483" y="5166172"/>
                </a:lnTo>
                <a:lnTo>
                  <a:pt x="9005198" y="5166412"/>
                </a:lnTo>
                <a:cubicBezTo>
                  <a:pt x="9003143" y="5166632"/>
                  <a:pt x="9000324" y="5166304"/>
                  <a:pt x="8996229" y="5165201"/>
                </a:cubicBezTo>
                <a:lnTo>
                  <a:pt x="8990391" y="5163140"/>
                </a:lnTo>
                <a:lnTo>
                  <a:pt x="8974334" y="5159914"/>
                </a:lnTo>
                <a:lnTo>
                  <a:pt x="8968008" y="5160614"/>
                </a:lnTo>
                <a:lnTo>
                  <a:pt x="8963045" y="5162839"/>
                </a:lnTo>
                <a:cubicBezTo>
                  <a:pt x="8954690" y="5154888"/>
                  <a:pt x="8955517" y="5145940"/>
                  <a:pt x="8928985" y="5166027"/>
                </a:cubicBezTo>
                <a:cubicBezTo>
                  <a:pt x="8898031" y="5165007"/>
                  <a:pt x="8789300" y="5150352"/>
                  <a:pt x="8752441" y="5146795"/>
                </a:cubicBezTo>
                <a:cubicBezTo>
                  <a:pt x="8719819" y="5136075"/>
                  <a:pt x="8748194" y="5149736"/>
                  <a:pt x="8707844" y="5144694"/>
                </a:cubicBezTo>
                <a:cubicBezTo>
                  <a:pt x="8671606" y="5125159"/>
                  <a:pt x="8639142" y="5141599"/>
                  <a:pt x="8596068" y="5136122"/>
                </a:cubicBezTo>
                <a:lnTo>
                  <a:pt x="8525227" y="5150964"/>
                </a:lnTo>
                <a:lnTo>
                  <a:pt x="8510980" y="5145049"/>
                </a:lnTo>
                <a:lnTo>
                  <a:pt x="8506164" y="5142048"/>
                </a:lnTo>
                <a:cubicBezTo>
                  <a:pt x="8502646" y="5140271"/>
                  <a:pt x="8500045" y="5139460"/>
                  <a:pt x="8497965" y="5139310"/>
                </a:cubicBezTo>
                <a:lnTo>
                  <a:pt x="8497591" y="5139489"/>
                </a:lnTo>
                <a:lnTo>
                  <a:pt x="8490246" y="5136439"/>
                </a:lnTo>
                <a:lnTo>
                  <a:pt x="8367179" y="5122397"/>
                </a:lnTo>
                <a:cubicBezTo>
                  <a:pt x="8362021" y="5120372"/>
                  <a:pt x="8357730" y="5120720"/>
                  <a:pt x="8353796" y="5122203"/>
                </a:cubicBezTo>
                <a:lnTo>
                  <a:pt x="8352369" y="5123043"/>
                </a:lnTo>
                <a:lnTo>
                  <a:pt x="8320101" y="5105625"/>
                </a:lnTo>
                <a:lnTo>
                  <a:pt x="8314429" y="5105299"/>
                </a:lnTo>
                <a:lnTo>
                  <a:pt x="8295170" y="5091404"/>
                </a:lnTo>
                <a:lnTo>
                  <a:pt x="8284273" y="5085581"/>
                </a:lnTo>
                <a:lnTo>
                  <a:pt x="8283146" y="5081138"/>
                </a:lnTo>
                <a:cubicBezTo>
                  <a:pt x="8280842" y="5077893"/>
                  <a:pt x="8276148" y="5075245"/>
                  <a:pt x="8266072" y="5073963"/>
                </a:cubicBezTo>
                <a:lnTo>
                  <a:pt x="8263373" y="5074193"/>
                </a:lnTo>
                <a:lnTo>
                  <a:pt x="8252030" y="5064350"/>
                </a:lnTo>
                <a:cubicBezTo>
                  <a:pt x="8248856" y="5060500"/>
                  <a:pt x="8246644" y="5056218"/>
                  <a:pt x="8245831" y="5051358"/>
                </a:cubicBezTo>
                <a:cubicBezTo>
                  <a:pt x="8181824" y="5054265"/>
                  <a:pt x="8147127" y="5020143"/>
                  <a:pt x="8090268" y="5005197"/>
                </a:cubicBezTo>
                <a:cubicBezTo>
                  <a:pt x="8025464" y="4982055"/>
                  <a:pt x="7967067" y="4960819"/>
                  <a:pt x="7905404" y="4963224"/>
                </a:cubicBezTo>
                <a:cubicBezTo>
                  <a:pt x="7835116" y="4948312"/>
                  <a:pt x="7780962" y="4946081"/>
                  <a:pt x="7718741" y="4937509"/>
                </a:cubicBezTo>
                <a:lnTo>
                  <a:pt x="7614343" y="4940980"/>
                </a:lnTo>
                <a:lnTo>
                  <a:pt x="7527539" y="4935152"/>
                </a:lnTo>
                <a:lnTo>
                  <a:pt x="7519567" y="4932599"/>
                </a:lnTo>
                <a:cubicBezTo>
                  <a:pt x="7513989" y="4931260"/>
                  <a:pt x="7510169" y="4930910"/>
                  <a:pt x="7507408" y="4931264"/>
                </a:cubicBezTo>
                <a:lnTo>
                  <a:pt x="7507036" y="4931591"/>
                </a:lnTo>
                <a:lnTo>
                  <a:pt x="7495791" y="4929639"/>
                </a:lnTo>
                <a:cubicBezTo>
                  <a:pt x="7476982" y="4925521"/>
                  <a:pt x="7422524" y="4942937"/>
                  <a:pt x="7405387" y="4937744"/>
                </a:cubicBezTo>
                <a:cubicBezTo>
                  <a:pt x="7374785" y="4940694"/>
                  <a:pt x="7333986" y="4941799"/>
                  <a:pt x="7312176" y="4947339"/>
                </a:cubicBezTo>
                <a:lnTo>
                  <a:pt x="7310849" y="4948781"/>
                </a:lnTo>
                <a:lnTo>
                  <a:pt x="7218556" y="4923532"/>
                </a:lnTo>
                <a:lnTo>
                  <a:pt x="7201098" y="4918982"/>
                </a:lnTo>
                <a:lnTo>
                  <a:pt x="7197000" y="4913624"/>
                </a:lnTo>
                <a:cubicBezTo>
                  <a:pt x="7192108" y="4910101"/>
                  <a:pt x="7184502" y="4907962"/>
                  <a:pt x="7170804" y="4908976"/>
                </a:cubicBezTo>
                <a:lnTo>
                  <a:pt x="7096984" y="4896748"/>
                </a:lnTo>
                <a:cubicBezTo>
                  <a:pt x="7061144" y="4895770"/>
                  <a:pt x="7050185" y="4894793"/>
                  <a:pt x="7018492" y="4897122"/>
                </a:cubicBezTo>
                <a:cubicBezTo>
                  <a:pt x="6937524" y="4886184"/>
                  <a:pt x="6943641" y="4862018"/>
                  <a:pt x="6904142" y="4867616"/>
                </a:cubicBezTo>
                <a:cubicBezTo>
                  <a:pt x="6871918" y="4872824"/>
                  <a:pt x="6787985" y="4853750"/>
                  <a:pt x="6708218" y="4839661"/>
                </a:cubicBezTo>
                <a:cubicBezTo>
                  <a:pt x="6649102" y="4830206"/>
                  <a:pt x="6628102" y="4816105"/>
                  <a:pt x="6549451" y="4810885"/>
                </a:cubicBezTo>
                <a:cubicBezTo>
                  <a:pt x="6472150" y="4766795"/>
                  <a:pt x="6409692" y="4790518"/>
                  <a:pt x="6317556" y="4764085"/>
                </a:cubicBezTo>
                <a:cubicBezTo>
                  <a:pt x="6297547" y="4748563"/>
                  <a:pt x="6209288" y="4765756"/>
                  <a:pt x="6168670" y="4761998"/>
                </a:cubicBezTo>
                <a:cubicBezTo>
                  <a:pt x="6128052" y="4758240"/>
                  <a:pt x="6090536" y="4744692"/>
                  <a:pt x="6073844" y="4741536"/>
                </a:cubicBezTo>
                <a:lnTo>
                  <a:pt x="6068526" y="4743073"/>
                </a:lnTo>
                <a:lnTo>
                  <a:pt x="6048634" y="4742390"/>
                </a:lnTo>
                <a:lnTo>
                  <a:pt x="6041279" y="4750739"/>
                </a:lnTo>
                <a:lnTo>
                  <a:pt x="6010088" y="4755832"/>
                </a:lnTo>
                <a:cubicBezTo>
                  <a:pt x="5998677" y="4756419"/>
                  <a:pt x="5970124" y="4755506"/>
                  <a:pt x="5957373" y="4752188"/>
                </a:cubicBezTo>
                <a:lnTo>
                  <a:pt x="5758915" y="4736496"/>
                </a:lnTo>
                <a:lnTo>
                  <a:pt x="5626957" y="4735473"/>
                </a:lnTo>
                <a:lnTo>
                  <a:pt x="5470902" y="4749493"/>
                </a:lnTo>
                <a:cubicBezTo>
                  <a:pt x="5478131" y="4762521"/>
                  <a:pt x="5439006" y="4748455"/>
                  <a:pt x="5432757" y="4760746"/>
                </a:cubicBezTo>
                <a:cubicBezTo>
                  <a:pt x="5429365" y="4770778"/>
                  <a:pt x="5391824" y="4775462"/>
                  <a:pt x="5381664" y="4778448"/>
                </a:cubicBezTo>
                <a:lnTo>
                  <a:pt x="5261760" y="4798865"/>
                </a:lnTo>
                <a:cubicBezTo>
                  <a:pt x="5251595" y="4799049"/>
                  <a:pt x="5230547" y="4807359"/>
                  <a:pt x="5222959" y="4809989"/>
                </a:cubicBezTo>
                <a:lnTo>
                  <a:pt x="5174657" y="4812979"/>
                </a:lnTo>
                <a:lnTo>
                  <a:pt x="5156551" y="4820202"/>
                </a:lnTo>
                <a:lnTo>
                  <a:pt x="5142595" y="4823602"/>
                </a:lnTo>
                <a:lnTo>
                  <a:pt x="5139593" y="4825703"/>
                </a:lnTo>
                <a:cubicBezTo>
                  <a:pt x="5133873" y="4829743"/>
                  <a:pt x="5128076" y="4833554"/>
                  <a:pt x="5121656" y="4836556"/>
                </a:cubicBezTo>
                <a:cubicBezTo>
                  <a:pt x="5108317" y="4807937"/>
                  <a:pt x="5064853" y="4857373"/>
                  <a:pt x="5065787" y="4829985"/>
                </a:cubicBezTo>
                <a:cubicBezTo>
                  <a:pt x="5028193" y="4841501"/>
                  <a:pt x="5038944" y="4812412"/>
                  <a:pt x="5011510" y="4846366"/>
                </a:cubicBezTo>
                <a:cubicBezTo>
                  <a:pt x="4937023" y="4845983"/>
                  <a:pt x="4916353" y="4832976"/>
                  <a:pt x="4840437" y="4870383"/>
                </a:cubicBezTo>
                <a:cubicBezTo>
                  <a:pt x="4806739" y="4887025"/>
                  <a:pt x="4784106" y="4898171"/>
                  <a:pt x="4762444" y="4898151"/>
                </a:cubicBezTo>
                <a:cubicBezTo>
                  <a:pt x="4741323" y="4902652"/>
                  <a:pt x="4729481" y="4905474"/>
                  <a:pt x="4723182" y="4907166"/>
                </a:cubicBezTo>
                <a:lnTo>
                  <a:pt x="4721173" y="4907914"/>
                </a:lnTo>
                <a:lnTo>
                  <a:pt x="4715524" y="4906639"/>
                </a:lnTo>
                <a:cubicBezTo>
                  <a:pt x="4680148" y="4913595"/>
                  <a:pt x="4524744" y="4914403"/>
                  <a:pt x="4515810" y="4916541"/>
                </a:cubicBezTo>
                <a:cubicBezTo>
                  <a:pt x="4457819" y="4929653"/>
                  <a:pt x="4462659" y="4930394"/>
                  <a:pt x="4428539" y="4927192"/>
                </a:cubicBezTo>
                <a:cubicBezTo>
                  <a:pt x="4423303" y="4923821"/>
                  <a:pt x="4368974" y="4930115"/>
                  <a:pt x="4362872" y="4928538"/>
                </a:cubicBezTo>
                <a:lnTo>
                  <a:pt x="4316962" y="4921923"/>
                </a:lnTo>
                <a:lnTo>
                  <a:pt x="4315106" y="4923264"/>
                </a:lnTo>
                <a:cubicBezTo>
                  <a:pt x="4306123" y="4926635"/>
                  <a:pt x="4299993" y="4926634"/>
                  <a:pt x="4295140" y="4925143"/>
                </a:cubicBezTo>
                <a:lnTo>
                  <a:pt x="4290059" y="4922226"/>
                </a:lnTo>
                <a:lnTo>
                  <a:pt x="4276138" y="4922472"/>
                </a:lnTo>
                <a:lnTo>
                  <a:pt x="4248113" y="4920148"/>
                </a:lnTo>
                <a:lnTo>
                  <a:pt x="4202046" y="4922943"/>
                </a:lnTo>
                <a:cubicBezTo>
                  <a:pt x="4201945" y="4923363"/>
                  <a:pt x="4201842" y="4923782"/>
                  <a:pt x="4201741" y="4924202"/>
                </a:cubicBezTo>
                <a:cubicBezTo>
                  <a:pt x="4200116" y="4927039"/>
                  <a:pt x="4197140" y="4929158"/>
                  <a:pt x="4191245" y="4929836"/>
                </a:cubicBezTo>
                <a:cubicBezTo>
                  <a:pt x="4204212" y="4947125"/>
                  <a:pt x="4161274" y="4945230"/>
                  <a:pt x="4142742" y="4945701"/>
                </a:cubicBezTo>
                <a:cubicBezTo>
                  <a:pt x="4124717" y="4952767"/>
                  <a:pt x="4099099" y="4966347"/>
                  <a:pt x="4083094" y="4972234"/>
                </a:cubicBezTo>
                <a:lnTo>
                  <a:pt x="4074543" y="4973069"/>
                </a:lnTo>
                <a:cubicBezTo>
                  <a:pt x="4074504" y="4973170"/>
                  <a:pt x="4074463" y="4973269"/>
                  <a:pt x="4074424" y="4973368"/>
                </a:cubicBezTo>
                <a:cubicBezTo>
                  <a:pt x="4072678" y="4974152"/>
                  <a:pt x="4069906" y="4974653"/>
                  <a:pt x="4065507" y="4974812"/>
                </a:cubicBezTo>
                <a:lnTo>
                  <a:pt x="4058951" y="4974594"/>
                </a:lnTo>
                <a:lnTo>
                  <a:pt x="4042361" y="4976215"/>
                </a:lnTo>
                <a:lnTo>
                  <a:pt x="4036993" y="4978649"/>
                </a:lnTo>
                <a:lnTo>
                  <a:pt x="4035360" y="4982316"/>
                </a:lnTo>
                <a:lnTo>
                  <a:pt x="4033775" y="4982081"/>
                </a:lnTo>
                <a:cubicBezTo>
                  <a:pt x="4021424" y="4977217"/>
                  <a:pt x="4016874" y="4968841"/>
                  <a:pt x="4004535" y="4994649"/>
                </a:cubicBezTo>
                <a:cubicBezTo>
                  <a:pt x="3976667" y="4987584"/>
                  <a:pt x="3972977" y="5002913"/>
                  <a:pt x="3936843" y="5012106"/>
                </a:cubicBezTo>
                <a:cubicBezTo>
                  <a:pt x="3920506" y="5004382"/>
                  <a:pt x="3908535" y="5009071"/>
                  <a:pt x="3897272" y="5017761"/>
                </a:cubicBezTo>
                <a:cubicBezTo>
                  <a:pt x="3861092" y="5017265"/>
                  <a:pt x="3829628" y="5031135"/>
                  <a:pt x="3789757" y="5037999"/>
                </a:cubicBezTo>
                <a:cubicBezTo>
                  <a:pt x="3741007" y="5052705"/>
                  <a:pt x="3725129" y="5054682"/>
                  <a:pt x="3682510" y="5061922"/>
                </a:cubicBezTo>
                <a:lnTo>
                  <a:pt x="3610032" y="5094193"/>
                </a:lnTo>
                <a:lnTo>
                  <a:pt x="3603852" y="5092831"/>
                </a:lnTo>
                <a:cubicBezTo>
                  <a:pt x="3599580" y="5092212"/>
                  <a:pt x="3596726" y="5092212"/>
                  <a:pt x="3594733" y="5092667"/>
                </a:cubicBezTo>
                <a:lnTo>
                  <a:pt x="3594498" y="5092936"/>
                </a:lnTo>
                <a:lnTo>
                  <a:pt x="3585975" y="5092246"/>
                </a:lnTo>
                <a:cubicBezTo>
                  <a:pt x="3571623" y="5090455"/>
                  <a:pt x="3549389" y="5104654"/>
                  <a:pt x="3536132" y="5101945"/>
                </a:cubicBezTo>
                <a:cubicBezTo>
                  <a:pt x="3513940" y="5106241"/>
                  <a:pt x="3488622" y="5099976"/>
                  <a:pt x="3473220" y="5105606"/>
                </a:cubicBezTo>
                <a:lnTo>
                  <a:pt x="3400725" y="5117654"/>
                </a:lnTo>
                <a:lnTo>
                  <a:pt x="3375935" y="5106247"/>
                </a:lnTo>
                <a:lnTo>
                  <a:pt x="3348219" y="5109860"/>
                </a:lnTo>
                <a:cubicBezTo>
                  <a:pt x="3337206" y="5110533"/>
                  <a:pt x="3327054" y="5111295"/>
                  <a:pt x="3319639" y="5114795"/>
                </a:cubicBezTo>
                <a:lnTo>
                  <a:pt x="3248529" y="5133347"/>
                </a:lnTo>
                <a:lnTo>
                  <a:pt x="3210308" y="5119794"/>
                </a:lnTo>
                <a:cubicBezTo>
                  <a:pt x="3206088" y="5117870"/>
                  <a:pt x="3200152" y="5117326"/>
                  <a:pt x="3190375" y="5119915"/>
                </a:cubicBezTo>
                <a:lnTo>
                  <a:pt x="3188145" y="5121096"/>
                </a:lnTo>
                <a:cubicBezTo>
                  <a:pt x="3182625" y="5119116"/>
                  <a:pt x="3141856" y="5121682"/>
                  <a:pt x="3108596" y="5122416"/>
                </a:cubicBezTo>
                <a:cubicBezTo>
                  <a:pt x="3055968" y="5124842"/>
                  <a:pt x="3048940" y="5117475"/>
                  <a:pt x="2988584" y="5125502"/>
                </a:cubicBezTo>
                <a:cubicBezTo>
                  <a:pt x="2928853" y="5129690"/>
                  <a:pt x="2917951" y="5124649"/>
                  <a:pt x="2876540" y="5133019"/>
                </a:cubicBezTo>
                <a:lnTo>
                  <a:pt x="2626864" y="5133771"/>
                </a:lnTo>
                <a:cubicBezTo>
                  <a:pt x="2562348" y="5111858"/>
                  <a:pt x="2563422" y="5142456"/>
                  <a:pt x="2491422" y="5135486"/>
                </a:cubicBezTo>
                <a:cubicBezTo>
                  <a:pt x="2433091" y="5200962"/>
                  <a:pt x="2455709" y="5160483"/>
                  <a:pt x="2415617" y="5168715"/>
                </a:cubicBezTo>
                <a:lnTo>
                  <a:pt x="2290098" y="5166151"/>
                </a:lnTo>
                <a:cubicBezTo>
                  <a:pt x="2257057" y="5152522"/>
                  <a:pt x="2202458" y="5187690"/>
                  <a:pt x="2161714" y="5169302"/>
                </a:cubicBezTo>
                <a:cubicBezTo>
                  <a:pt x="2122714" y="5172302"/>
                  <a:pt x="2080450" y="5180350"/>
                  <a:pt x="2056089" y="5184144"/>
                </a:cubicBezTo>
                <a:cubicBezTo>
                  <a:pt x="2019828" y="5191108"/>
                  <a:pt x="1978839" y="5203797"/>
                  <a:pt x="1944153" y="5211084"/>
                </a:cubicBezTo>
                <a:cubicBezTo>
                  <a:pt x="1925867" y="5199079"/>
                  <a:pt x="1896027" y="5224183"/>
                  <a:pt x="1847968" y="5227868"/>
                </a:cubicBezTo>
                <a:cubicBezTo>
                  <a:pt x="1827977" y="5213971"/>
                  <a:pt x="1815570" y="5230544"/>
                  <a:pt x="1777083" y="5212267"/>
                </a:cubicBezTo>
                <a:cubicBezTo>
                  <a:pt x="1775439" y="5214216"/>
                  <a:pt x="1773397" y="5216035"/>
                  <a:pt x="1771025" y="5217668"/>
                </a:cubicBezTo>
                <a:cubicBezTo>
                  <a:pt x="1757251" y="5227146"/>
                  <a:pt x="1735528" y="5228402"/>
                  <a:pt x="1722509" y="5220470"/>
                </a:cubicBezTo>
                <a:cubicBezTo>
                  <a:pt x="1691779" y="5208440"/>
                  <a:pt x="1662321" y="5203305"/>
                  <a:pt x="1633941" y="5200774"/>
                </a:cubicBezTo>
                <a:lnTo>
                  <a:pt x="1586145" y="5210184"/>
                </a:lnTo>
                <a:cubicBezTo>
                  <a:pt x="1567948" y="5215416"/>
                  <a:pt x="1545900" y="5226363"/>
                  <a:pt x="1524748" y="5232173"/>
                </a:cubicBezTo>
                <a:cubicBezTo>
                  <a:pt x="1502586" y="5235395"/>
                  <a:pt x="1478013" y="5230993"/>
                  <a:pt x="1459242" y="5245044"/>
                </a:cubicBezTo>
                <a:cubicBezTo>
                  <a:pt x="1421474" y="5260197"/>
                  <a:pt x="1374524" y="5244220"/>
                  <a:pt x="1349457" y="5280705"/>
                </a:cubicBezTo>
                <a:cubicBezTo>
                  <a:pt x="1273276" y="5302389"/>
                  <a:pt x="1121512" y="5336260"/>
                  <a:pt x="1009212" y="5361227"/>
                </a:cubicBezTo>
                <a:cubicBezTo>
                  <a:pt x="939016" y="5373529"/>
                  <a:pt x="866895" y="5370149"/>
                  <a:pt x="808572" y="5377024"/>
                </a:cubicBezTo>
                <a:cubicBezTo>
                  <a:pt x="802823" y="5374184"/>
                  <a:pt x="726016" y="5397963"/>
                  <a:pt x="719549" y="5396991"/>
                </a:cubicBezTo>
                <a:lnTo>
                  <a:pt x="698795" y="5397657"/>
                </a:lnTo>
                <a:cubicBezTo>
                  <a:pt x="689833" y="5401894"/>
                  <a:pt x="683492" y="5402495"/>
                  <a:pt x="678327" y="5401487"/>
                </a:cubicBezTo>
                <a:lnTo>
                  <a:pt x="672784" y="5399085"/>
                </a:lnTo>
                <a:lnTo>
                  <a:pt x="658406" y="5400696"/>
                </a:lnTo>
                <a:lnTo>
                  <a:pt x="629185" y="5401132"/>
                </a:lnTo>
                <a:lnTo>
                  <a:pt x="624558" y="5403782"/>
                </a:lnTo>
                <a:lnTo>
                  <a:pt x="581798" y="5408438"/>
                </a:lnTo>
                <a:cubicBezTo>
                  <a:pt x="581736" y="5408865"/>
                  <a:pt x="581671" y="5409294"/>
                  <a:pt x="581608" y="5409722"/>
                </a:cubicBezTo>
                <a:cubicBezTo>
                  <a:pt x="580204" y="5412704"/>
                  <a:pt x="577331" y="5415106"/>
                  <a:pt x="571299" y="5416358"/>
                </a:cubicBezTo>
                <a:cubicBezTo>
                  <a:pt x="551623" y="5426267"/>
                  <a:pt x="484499" y="5459654"/>
                  <a:pt x="463549" y="5469173"/>
                </a:cubicBezTo>
                <a:cubicBezTo>
                  <a:pt x="453136" y="5470720"/>
                  <a:pt x="449731" y="5472678"/>
                  <a:pt x="445606" y="5473465"/>
                </a:cubicBezTo>
                <a:lnTo>
                  <a:pt x="438799" y="5473893"/>
                </a:lnTo>
                <a:cubicBezTo>
                  <a:pt x="417222" y="5482183"/>
                  <a:pt x="343312" y="5513407"/>
                  <a:pt x="316138" y="5523213"/>
                </a:cubicBezTo>
                <a:cubicBezTo>
                  <a:pt x="298481" y="5517132"/>
                  <a:pt x="286556" y="5522972"/>
                  <a:pt x="275748" y="5532726"/>
                </a:cubicBezTo>
                <a:cubicBezTo>
                  <a:pt x="238274" y="5535784"/>
                  <a:pt x="207076" y="5552679"/>
                  <a:pt x="166496" y="5563424"/>
                </a:cubicBezTo>
                <a:lnTo>
                  <a:pt x="0" y="5629888"/>
                </a:lnTo>
                <a:close/>
              </a:path>
            </a:pathLst>
          </a:cu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72614C1-CFE1-A069-0188-752480D960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41646" y="6093340"/>
            <a:ext cx="1919698" cy="527917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BAA7A834-06D7-2DE0-9102-33A1523442BA}"/>
              </a:ext>
            </a:extLst>
          </p:cNvPr>
          <p:cNvSpPr/>
          <p:nvPr/>
        </p:nvSpPr>
        <p:spPr>
          <a:xfrm>
            <a:off x="-60230" y="2943269"/>
            <a:ext cx="54492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ES" sz="2400" b="1" dirty="0">
                <a:solidFill>
                  <a:schemeClr val="bg1"/>
                </a:solidFill>
              </a:rPr>
              <a:t>Carrera: Ingeniería de Software con IA</a:t>
            </a:r>
            <a:endParaRPr lang="es-PE" sz="2400" b="1" dirty="0">
              <a:solidFill>
                <a:schemeClr val="bg1"/>
              </a:solidFill>
            </a:endParaRPr>
          </a:p>
        </p:txBody>
      </p:sp>
      <p:sp>
        <p:nvSpPr>
          <p:cNvPr id="3" name="Título 1">
            <a:extLst>
              <a:ext uri="{FF2B5EF4-FFF2-40B4-BE49-F238E27FC236}">
                <a16:creationId xmlns:a16="http://schemas.microsoft.com/office/drawing/2014/main" id="{92A143E3-1A38-5E2B-837F-A608C4C21952}"/>
              </a:ext>
            </a:extLst>
          </p:cNvPr>
          <p:cNvSpPr txBox="1">
            <a:spLocks/>
          </p:cNvSpPr>
          <p:nvPr/>
        </p:nvSpPr>
        <p:spPr>
          <a:xfrm>
            <a:off x="1415279" y="3174101"/>
            <a:ext cx="9492852" cy="32249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s-ES" sz="4800" b="1" dirty="0">
                <a:solidFill>
                  <a:schemeClr val="bg1"/>
                </a:solidFill>
              </a:rPr>
              <a:t>MÓDULOS Y PAQUETES PARA </a:t>
            </a:r>
            <a:r>
              <a:rPr lang="es-ES" sz="4800" b="1" dirty="0"/>
              <a:t>MACHINE </a:t>
            </a:r>
            <a:r>
              <a:rPr lang="es-PE" sz="4800" b="1" dirty="0"/>
              <a:t>LEARNING CON PYTHON</a:t>
            </a:r>
            <a:endParaRPr lang="es-PE" sz="13800" b="1" dirty="0"/>
          </a:p>
        </p:txBody>
      </p:sp>
    </p:spTree>
    <p:extLst>
      <p:ext uri="{BB962C8B-B14F-4D97-AF65-F5344CB8AC3E}">
        <p14:creationId xmlns:p14="http://schemas.microsoft.com/office/powerpoint/2010/main" val="38002759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B444D337-4D9F-40A8-BA84-C0BFA7A8A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0478D1D-B50E-41C8-8A55-36A53D449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C8A9758-C11D-6BD1-6242-5A9AC1D773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aphicFrame>
        <p:nvGraphicFramePr>
          <p:cNvPr id="5" name="Marcador de contenido 4">
            <a:extLst>
              <a:ext uri="{FF2B5EF4-FFF2-40B4-BE49-F238E27FC236}">
                <a16:creationId xmlns:a16="http://schemas.microsoft.com/office/drawing/2014/main" id="{D92BAF3A-B193-6680-F4A4-06978EFC46C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31517208"/>
              </p:ext>
            </p:extLst>
          </p:nvPr>
        </p:nvGraphicFramePr>
        <p:xfrm>
          <a:off x="3745208" y="1238008"/>
          <a:ext cx="7589406" cy="424839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589406">
                  <a:extLst>
                    <a:ext uri="{9D8B030D-6E8A-4147-A177-3AD203B41FA5}">
                      <a16:colId xmlns:a16="http://schemas.microsoft.com/office/drawing/2014/main" val="4147241662"/>
                    </a:ext>
                  </a:extLst>
                </a:gridCol>
              </a:tblGrid>
              <a:tr h="1752555">
                <a:tc>
                  <a:txBody>
                    <a:bodyPr/>
                    <a:lstStyle/>
                    <a:p>
                      <a:pPr algn="just"/>
                      <a:r>
                        <a:rPr lang="es-ES" sz="3300" b="1" dirty="0"/>
                        <a:t>RESULTADO DE APRENDIZAJE:</a:t>
                      </a:r>
                    </a:p>
                    <a:p>
                      <a:pPr algn="just"/>
                      <a:r>
                        <a:rPr lang="es-ES" sz="1800" dirty="0">
                          <a:latin typeface="+mj-lt"/>
                        </a:rPr>
                        <a:t>Estudiante entienda qué es el Deep </a:t>
                      </a:r>
                      <a:r>
                        <a:rPr lang="es-ES" sz="1800" dirty="0" err="1">
                          <a:latin typeface="+mj-lt"/>
                        </a:rPr>
                        <a:t>Learning</a:t>
                      </a:r>
                      <a:r>
                        <a:rPr lang="es-ES" sz="1800" dirty="0">
                          <a:latin typeface="+mj-lt"/>
                        </a:rPr>
                        <a:t>, cómo aprende una red neuronal a nivel conceptual, y sea capaz de reconocer sus aplicaciones, implicancias éticas y las herramientas (</a:t>
                      </a:r>
                      <a:r>
                        <a:rPr lang="es-ES" sz="1800" dirty="0" err="1">
                          <a:latin typeface="+mj-lt"/>
                        </a:rPr>
                        <a:t>TensorFlow</a:t>
                      </a:r>
                      <a:r>
                        <a:rPr lang="es-ES" sz="1800" dirty="0">
                          <a:latin typeface="+mj-lt"/>
                        </a:rPr>
                        <a:t>/</a:t>
                      </a:r>
                      <a:r>
                        <a:rPr lang="es-ES" sz="1800" dirty="0" err="1">
                          <a:latin typeface="+mj-lt"/>
                        </a:rPr>
                        <a:t>Keras</a:t>
                      </a:r>
                      <a:r>
                        <a:rPr lang="es-ES" sz="1800" dirty="0">
                          <a:latin typeface="+mj-lt"/>
                        </a:rPr>
                        <a:t>) para implementarlo </a:t>
                      </a:r>
                      <a:endParaRPr lang="es-ES" sz="1800" b="1" dirty="0">
                        <a:latin typeface="+mj-lt"/>
                      </a:endParaRP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1021421266"/>
                  </a:ext>
                </a:extLst>
              </a:tr>
              <a:tr h="2495837"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ES" sz="2400" b="1" dirty="0"/>
                        <a:t>CONTENIDO: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Deep Learning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jerarquía conceptual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Redes neuronales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funciones de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forward </a:t>
                      </a:r>
                    </a:p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600" dirty="0">
                          <a:latin typeface="+mj-lt"/>
                        </a:rPr>
                        <a:t>NLP</a:t>
                      </a:r>
                    </a:p>
                  </a:txBody>
                  <a:tcPr marL="167640" marR="167640" marT="83820" marB="83820"/>
                </a:tc>
                <a:extLst>
                  <a:ext uri="{0D108BD9-81ED-4DB2-BD59-A6C34878D82A}">
                    <a16:rowId xmlns:a16="http://schemas.microsoft.com/office/drawing/2014/main" val="864267000"/>
                  </a:ext>
                </a:extLst>
              </a:tr>
            </a:tbl>
          </a:graphicData>
        </a:graphic>
      </p:graphicFrame>
      <p:pic>
        <p:nvPicPr>
          <p:cNvPr id="24" name="Imagen 23" descr="Logotipo&#10;&#10;El contenido generado por IA puede ser incorrecto.">
            <a:extLst>
              <a:ext uri="{FF2B5EF4-FFF2-40B4-BE49-F238E27FC236}">
                <a16:creationId xmlns:a16="http://schemas.microsoft.com/office/drawing/2014/main" id="{ECBE9950-37D9-B3B7-88E2-E5AF18C8C7D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157" y="1791997"/>
            <a:ext cx="3103054" cy="3103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61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upo 13">
            <a:extLst>
              <a:ext uri="{FF2B5EF4-FFF2-40B4-BE49-F238E27FC236}">
                <a16:creationId xmlns:a16="http://schemas.microsoft.com/office/drawing/2014/main" id="{B34C0DB6-D565-C3A1-DDB0-1B9422633FE5}"/>
              </a:ext>
            </a:extLst>
          </p:cNvPr>
          <p:cNvGrpSpPr/>
          <p:nvPr/>
        </p:nvGrpSpPr>
        <p:grpSpPr>
          <a:xfrm>
            <a:off x="548640" y="1371600"/>
            <a:ext cx="6675120" cy="4206240"/>
            <a:chOff x="548640" y="1371600"/>
            <a:chExt cx="6675120" cy="4206240"/>
          </a:xfrm>
        </p:grpSpPr>
        <p:sp>
          <p:nvSpPr>
            <p:cNvPr id="5" name="Shape 3"/>
            <p:cNvSpPr/>
            <p:nvPr/>
          </p:nvSpPr>
          <p:spPr>
            <a:xfrm>
              <a:off x="548640" y="1371600"/>
              <a:ext cx="6675120" cy="4206240"/>
            </a:xfrm>
            <a:prstGeom prst="roundRect">
              <a:avLst>
                <a:gd name="adj" fmla="val 1739"/>
              </a:avLst>
            </a:prstGeom>
            <a:solidFill>
              <a:srgbClr val="1B2A4A"/>
            </a:solidFill>
            <a:ln/>
          </p:spPr>
        </p:sp>
        <p:sp>
          <p:nvSpPr>
            <p:cNvPr id="6" name="Text 4"/>
            <p:cNvSpPr txBox="1"/>
            <p:nvPr/>
          </p:nvSpPr>
          <p:spPr>
            <a:xfrm>
              <a:off x="822960" y="1737360"/>
              <a:ext cx="6126480" cy="14630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3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¿Cómo aprende</a:t>
              </a:r>
              <a:endParaRPr lang="es-PE" sz="3000" dirty="0"/>
            </a:p>
            <a:p>
              <a:pPr marL="0" indent="0" algn="ctr">
                <a:buNone/>
              </a:pPr>
              <a:r>
                <a:rPr lang="es-PE" sz="3000" b="1" dirty="0">
                  <a:solidFill>
                    <a:srgbClr val="FFFFFF"/>
                  </a:solidFill>
                  <a:latin typeface="Cambria" pitchFamily="34" charset="0"/>
                  <a:ea typeface="Cambria" pitchFamily="34" charset="-122"/>
                  <a:cs typeface="Cambria" pitchFamily="34" charset="-120"/>
                </a:rPr>
                <a:t>una computadora?</a:t>
              </a:r>
              <a:endParaRPr lang="es-PE" sz="3000" dirty="0"/>
            </a:p>
          </p:txBody>
        </p:sp>
      </p:grpSp>
      <p:grpSp>
        <p:nvGrpSpPr>
          <p:cNvPr id="15" name="Grupo 14">
            <a:extLst>
              <a:ext uri="{FF2B5EF4-FFF2-40B4-BE49-F238E27FC236}">
                <a16:creationId xmlns:a16="http://schemas.microsoft.com/office/drawing/2014/main" id="{A6360A0D-3B44-752D-795D-7FBFE9D48BB2}"/>
              </a:ext>
            </a:extLst>
          </p:cNvPr>
          <p:cNvGrpSpPr/>
          <p:nvPr/>
        </p:nvGrpSpPr>
        <p:grpSpPr>
          <a:xfrm>
            <a:off x="960120" y="2984308"/>
            <a:ext cx="6126480" cy="2103120"/>
            <a:chOff x="5105095" y="4640580"/>
            <a:chExt cx="6126480" cy="2103120"/>
          </a:xfrm>
        </p:grpSpPr>
        <p:sp>
          <p:nvSpPr>
            <p:cNvPr id="7" name="Text 5"/>
            <p:cNvSpPr txBox="1"/>
            <p:nvPr/>
          </p:nvSpPr>
          <p:spPr>
            <a:xfrm>
              <a:off x="5105095" y="4640580"/>
              <a:ext cx="6126480" cy="10972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16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Programar = A través de reglas.</a:t>
              </a:r>
              <a:endParaRPr lang="es-PE" sz="1600" dirty="0"/>
            </a:p>
            <a:p>
              <a:pPr marL="0" indent="0">
                <a:buNone/>
              </a:pPr>
              <a:r>
                <a:rPr lang="es-PE" sz="1600" i="1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Entrenar = con ejemplos y dejar que el sistema encuentre el patrón.</a:t>
              </a:r>
              <a:endParaRPr lang="es-PE" sz="1600" dirty="0"/>
            </a:p>
          </p:txBody>
        </p:sp>
        <p:sp>
          <p:nvSpPr>
            <p:cNvPr id="8" name="Text 6"/>
            <p:cNvSpPr txBox="1"/>
            <p:nvPr/>
          </p:nvSpPr>
          <p:spPr>
            <a:xfrm>
              <a:off x="5105095" y="5829300"/>
              <a:ext cx="6126480" cy="9144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s-PE" sz="1300" dirty="0">
                  <a:solidFill>
                    <a:srgbClr val="CADCFC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Reconocer un gato en una foto es casi imposible de programar con reglas explícitas  pero un humano lo hace sin esfuerzo. Ahí empieza todo.</a:t>
              </a:r>
              <a:endParaRPr lang="es-PE" sz="1300" dirty="0"/>
            </a:p>
          </p:txBody>
        </p:sp>
      </p:grpSp>
      <p:sp>
        <p:nvSpPr>
          <p:cNvPr id="9" name="Shape 7"/>
          <p:cNvSpPr/>
          <p:nvPr/>
        </p:nvSpPr>
        <p:spPr>
          <a:xfrm>
            <a:off x="7452360" y="1371600"/>
            <a:ext cx="4160520" cy="4206240"/>
          </a:xfrm>
          <a:prstGeom prst="roundRect">
            <a:avLst>
              <a:gd name="adj" fmla="val 1758"/>
            </a:avLst>
          </a:prstGeom>
          <a:solidFill>
            <a:srgbClr val="E8F7F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26680" y="1600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Preguntas para plantear</a:t>
            </a:r>
            <a:endParaRPr lang="es-PE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26680" y="205740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diferencia hay entre dar una regla y dar ejemplos?</a:t>
            </a:r>
            <a:endParaRPr lang="es-PE" sz="13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tarea sería casi imposible resolver con reglas explícitas, pero un humano hace sin esfuerzo?</a:t>
            </a:r>
            <a:endParaRPr lang="es-PE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86D477-160F-4ED6-20A1-707B895F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1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4486D477-160F-4ED6-20A1-707B895F70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2" name="TextBox 3">
            <a:extLst>
              <a:ext uri="{FF2B5EF4-FFF2-40B4-BE49-F238E27FC236}">
                <a16:creationId xmlns:a16="http://schemas.microsoft.com/office/drawing/2014/main" id="{2A792DC4-A54C-53FA-0830-983AA7294135}"/>
              </a:ext>
            </a:extLst>
          </p:cNvPr>
          <p:cNvSpPr txBox="1"/>
          <p:nvPr/>
        </p:nvSpPr>
        <p:spPr>
          <a:xfrm>
            <a:off x="571500" y="1334554"/>
            <a:ext cx="5524500" cy="977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b="0" i="0" u="none" dirty="0">
                <a:solidFill>
                  <a:srgbClr val="334155"/>
                </a:solidFill>
                <a:latin typeface="+mj-lt"/>
              </a:rPr>
              <a:t>En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enfoque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tradicional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ingresamos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explícitas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para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obtener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un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 En 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Machine Learning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, la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computadora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descubre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las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a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partir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3" name="TextBox 5">
            <a:extLst>
              <a:ext uri="{FF2B5EF4-FFF2-40B4-BE49-F238E27FC236}">
                <a16:creationId xmlns:a16="http://schemas.microsoft.com/office/drawing/2014/main" id="{6BC25368-0B57-DD37-D454-EDF1E2637A86}"/>
              </a:ext>
            </a:extLst>
          </p:cNvPr>
          <p:cNvSpPr txBox="1"/>
          <p:nvPr/>
        </p:nvSpPr>
        <p:spPr>
          <a:xfrm>
            <a:off x="457677" y="2941687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 err="1">
                <a:solidFill>
                  <a:srgbClr val="334155"/>
                </a:solidFill>
                <a:latin typeface="+mj-lt"/>
              </a:rPr>
              <a:t>Paradigma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Tradicional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Datos + Reglas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explicitas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es-ES" b="0" i="0" u="none" dirty="0">
                <a:solidFill>
                  <a:srgbClr val="334155"/>
                </a:solidFill>
                <a:latin typeface="+mj-lt"/>
              </a:rPr>
              <a:t>=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Resultado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deseado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" name="TextBox 7">
            <a:extLst>
              <a:ext uri="{FF2B5EF4-FFF2-40B4-BE49-F238E27FC236}">
                <a16:creationId xmlns:a16="http://schemas.microsoft.com/office/drawing/2014/main" id="{19E3D13D-7EA8-C740-2884-C4974C377D3A}"/>
              </a:ext>
            </a:extLst>
          </p:cNvPr>
          <p:cNvSpPr txBox="1"/>
          <p:nvPr/>
        </p:nvSpPr>
        <p:spPr>
          <a:xfrm>
            <a:off x="439826" y="3662554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+mj-lt"/>
              </a:rPr>
              <a:t>Machine Learning: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Datos +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Respuestas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lang="es-ES" b="0" i="0" u="none" dirty="0">
                <a:solidFill>
                  <a:srgbClr val="334155"/>
                </a:solidFill>
                <a:latin typeface="+mj-lt"/>
              </a:rPr>
              <a:t>=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Algoritmo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aprende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Patrones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16" name="TextBox 9">
            <a:extLst>
              <a:ext uri="{FF2B5EF4-FFF2-40B4-BE49-F238E27FC236}">
                <a16:creationId xmlns:a16="http://schemas.microsoft.com/office/drawing/2014/main" id="{D77C9943-BA8F-5655-29A9-F6E4A0A31CFB}"/>
              </a:ext>
            </a:extLst>
          </p:cNvPr>
          <p:cNvSpPr txBox="1"/>
          <p:nvPr/>
        </p:nvSpPr>
        <p:spPr>
          <a:xfrm>
            <a:off x="457677" y="4512772"/>
            <a:ext cx="5787847" cy="490327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b="1" i="0" u="none" dirty="0">
                <a:solidFill>
                  <a:srgbClr val="334155"/>
                </a:solidFill>
                <a:latin typeface="+mj-lt"/>
              </a:rPr>
              <a:t>Caso </a:t>
            </a:r>
            <a:r>
              <a:rPr b="1" i="0" u="none" dirty="0" err="1">
                <a:solidFill>
                  <a:srgbClr val="334155"/>
                </a:solidFill>
                <a:latin typeface="+mj-lt"/>
              </a:rPr>
              <a:t>Práctico</a:t>
            </a:r>
            <a:r>
              <a:rPr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Reconocimiento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dígitos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(MNIST)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mediante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miles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ejemplos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lugar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reglas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b="0" i="0" u="none" dirty="0" err="1">
                <a:solidFill>
                  <a:srgbClr val="334155"/>
                </a:solidFill>
                <a:latin typeface="+mj-lt"/>
              </a:rPr>
              <a:t>manuales</a:t>
            </a:r>
            <a:r>
              <a:rPr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pic>
        <p:nvPicPr>
          <p:cNvPr id="17" name="Picture 10" descr="image.png">
            <a:extLst>
              <a:ext uri="{FF2B5EF4-FFF2-40B4-BE49-F238E27FC236}">
                <a16:creationId xmlns:a16="http://schemas.microsoft.com/office/drawing/2014/main" id="{F9C626DE-CDC2-8F6B-47E4-DC13CEE5850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946" t="-465" r="15814" b="-1422"/>
          <a:stretch/>
        </p:blipFill>
        <p:spPr>
          <a:xfrm>
            <a:off x="6372225" y="1084790"/>
            <a:ext cx="5362097" cy="5072332"/>
          </a:xfrm>
          <a:prstGeom prst="rect">
            <a:avLst/>
          </a:prstGeom>
        </p:spPr>
      </p:pic>
      <p:sp>
        <p:nvSpPr>
          <p:cNvPr id="18" name="TextBox 11">
            <a:extLst>
              <a:ext uri="{FF2B5EF4-FFF2-40B4-BE49-F238E27FC236}">
                <a16:creationId xmlns:a16="http://schemas.microsoft.com/office/drawing/2014/main" id="{0D370209-1976-32B0-B6BC-09628C543172}"/>
              </a:ext>
            </a:extLst>
          </p:cNvPr>
          <p:cNvSpPr txBox="1"/>
          <p:nvPr/>
        </p:nvSpPr>
        <p:spPr>
          <a:xfrm>
            <a:off x="571500" y="476250"/>
            <a:ext cx="1160145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50" b="1" i="0" u="none" dirty="0" err="1">
                <a:solidFill>
                  <a:srgbClr val="0F172A"/>
                </a:solidFill>
                <a:latin typeface="Space Grotesk"/>
              </a:rPr>
              <a:t>Programación</a:t>
            </a:r>
            <a:r>
              <a:rPr sz="2850" b="1" i="0" u="none" dirty="0">
                <a:solidFill>
                  <a:srgbClr val="0F172A"/>
                </a:solidFill>
                <a:latin typeface="Space Grotesk"/>
              </a:rPr>
              <a:t> </a:t>
            </a:r>
            <a:r>
              <a:rPr sz="2850" b="1" i="0" u="none" dirty="0" err="1">
                <a:solidFill>
                  <a:srgbClr val="0F172A"/>
                </a:solidFill>
                <a:latin typeface="Space Grotesk"/>
              </a:rPr>
              <a:t>Tradicional</a:t>
            </a:r>
            <a:r>
              <a:rPr sz="2850" b="1" i="0" u="none" dirty="0">
                <a:solidFill>
                  <a:srgbClr val="0F172A"/>
                </a:solidFill>
                <a:latin typeface="Space Grotesk"/>
              </a:rPr>
              <a:t> vs ML</a:t>
            </a:r>
          </a:p>
        </p:txBody>
      </p:sp>
    </p:spTree>
    <p:extLst>
      <p:ext uri="{BB962C8B-B14F-4D97-AF65-F5344CB8AC3E}">
        <p14:creationId xmlns:p14="http://schemas.microsoft.com/office/powerpoint/2010/main" val="9897990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IA, ML y Deep Learning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son sinónimos: son círculos concéntricos, cada uno contenido en el anterior.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5303520" cy="5303520"/>
          </a:xfrm>
          <a:prstGeom prst="ellipse">
            <a:avLst/>
          </a:prstGeom>
          <a:solidFill>
            <a:srgbClr val="0F1B33">
              <a:alpha val="95000"/>
            </a:srgbClr>
          </a:solidFill>
          <a:ln w="19050">
            <a:solidFill>
              <a:srgbClr val="1B2A4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2194560"/>
            <a:ext cx="3657600" cy="3657600"/>
          </a:xfrm>
          <a:prstGeom prst="ellipse">
            <a:avLst/>
          </a:prstGeom>
          <a:solidFill>
            <a:srgbClr val="1B2A4A">
              <a:alpha val="95000"/>
            </a:srgbClr>
          </a:solidFill>
          <a:ln w="19050">
            <a:solidFill>
              <a:srgbClr val="1BA9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0" y="3017520"/>
            <a:ext cx="2011680" cy="2011680"/>
          </a:xfrm>
          <a:prstGeom prst="ellipse">
            <a:avLst/>
          </a:prstGeom>
          <a:solidFill>
            <a:srgbClr val="1BA9C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15087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IA</a:t>
            </a:r>
            <a:endParaRPr lang="es-PE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1463040" y="233172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s-PE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2286000" y="370332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</a:t>
            </a:r>
            <a:endParaRPr lang="es-PE" sz="1300" dirty="0"/>
          </a:p>
        </p:txBody>
      </p:sp>
      <p:sp>
        <p:nvSpPr>
          <p:cNvPr id="12" name="Shape 10"/>
          <p:cNvSpPr/>
          <p:nvPr/>
        </p:nvSpPr>
        <p:spPr>
          <a:xfrm>
            <a:off x="6766560" y="15544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95160" y="16459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Artificial</a:t>
            </a:r>
            <a:endParaRPr lang="es-P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995160" y="19933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Cualquier técnica que imita comportamiento inteligente. Incluye sistemas basados en reglas, sin aprendizaje automático.</a:t>
            </a:r>
            <a:endParaRPr lang="es-PE" sz="1150" dirty="0"/>
          </a:p>
        </p:txBody>
      </p:sp>
      <p:sp>
        <p:nvSpPr>
          <p:cNvPr id="15" name="Shape 13"/>
          <p:cNvSpPr/>
          <p:nvPr/>
        </p:nvSpPr>
        <p:spPr>
          <a:xfrm>
            <a:off x="6766560" y="31546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9516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995160" y="35935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infiere reglas a partir de datos. Requiere que un humano diseñe manualmente las características (</a:t>
            </a:r>
            <a:r>
              <a:rPr lang="es-PE" sz="115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</a:t>
            </a: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s-PE" sz="1150" dirty="0"/>
          </a:p>
        </p:txBody>
      </p:sp>
      <p:sp>
        <p:nvSpPr>
          <p:cNvPr id="18" name="Shape 16"/>
          <p:cNvSpPr/>
          <p:nvPr/>
        </p:nvSpPr>
        <p:spPr>
          <a:xfrm>
            <a:off x="6766560" y="4754880"/>
            <a:ext cx="4846320" cy="1417320"/>
          </a:xfrm>
          <a:prstGeom prst="roundRect">
            <a:avLst>
              <a:gd name="adj" fmla="val 3871"/>
            </a:avLst>
          </a:prstGeom>
          <a:solidFill>
            <a:srgbClr val="E8F7FA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99516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s-PE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995160" y="5193792"/>
            <a:ext cx="4434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 con múltiples capas que aprenden automáticamente qué características son relevantes, sin diseño manual.</a:t>
            </a:r>
            <a:endParaRPr lang="es-PE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s-PE" sz="1100" dirty="0"/>
          </a:p>
        </p:txBody>
      </p:sp>
      <p:pic>
        <p:nvPicPr>
          <p:cNvPr id="22" name="Imagen 21">
            <a:extLst>
              <a:ext uri="{FF2B5EF4-FFF2-40B4-BE49-F238E27FC236}">
                <a16:creationId xmlns:a16="http://schemas.microsoft.com/office/drawing/2014/main" id="{DE293EDB-4E62-FD2B-B2DB-8BF0DAF7108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 artificiales</a:t>
            </a:r>
            <a:endParaRPr lang="es-PE" sz="26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x1</a:t>
            </a:r>
            <a:endParaRPr lang="es-PE" sz="1500" dirty="0">
              <a:latin typeface="+mj-lt"/>
            </a:endParaRPr>
          </a:p>
        </p:txBody>
      </p:sp>
      <p:sp>
        <p:nvSpPr>
          <p:cNvPr id="7" name="Shape 5"/>
          <p:cNvSpPr/>
          <p:nvPr/>
        </p:nvSpPr>
        <p:spPr>
          <a:xfrm>
            <a:off x="1828800" y="199339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286000" y="16916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w1</a:t>
            </a:r>
            <a:endParaRPr lang="es-PE" sz="110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>
            <a:off x="640080" y="246888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0080" y="246888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x2</a:t>
            </a:r>
            <a:endParaRPr lang="es-PE" sz="1500" dirty="0">
              <a:latin typeface="+mj-lt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0" y="272491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286000" y="242316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w2</a:t>
            </a:r>
            <a:endParaRPr lang="es-PE" sz="1100" dirty="0">
              <a:latin typeface="+mj-lt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40080" y="32004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2A4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32004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50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x3</a:t>
            </a:r>
            <a:endParaRPr lang="es-PE" sz="1500" dirty="0">
              <a:latin typeface="+mj-lt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8800" y="3456432"/>
            <a:ext cx="17373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286000" y="31546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i="1" dirty="0">
                <a:solidFill>
                  <a:srgbClr val="5A6472"/>
                </a:solidFill>
                <a:latin typeface="+mj-lt"/>
                <a:ea typeface="Calibri" pitchFamily="34" charset="-122"/>
                <a:cs typeface="Calibri" pitchFamily="34" charset="-120"/>
              </a:rPr>
              <a:t>w3</a:t>
            </a:r>
            <a:endParaRPr lang="es-PE" sz="1100" dirty="0">
              <a:latin typeface="+mj-lt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566160" y="2103120"/>
            <a:ext cx="1371600" cy="1371600"/>
          </a:xfrm>
          <a:prstGeom prst="ellipse">
            <a:avLst/>
          </a:prstGeom>
          <a:solidFill>
            <a:srgbClr val="1BA9C2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3566160" y="210312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Σ + b</a:t>
            </a:r>
            <a:endParaRPr lang="es-PE" sz="160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937760" y="2788920"/>
            <a:ext cx="82296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760720" y="2331720"/>
            <a:ext cx="914400" cy="914400"/>
          </a:xfrm>
          <a:prstGeom prst="ellipse">
            <a:avLst/>
          </a:prstGeom>
          <a:solidFill>
            <a:srgbClr val="1B2A4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760720" y="233172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2000" b="1" i="1" dirty="0">
                <a:solidFill>
                  <a:srgbClr val="FFFFFF"/>
                </a:solidFill>
                <a:latin typeface="+mj-lt"/>
                <a:ea typeface="Cambria" pitchFamily="34" charset="-122"/>
                <a:cs typeface="Cambria" pitchFamily="34" charset="-120"/>
              </a:rPr>
              <a:t>f</a:t>
            </a:r>
            <a:endParaRPr lang="es-PE" sz="2000" dirty="0">
              <a:latin typeface="+mj-lt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675120" y="2788920"/>
            <a:ext cx="731520" cy="0"/>
          </a:xfrm>
          <a:prstGeom prst="line">
            <a:avLst/>
          </a:prstGeom>
          <a:noFill/>
          <a:ln w="15240">
            <a:solidFill>
              <a:srgbClr val="5A647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06640" y="2514600"/>
            <a:ext cx="1188720" cy="502920"/>
          </a:xfrm>
          <a:prstGeom prst="roundRect">
            <a:avLst>
              <a:gd name="adj" fmla="val 10909"/>
            </a:avLst>
          </a:prstGeom>
          <a:solidFill>
            <a:srgbClr val="1BA9C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406640" y="2514600"/>
            <a:ext cx="1188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20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salida</a:t>
            </a:r>
            <a:endParaRPr lang="es-PE" sz="1200" dirty="0">
              <a:latin typeface="+mj-lt"/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548640" y="3886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salida = f(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w₁x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₁ +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w₂x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₂ + </a:t>
            </a:r>
            <a:r>
              <a:rPr lang="es-PE" sz="15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w₃x</a:t>
            </a:r>
            <a:r>
              <a:rPr lang="es-PE" sz="15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₃ + b )</a:t>
            </a:r>
            <a:endParaRPr lang="es-PE" sz="1500" dirty="0"/>
          </a:p>
        </p:txBody>
      </p:sp>
      <p:sp>
        <p:nvSpPr>
          <p:cNvPr id="26" name="Shape 24"/>
          <p:cNvSpPr/>
          <p:nvPr/>
        </p:nvSpPr>
        <p:spPr>
          <a:xfrm>
            <a:off x="548640" y="4434840"/>
            <a:ext cx="8138160" cy="1737360"/>
          </a:xfrm>
          <a:prstGeom prst="roundRect">
            <a:avLst>
              <a:gd name="adj" fmla="val 3158"/>
            </a:avLst>
          </a:prstGeom>
          <a:solidFill>
            <a:srgbClr val="E8F7FA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77240" y="45720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Cuidado con la analogía biológica</a:t>
            </a:r>
            <a:endParaRPr lang="es-PE" sz="1300" dirty="0">
              <a:latin typeface="+mj-lt"/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777240" y="4892040"/>
            <a:ext cx="7680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La neurona artificial no “dispara” como una biológica ni tiene plasticidad sináptica real. Es una inspiración histórica del nombre, no una equivalencia funcional.</a:t>
            </a:r>
            <a:endParaRPr lang="es-PE" sz="1250" dirty="0">
              <a:latin typeface="+mj-lt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915400" y="1737360"/>
            <a:ext cx="2743200" cy="4434840"/>
          </a:xfrm>
          <a:prstGeom prst="roundRect">
            <a:avLst>
              <a:gd name="adj" fmla="val 2000"/>
            </a:avLst>
          </a:prstGeom>
          <a:solidFill>
            <a:srgbClr val="F2F4F7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9098280" y="187452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Funciones de activación</a:t>
            </a:r>
            <a:endParaRPr lang="es-PE" sz="1300" dirty="0">
              <a:latin typeface="+mj-lt"/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9098280" y="2286000"/>
            <a:ext cx="2377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 err="1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ReLU</a:t>
            </a: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 — la más usada en capas ocultas</a:t>
            </a:r>
            <a:endParaRPr lang="es-PE" sz="1150" dirty="0">
              <a:latin typeface="+mj-lt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Sigmoide — comprime entre 0 y 1</a:t>
            </a:r>
            <a:endParaRPr lang="es-PE" sz="1150" dirty="0">
              <a:latin typeface="+mj-lt"/>
            </a:endParaRPr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s-PE" sz="1150" dirty="0" err="1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Softmax</a:t>
            </a:r>
            <a:r>
              <a:rPr lang="es-PE" sz="1150" dirty="0">
                <a:solidFill>
                  <a:srgbClr val="222222"/>
                </a:solidFill>
                <a:latin typeface="+mj-lt"/>
                <a:ea typeface="Calibri" pitchFamily="34" charset="-122"/>
                <a:cs typeface="Calibri" pitchFamily="34" charset="-120"/>
              </a:rPr>
              <a:t> — probabilidades en la capa de salida (clasificación)</a:t>
            </a:r>
            <a:endParaRPr lang="es-PE" sz="1150" dirty="0">
              <a:latin typeface="+mj-lt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s-PE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Redes neuronales artificiales: </a:t>
            </a:r>
            <a:r>
              <a:rPr lang="es-ES" sz="2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el Perceptrón y los Pesos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3" name="TextBox 4">
            <a:extLst>
              <a:ext uri="{FF2B5EF4-FFF2-40B4-BE49-F238E27FC236}">
                <a16:creationId xmlns:a16="http://schemas.microsoft.com/office/drawing/2014/main" id="{A902D29B-203D-01DC-1059-44874BCF9349}"/>
              </a:ext>
            </a:extLst>
          </p:cNvPr>
          <p:cNvSpPr txBox="1"/>
          <p:nvPr/>
        </p:nvSpPr>
        <p:spPr>
          <a:xfrm>
            <a:off x="583633" y="1457058"/>
            <a:ext cx="560070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lang="es-PE" sz="2400" b="1" i="0" u="none" dirty="0">
                <a:solidFill>
                  <a:srgbClr val="1E293B"/>
                </a:solidFill>
                <a:latin typeface="+mj-lt"/>
              </a:rPr>
              <a:t>La neurona artificial</a:t>
            </a:r>
          </a:p>
        </p:txBody>
      </p:sp>
      <p:sp>
        <p:nvSpPr>
          <p:cNvPr id="34" name="TextBox 5">
            <a:extLst>
              <a:ext uri="{FF2B5EF4-FFF2-40B4-BE49-F238E27FC236}">
                <a16:creationId xmlns:a16="http://schemas.microsoft.com/office/drawing/2014/main" id="{A479D56D-91BA-B18C-C6DB-DDF6B2B7D5AC}"/>
              </a:ext>
            </a:extLst>
          </p:cNvPr>
          <p:cNvSpPr txBox="1"/>
          <p:nvPr/>
        </p:nvSpPr>
        <p:spPr>
          <a:xfrm>
            <a:off x="619125" y="2112140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La unidad básica procesa entradas ( ) multiplicadas por pesos ( ) y añade un sesgo ( ).</a:t>
            </a:r>
          </a:p>
        </p:txBody>
      </p:sp>
      <p:sp>
        <p:nvSpPr>
          <p:cNvPr id="35" name="TextBox 6">
            <a:extLst>
              <a:ext uri="{FF2B5EF4-FFF2-40B4-BE49-F238E27FC236}">
                <a16:creationId xmlns:a16="http://schemas.microsoft.com/office/drawing/2014/main" id="{1147AFA7-7962-5699-5114-223878ACEAD3}"/>
              </a:ext>
            </a:extLst>
          </p:cNvPr>
          <p:cNvSpPr txBox="1"/>
          <p:nvPr/>
        </p:nvSpPr>
        <p:spPr>
          <a:xfrm>
            <a:off x="603520" y="3797527"/>
            <a:ext cx="53340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lang="es-PE" sz="1600" b="1" i="0" u="none" dirty="0">
                <a:solidFill>
                  <a:srgbClr val="334155"/>
                </a:solidFill>
                <a:latin typeface="+mj-lt"/>
              </a:rPr>
              <a:t>Pesos (w):</a:t>
            </a: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 Regulan la importancia de cada entrada.</a:t>
            </a:r>
            <a:r>
              <a:rPr lang="es-PE" sz="2400" dirty="0">
                <a:latin typeface="+mj-lt"/>
              </a:rPr>
              <a:t>
</a:t>
            </a:r>
            <a:r>
              <a:rPr lang="es-PE" sz="1600" b="1" i="0" u="none" dirty="0">
                <a:solidFill>
                  <a:srgbClr val="334155"/>
                </a:solidFill>
                <a:latin typeface="+mj-lt"/>
              </a:rPr>
              <a:t>Sesgo (b):</a:t>
            </a:r>
            <a:r>
              <a:rPr lang="es-PE" sz="1600" b="0" i="0" u="none" dirty="0">
                <a:solidFill>
                  <a:srgbClr val="334155"/>
                </a:solidFill>
                <a:latin typeface="+mj-lt"/>
              </a:rPr>
              <a:t> Permite desplazar la función de activación.</a:t>
            </a:r>
          </a:p>
        </p:txBody>
      </p:sp>
      <p:pic>
        <p:nvPicPr>
          <p:cNvPr id="36" name="Picture 7" descr="image.png">
            <a:extLst>
              <a:ext uri="{FF2B5EF4-FFF2-40B4-BE49-F238E27FC236}">
                <a16:creationId xmlns:a16="http://schemas.microsoft.com/office/drawing/2014/main" id="{CA4CC7CA-971D-4A1E-10DE-29691F4FDC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19475" y="3078658"/>
            <a:ext cx="141535" cy="113258"/>
          </a:xfrm>
          <a:prstGeom prst="rect">
            <a:avLst/>
          </a:prstGeom>
        </p:spPr>
      </p:pic>
      <p:pic>
        <p:nvPicPr>
          <p:cNvPr id="37" name="Picture 8" descr="image.png">
            <a:extLst>
              <a:ext uri="{FF2B5EF4-FFF2-40B4-BE49-F238E27FC236}">
                <a16:creationId xmlns:a16="http://schemas.microsoft.com/office/drawing/2014/main" id="{FDF63C13-F7FD-7880-17D4-099449E96D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935" y="3078658"/>
            <a:ext cx="177551" cy="113258"/>
          </a:xfrm>
          <a:prstGeom prst="rect">
            <a:avLst/>
          </a:prstGeom>
        </p:spPr>
      </p:pic>
      <p:pic>
        <p:nvPicPr>
          <p:cNvPr id="38" name="Picture 9" descr="image.png">
            <a:extLst>
              <a:ext uri="{FF2B5EF4-FFF2-40B4-BE49-F238E27FC236}">
                <a16:creationId xmlns:a16="http://schemas.microsoft.com/office/drawing/2014/main" id="{F8E96EC4-289C-6E25-F0A5-3813D36A7CD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85975" y="3283446"/>
            <a:ext cx="80962" cy="114300"/>
          </a:xfrm>
          <a:prstGeom prst="rect">
            <a:avLst/>
          </a:prstGeom>
        </p:spPr>
      </p:pic>
      <p:pic>
        <p:nvPicPr>
          <p:cNvPr id="39" name="Picture 10" descr="image.png">
            <a:extLst>
              <a:ext uri="{FF2B5EF4-FFF2-40B4-BE49-F238E27FC236}">
                <a16:creationId xmlns:a16="http://schemas.microsoft.com/office/drawing/2014/main" id="{7EC47ED3-73D6-2229-7A1A-F3DE94F2BFB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7725" y="2883665"/>
            <a:ext cx="3009304" cy="433982"/>
          </a:xfrm>
          <a:prstGeom prst="rect">
            <a:avLst/>
          </a:prstGeom>
        </p:spPr>
      </p:pic>
      <p:pic>
        <p:nvPicPr>
          <p:cNvPr id="40" name="Picture 11" descr="image.png">
            <a:extLst>
              <a:ext uri="{FF2B5EF4-FFF2-40B4-BE49-F238E27FC236}">
                <a16:creationId xmlns:a16="http://schemas.microsoft.com/office/drawing/2014/main" id="{D2FBC8EB-BA57-D4C9-E08F-88D6E318C4A9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2296" t="19730" b="11591"/>
          <a:stretch/>
        </p:blipFill>
        <p:spPr>
          <a:xfrm>
            <a:off x="6254481" y="2523439"/>
            <a:ext cx="5681764" cy="256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09860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Parámetros vs </a:t>
            </a:r>
            <a:r>
              <a:rPr lang="es-PE" sz="2800" b="1" i="0" u="none" dirty="0" err="1">
                <a:solidFill>
                  <a:srgbClr val="0F172A"/>
                </a:solidFill>
                <a:latin typeface="Space Grotesk"/>
              </a:rPr>
              <a:t>Hiperparámetros</a:t>
            </a:r>
            <a:endParaRPr lang="es-PE" sz="2800" b="1" i="0" u="none" dirty="0">
              <a:solidFill>
                <a:srgbClr val="0F172A"/>
              </a:solidFill>
              <a:latin typeface="Space Grotesk"/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0" name="Picture 2" descr="image.png">
            <a:extLst>
              <a:ext uri="{FF2B5EF4-FFF2-40B4-BE49-F238E27FC236}">
                <a16:creationId xmlns:a16="http://schemas.microsoft.com/office/drawing/2014/main" id="{904C9E62-4B47-09ED-F0D9-2E50F1A466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477" y="1831270"/>
            <a:ext cx="5334000" cy="2795587"/>
          </a:xfrm>
          <a:prstGeom prst="rect">
            <a:avLst/>
          </a:prstGeom>
        </p:spPr>
      </p:pic>
      <p:pic>
        <p:nvPicPr>
          <p:cNvPr id="21" name="Picture 3" descr="image.png">
            <a:extLst>
              <a:ext uri="{FF2B5EF4-FFF2-40B4-BE49-F238E27FC236}">
                <a16:creationId xmlns:a16="http://schemas.microsoft.com/office/drawing/2014/main" id="{B9452172-2FC4-6F3E-BEB8-8207DB12454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8477" y="1831270"/>
            <a:ext cx="5334000" cy="3077160"/>
          </a:xfrm>
          <a:prstGeom prst="rect">
            <a:avLst/>
          </a:prstGeom>
        </p:spPr>
      </p:pic>
      <p:sp>
        <p:nvSpPr>
          <p:cNvPr id="22" name="TextBox 4">
            <a:extLst>
              <a:ext uri="{FF2B5EF4-FFF2-40B4-BE49-F238E27FC236}">
                <a16:creationId xmlns:a16="http://schemas.microsoft.com/office/drawing/2014/main" id="{DC5227EC-6308-F886-8539-FA29955968CC}"/>
              </a:ext>
            </a:extLst>
          </p:cNvPr>
          <p:cNvSpPr txBox="1"/>
          <p:nvPr/>
        </p:nvSpPr>
        <p:spPr>
          <a:xfrm>
            <a:off x="776377" y="2174170"/>
            <a:ext cx="48806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 dirty="0" err="1">
                <a:solidFill>
                  <a:srgbClr val="2563EB"/>
                </a:solidFill>
                <a:latin typeface="+mj-lt"/>
              </a:rPr>
              <a:t>Parámetros</a:t>
            </a:r>
            <a:r>
              <a:rPr sz="2400" b="1" i="0" u="none" dirty="0">
                <a:solidFill>
                  <a:srgbClr val="2563EB"/>
                </a:solidFill>
                <a:latin typeface="+mj-lt"/>
              </a:rPr>
              <a:t> del </a:t>
            </a:r>
            <a:r>
              <a:rPr lang="es-ES" sz="2400" b="1" i="0" u="none" dirty="0">
                <a:solidFill>
                  <a:srgbClr val="2563EB"/>
                </a:solidFill>
                <a:latin typeface="+mj-lt"/>
              </a:rPr>
              <a:t>m</a:t>
            </a:r>
            <a:r>
              <a:rPr sz="2400" b="1" i="0" u="none" dirty="0" err="1">
                <a:solidFill>
                  <a:srgbClr val="2563EB"/>
                </a:solidFill>
                <a:latin typeface="+mj-lt"/>
              </a:rPr>
              <a:t>odelo</a:t>
            </a:r>
            <a:endParaRPr sz="2400" b="1" i="0" u="none" dirty="0">
              <a:solidFill>
                <a:srgbClr val="2563EB"/>
              </a:solidFill>
              <a:latin typeface="+mj-lt"/>
            </a:endParaRPr>
          </a:p>
        </p:txBody>
      </p:sp>
      <p:sp>
        <p:nvSpPr>
          <p:cNvPr id="23" name="TextBox 5">
            <a:extLst>
              <a:ext uri="{FF2B5EF4-FFF2-40B4-BE49-F238E27FC236}">
                <a16:creationId xmlns:a16="http://schemas.microsoft.com/office/drawing/2014/main" id="{244E9D0C-C787-0375-E42D-7B29583DB7C3}"/>
              </a:ext>
            </a:extLst>
          </p:cNvPr>
          <p:cNvSpPr txBox="1"/>
          <p:nvPr/>
        </p:nvSpPr>
        <p:spPr>
          <a:xfrm>
            <a:off x="776377" y="2583745"/>
            <a:ext cx="464820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0" i="0" u="none" dirty="0">
                <a:solidFill>
                  <a:srgbClr val="334155"/>
                </a:solidFill>
                <a:latin typeface="+mj-lt"/>
              </a:rPr>
              <a:t>Son las variables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internas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que la red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ajusta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aprende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automáticamente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durante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proceso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entrenamiento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4" name="TextBox 6">
            <a:extLst>
              <a:ext uri="{FF2B5EF4-FFF2-40B4-BE49-F238E27FC236}">
                <a16:creationId xmlns:a16="http://schemas.microsoft.com/office/drawing/2014/main" id="{898A14B9-E318-2EBE-B1FB-6002EE2281F7}"/>
              </a:ext>
            </a:extLst>
          </p:cNvPr>
          <p:cNvSpPr txBox="1"/>
          <p:nvPr/>
        </p:nvSpPr>
        <p:spPr>
          <a:xfrm>
            <a:off x="6491377" y="2174170"/>
            <a:ext cx="4880610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1" i="0" u="none">
                <a:solidFill>
                  <a:srgbClr val="2563EB"/>
                </a:solidFill>
                <a:latin typeface="+mj-lt"/>
              </a:rPr>
              <a:t>Hiperparámetros</a:t>
            </a:r>
          </a:p>
        </p:txBody>
      </p:sp>
      <p:sp>
        <p:nvSpPr>
          <p:cNvPr id="25" name="TextBox 7">
            <a:extLst>
              <a:ext uri="{FF2B5EF4-FFF2-40B4-BE49-F238E27FC236}">
                <a16:creationId xmlns:a16="http://schemas.microsoft.com/office/drawing/2014/main" id="{3FA46B90-CBC8-779C-DE53-1518500D2C41}"/>
              </a:ext>
            </a:extLst>
          </p:cNvPr>
          <p:cNvSpPr txBox="1"/>
          <p:nvPr/>
        </p:nvSpPr>
        <p:spPr>
          <a:xfrm>
            <a:off x="6491377" y="2583745"/>
            <a:ext cx="4648200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Configuraciones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definidas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externamente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desarrollador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antes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iniciar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entrenamiento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del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modelo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6" name="TextBox 8">
            <a:extLst>
              <a:ext uri="{FF2B5EF4-FFF2-40B4-BE49-F238E27FC236}">
                <a16:creationId xmlns:a16="http://schemas.microsoft.com/office/drawing/2014/main" id="{D48786D1-43AA-E849-3FC1-9409D0281285}"/>
              </a:ext>
            </a:extLst>
          </p:cNvPr>
          <p:cNvSpPr txBox="1"/>
          <p:nvPr/>
        </p:nvSpPr>
        <p:spPr>
          <a:xfrm>
            <a:off x="871627" y="3210014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27" name="TextBox 9">
            <a:extLst>
              <a:ext uri="{FF2B5EF4-FFF2-40B4-BE49-F238E27FC236}">
                <a16:creationId xmlns:a16="http://schemas.microsoft.com/office/drawing/2014/main" id="{D51A5003-40FD-A63A-B48E-A99E2901827A}"/>
              </a:ext>
            </a:extLst>
          </p:cNvPr>
          <p:cNvSpPr txBox="1"/>
          <p:nvPr/>
        </p:nvSpPr>
        <p:spPr>
          <a:xfrm>
            <a:off x="966877" y="3212395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Pesos (w):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Determinan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fuerza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las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conexiones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28" name="TextBox 10">
            <a:extLst>
              <a:ext uri="{FF2B5EF4-FFF2-40B4-BE49-F238E27FC236}">
                <a16:creationId xmlns:a16="http://schemas.microsoft.com/office/drawing/2014/main" id="{EF4DAAD4-D510-9C2B-7700-4CC7694C080F}"/>
              </a:ext>
            </a:extLst>
          </p:cNvPr>
          <p:cNvSpPr txBox="1"/>
          <p:nvPr/>
        </p:nvSpPr>
        <p:spPr>
          <a:xfrm>
            <a:off x="871627" y="3567202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29" name="TextBox 11">
            <a:extLst>
              <a:ext uri="{FF2B5EF4-FFF2-40B4-BE49-F238E27FC236}">
                <a16:creationId xmlns:a16="http://schemas.microsoft.com/office/drawing/2014/main" id="{24E36662-46D4-C53B-D51A-457A7264F7FD}"/>
              </a:ext>
            </a:extLst>
          </p:cNvPr>
          <p:cNvSpPr txBox="1"/>
          <p:nvPr/>
        </p:nvSpPr>
        <p:spPr>
          <a:xfrm>
            <a:off x="966877" y="3569583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Sesgos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(b):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Ajustes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desplazamiento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neurona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30" name="TextBox 12">
            <a:extLst>
              <a:ext uri="{FF2B5EF4-FFF2-40B4-BE49-F238E27FC236}">
                <a16:creationId xmlns:a16="http://schemas.microsoft.com/office/drawing/2014/main" id="{651C467A-1A46-2CA3-3379-DC0778717A8C}"/>
              </a:ext>
            </a:extLst>
          </p:cNvPr>
          <p:cNvSpPr txBox="1"/>
          <p:nvPr/>
        </p:nvSpPr>
        <p:spPr>
          <a:xfrm>
            <a:off x="871627" y="3924389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31" name="TextBox 13">
            <a:extLst>
              <a:ext uri="{FF2B5EF4-FFF2-40B4-BE49-F238E27FC236}">
                <a16:creationId xmlns:a16="http://schemas.microsoft.com/office/drawing/2014/main" id="{913FD6E2-BF6E-62FD-1965-7DECB58FD936}"/>
              </a:ext>
            </a:extLst>
          </p:cNvPr>
          <p:cNvSpPr txBox="1"/>
          <p:nvPr/>
        </p:nvSpPr>
        <p:spPr>
          <a:xfrm>
            <a:off x="966877" y="3926770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Modificados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mediante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optimización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iteraciones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1" name="TextBox 14">
            <a:extLst>
              <a:ext uri="{FF2B5EF4-FFF2-40B4-BE49-F238E27FC236}">
                <a16:creationId xmlns:a16="http://schemas.microsoft.com/office/drawing/2014/main" id="{243E1714-EF94-6D7C-47F3-15B3B396F93E}"/>
              </a:ext>
            </a:extLst>
          </p:cNvPr>
          <p:cNvSpPr txBox="1"/>
          <p:nvPr/>
        </p:nvSpPr>
        <p:spPr>
          <a:xfrm>
            <a:off x="6586627" y="3389705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2" name="TextBox 15">
            <a:extLst>
              <a:ext uri="{FF2B5EF4-FFF2-40B4-BE49-F238E27FC236}">
                <a16:creationId xmlns:a16="http://schemas.microsoft.com/office/drawing/2014/main" id="{78381C72-F8EF-02AF-9903-7126DF6D6AB8}"/>
              </a:ext>
            </a:extLst>
          </p:cNvPr>
          <p:cNvSpPr txBox="1"/>
          <p:nvPr/>
        </p:nvSpPr>
        <p:spPr>
          <a:xfrm>
            <a:off x="6681877" y="3392086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Tasa de </a:t>
            </a: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aprendizaje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 (η):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Tamaño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del paso.</a:t>
            </a:r>
          </a:p>
        </p:txBody>
      </p:sp>
      <p:sp>
        <p:nvSpPr>
          <p:cNvPr id="43" name="TextBox 16">
            <a:extLst>
              <a:ext uri="{FF2B5EF4-FFF2-40B4-BE49-F238E27FC236}">
                <a16:creationId xmlns:a16="http://schemas.microsoft.com/office/drawing/2014/main" id="{588A98E5-A764-9AFC-10BC-A8139A68348D}"/>
              </a:ext>
            </a:extLst>
          </p:cNvPr>
          <p:cNvSpPr txBox="1"/>
          <p:nvPr/>
        </p:nvSpPr>
        <p:spPr>
          <a:xfrm>
            <a:off x="6586627" y="3790719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 dirty="0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4" name="TextBox 17">
            <a:extLst>
              <a:ext uri="{FF2B5EF4-FFF2-40B4-BE49-F238E27FC236}">
                <a16:creationId xmlns:a16="http://schemas.microsoft.com/office/drawing/2014/main" id="{19ED8BC7-6501-B2A5-BD70-925610E41BC6}"/>
              </a:ext>
            </a:extLst>
          </p:cNvPr>
          <p:cNvSpPr txBox="1"/>
          <p:nvPr/>
        </p:nvSpPr>
        <p:spPr>
          <a:xfrm>
            <a:off x="6681877" y="3793100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Batch Size &amp; Epochs: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Tamaño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lote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épocas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  <p:sp>
        <p:nvSpPr>
          <p:cNvPr id="45" name="TextBox 18">
            <a:extLst>
              <a:ext uri="{FF2B5EF4-FFF2-40B4-BE49-F238E27FC236}">
                <a16:creationId xmlns:a16="http://schemas.microsoft.com/office/drawing/2014/main" id="{9210CA5D-030D-9F12-2412-53A4A737FE88}"/>
              </a:ext>
            </a:extLst>
          </p:cNvPr>
          <p:cNvSpPr txBox="1"/>
          <p:nvPr/>
        </p:nvSpPr>
        <p:spPr>
          <a:xfrm>
            <a:off x="6586627" y="4202992"/>
            <a:ext cx="95250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0" i="0" u="none">
                <a:solidFill>
                  <a:srgbClr val="334155"/>
                </a:solidFill>
                <a:latin typeface="+mj-lt"/>
              </a:rPr>
              <a:t>•</a:t>
            </a:r>
          </a:p>
        </p:txBody>
      </p:sp>
      <p:sp>
        <p:nvSpPr>
          <p:cNvPr id="46" name="TextBox 19">
            <a:extLst>
              <a:ext uri="{FF2B5EF4-FFF2-40B4-BE49-F238E27FC236}">
                <a16:creationId xmlns:a16="http://schemas.microsoft.com/office/drawing/2014/main" id="{C50260B7-A102-BC4F-4DC7-6840FCE819C6}"/>
              </a:ext>
            </a:extLst>
          </p:cNvPr>
          <p:cNvSpPr txBox="1"/>
          <p:nvPr/>
        </p:nvSpPr>
        <p:spPr>
          <a:xfrm>
            <a:off x="6681877" y="4205373"/>
            <a:ext cx="4457700" cy="243656"/>
          </a:xfrm>
          <a:prstGeom prst="rect">
            <a:avLst/>
          </a:prstGeom>
          <a:noFill/>
        </p:spPr>
        <p:txBody>
          <a:bodyPr wrap="square" lIns="9525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Arquitectura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Número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capas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neuronas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58120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Funciones de activación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pSp>
        <p:nvGrpSpPr>
          <p:cNvPr id="13" name="Grupo 12">
            <a:extLst>
              <a:ext uri="{FF2B5EF4-FFF2-40B4-BE49-F238E27FC236}">
                <a16:creationId xmlns:a16="http://schemas.microsoft.com/office/drawing/2014/main" id="{1E958C98-4ABC-3EF6-50B8-2ACB8D97BD5C}"/>
              </a:ext>
            </a:extLst>
          </p:cNvPr>
          <p:cNvGrpSpPr/>
          <p:nvPr/>
        </p:nvGrpSpPr>
        <p:grpSpPr>
          <a:xfrm>
            <a:off x="381000" y="1506189"/>
            <a:ext cx="11229975" cy="3368391"/>
            <a:chOff x="381000" y="1506189"/>
            <a:chExt cx="11229975" cy="3368391"/>
          </a:xfrm>
        </p:grpSpPr>
        <p:sp>
          <p:nvSpPr>
            <p:cNvPr id="2" name="TextBox 2">
              <a:extLst>
                <a:ext uri="{FF2B5EF4-FFF2-40B4-BE49-F238E27FC236}">
                  <a16:creationId xmlns:a16="http://schemas.microsoft.com/office/drawing/2014/main" id="{CEF6B1EA-E29A-E049-22AE-D4E7DD783A07}"/>
                </a:ext>
              </a:extLst>
            </p:cNvPr>
            <p:cNvSpPr txBox="1"/>
            <p:nvPr/>
          </p:nvSpPr>
          <p:spPr>
            <a:xfrm>
              <a:off x="922488" y="1506189"/>
              <a:ext cx="10620375" cy="485775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>
                  <a:solidFill>
                    <a:srgbClr val="0F172A"/>
                  </a:solidFill>
                  <a:latin typeface="+mj-lt"/>
                </a:rPr>
                <a:t>No-linealidad Esencial:</a:t>
              </a:r>
              <a:r>
                <a:rPr sz="1600" b="0" i="0" u="none">
                  <a:solidFill>
                    <a:srgbClr val="334155"/>
                  </a:solidFill>
                  <a:latin typeface="+mj-lt"/>
                </a:rPr>
                <a:t> Sin funciones de activación, una red multicapa se comportaría matemáticamente como una simple transformación lineal, limitando su capacidad expresiva.</a:t>
              </a:r>
            </a:p>
          </p:txBody>
        </p:sp>
        <p:sp>
          <p:nvSpPr>
            <p:cNvPr id="3" name="TextBox 3">
              <a:extLst>
                <a:ext uri="{FF2B5EF4-FFF2-40B4-BE49-F238E27FC236}">
                  <a16:creationId xmlns:a16="http://schemas.microsoft.com/office/drawing/2014/main" id="{A77E0109-7274-5475-F466-94689B9D84C8}"/>
                </a:ext>
              </a:extLst>
            </p:cNvPr>
            <p:cNvSpPr txBox="1"/>
            <p:nvPr/>
          </p:nvSpPr>
          <p:spPr>
            <a:xfrm>
              <a:off x="809625" y="2482461"/>
              <a:ext cx="10620375" cy="487313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 err="1">
                  <a:solidFill>
                    <a:srgbClr val="0F172A"/>
                  </a:solidFill>
                  <a:latin typeface="+mj-lt"/>
                </a:rPr>
                <a:t>ReLU</a:t>
              </a: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 (Rectified Linear Unit):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Definida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como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lang="es-ES" sz="1600" b="0" i="0" u="none" dirty="0">
                  <a:solidFill>
                    <a:srgbClr val="334155"/>
                  </a:solidFill>
                  <a:latin typeface="+mj-lt"/>
                </a:rPr>
                <a:t>                                         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 Es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función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más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utilizada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las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capas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ocultas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por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su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eficiencia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computacional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</a:t>
              </a:r>
            </a:p>
          </p:txBody>
        </p:sp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F35E6DF5-077C-BD7A-A57E-19D538E2F015}"/>
                </a:ext>
              </a:extLst>
            </p:cNvPr>
            <p:cNvSpPr txBox="1"/>
            <p:nvPr/>
          </p:nvSpPr>
          <p:spPr>
            <a:xfrm>
              <a:off x="990600" y="3584793"/>
              <a:ext cx="10620375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Sigmoid: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Transforma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salida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al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rango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entre 0 y 1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mediante</a:t>
              </a:r>
              <a:r>
                <a:rPr lang="es-ES" sz="1600" b="0" i="0" u="none" dirty="0">
                  <a:solidFill>
                    <a:srgbClr val="334155"/>
                  </a:solidFill>
                  <a:latin typeface="+mj-lt"/>
                </a:rPr>
                <a:t>                                         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, ideal para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clasificación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binaria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.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FD13FA0-0D96-175F-BF1F-01DF05935FBA}"/>
                </a:ext>
              </a:extLst>
            </p:cNvPr>
            <p:cNvSpPr txBox="1"/>
            <p:nvPr/>
          </p:nvSpPr>
          <p:spPr>
            <a:xfrm>
              <a:off x="990600" y="4630924"/>
              <a:ext cx="10620375" cy="243656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spAutoFit/>
            </a:bodyPr>
            <a:lstStyle/>
            <a:p>
              <a:pPr algn="l">
                <a:lnSpc>
                  <a:spcPts val="1912"/>
                </a:lnSpc>
              </a:pPr>
              <a:r>
                <a:rPr sz="1600" b="0" i="0" u="none" dirty="0" err="1">
                  <a:solidFill>
                    <a:srgbClr val="0F172A"/>
                  </a:solidFill>
                  <a:latin typeface="+mj-lt"/>
                </a:rPr>
                <a:t>Softmax</a:t>
              </a:r>
              <a:r>
                <a:rPr sz="1600" b="0" i="0" u="none" dirty="0">
                  <a:solidFill>
                    <a:srgbClr val="0F172A"/>
                  </a:solidFill>
                  <a:latin typeface="+mj-lt"/>
                </a:rPr>
                <a:t>: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Genera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una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distribución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de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probabilidad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multiclase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en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capa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de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salida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,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donde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todas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las </a:t>
              </a:r>
              <a:r>
                <a:rPr sz="1600" b="0" i="0" u="none" dirty="0" err="1">
                  <a:solidFill>
                    <a:srgbClr val="334155"/>
                  </a:solidFill>
                  <a:latin typeface="+mj-lt"/>
                </a:rPr>
                <a:t>probabilidades</a:t>
              </a:r>
              <a:r>
                <a:rPr sz="1600" b="0" i="0" u="none" dirty="0">
                  <a:solidFill>
                    <a:srgbClr val="334155"/>
                  </a:solidFill>
                  <a:latin typeface="+mj-lt"/>
                </a:rPr>
                <a:t> suman 1.</a:t>
              </a:r>
            </a:p>
          </p:txBody>
        </p:sp>
        <p:pic>
          <p:nvPicPr>
            <p:cNvPr id="7" name="Picture 6" descr="image.png">
              <a:extLst>
                <a:ext uri="{FF2B5EF4-FFF2-40B4-BE49-F238E27FC236}">
                  <a16:creationId xmlns:a16="http://schemas.microsoft.com/office/drawing/2014/main" id="{64CC164B-8967-C26F-2A9F-E23E1F7D9D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55500" y="2530085"/>
              <a:ext cx="1553021" cy="152400"/>
            </a:xfrm>
            <a:prstGeom prst="rect">
              <a:avLst/>
            </a:prstGeom>
          </p:spPr>
        </p:pic>
        <p:pic>
          <p:nvPicPr>
            <p:cNvPr id="8" name="Picture 7" descr="image.png">
              <a:extLst>
                <a:ext uri="{FF2B5EF4-FFF2-40B4-BE49-F238E27FC236}">
                  <a16:creationId xmlns:a16="http://schemas.microsoft.com/office/drawing/2014/main" id="{137346C2-5CC7-94D4-902D-E5D15D045BD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008521" y="3636331"/>
              <a:ext cx="1013370" cy="190500"/>
            </a:xfrm>
            <a:prstGeom prst="rect">
              <a:avLst/>
            </a:prstGeom>
          </p:spPr>
        </p:pic>
        <p:pic>
          <p:nvPicPr>
            <p:cNvPr id="9" name="Picture 8" descr="image.png">
              <a:extLst>
                <a:ext uri="{FF2B5EF4-FFF2-40B4-BE49-F238E27FC236}">
                  <a16:creationId xmlns:a16="http://schemas.microsoft.com/office/drawing/2014/main" id="{42FA5C03-709B-1CB6-5001-D6B6E3D300EC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93863" y="1520476"/>
              <a:ext cx="266700" cy="219075"/>
            </a:xfrm>
            <a:prstGeom prst="rect">
              <a:avLst/>
            </a:prstGeom>
          </p:spPr>
        </p:pic>
        <p:pic>
          <p:nvPicPr>
            <p:cNvPr id="10" name="Picture 9" descr="image.png">
              <a:extLst>
                <a:ext uri="{FF2B5EF4-FFF2-40B4-BE49-F238E27FC236}">
                  <a16:creationId xmlns:a16="http://schemas.microsoft.com/office/drawing/2014/main" id="{D077E758-A38B-0003-9E92-000E5B5391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81000" y="2496748"/>
              <a:ext cx="180975" cy="219075"/>
            </a:xfrm>
            <a:prstGeom prst="rect">
              <a:avLst/>
            </a:prstGeom>
          </p:spPr>
        </p:pic>
        <p:pic>
          <p:nvPicPr>
            <p:cNvPr id="11" name="Picture 10" descr="image.png">
              <a:extLst>
                <a:ext uri="{FF2B5EF4-FFF2-40B4-BE49-F238E27FC236}">
                  <a16:creationId xmlns:a16="http://schemas.microsoft.com/office/drawing/2014/main" id="{CA0AAE77-A86B-D41E-E7B8-670AC4A1771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61975" y="3599080"/>
              <a:ext cx="209550" cy="219075"/>
            </a:xfrm>
            <a:prstGeom prst="rect">
              <a:avLst/>
            </a:prstGeom>
          </p:spPr>
        </p:pic>
        <p:pic>
          <p:nvPicPr>
            <p:cNvPr id="12" name="Picture 11" descr="image.png">
              <a:extLst>
                <a:ext uri="{FF2B5EF4-FFF2-40B4-BE49-F238E27FC236}">
                  <a16:creationId xmlns:a16="http://schemas.microsoft.com/office/drawing/2014/main" id="{AD91CE6C-9D4D-D84F-789B-8C56545E7F4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561975" y="4645212"/>
              <a:ext cx="238125" cy="2190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544615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85800" y="324612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¿Cómo aprende una red?</a:t>
            </a:r>
            <a:endParaRPr lang="es-PE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A9C2"/>
                </a:solidFill>
                <a:latin typeface="+mj-lt"/>
                <a:ea typeface="Cambria" pitchFamily="34" charset="-122"/>
                <a:cs typeface="Cambria" pitchFamily="34" charset="-120"/>
              </a:rPr>
              <a:t>1</a:t>
            </a:r>
            <a:endParaRPr lang="es-PE" sz="2600" dirty="0">
              <a:latin typeface="+mj-lt"/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68580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Forward </a:t>
            </a:r>
            <a:r>
              <a:rPr lang="es-PE" sz="145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pass</a:t>
            </a:r>
            <a:endParaRPr lang="es-PE" sz="1450" dirty="0">
              <a:latin typeface="+mj-lt"/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CADCFC"/>
                </a:solidFill>
                <a:latin typeface="+mj-lt"/>
                <a:ea typeface="Calibri" pitchFamily="34" charset="-122"/>
                <a:cs typeface="Calibri" pitchFamily="34" charset="-120"/>
              </a:rPr>
              <a:t>Los datos atraviesan la red y producen una predicción.</a:t>
            </a:r>
            <a:endParaRPr lang="es-PE" sz="1150" dirty="0">
              <a:latin typeface="+mj-lt"/>
            </a:endParaRPr>
          </a:p>
        </p:txBody>
      </p:sp>
      <p:sp>
        <p:nvSpPr>
          <p:cNvPr id="9" name="Shape 7"/>
          <p:cNvSpPr/>
          <p:nvPr/>
        </p:nvSpPr>
        <p:spPr>
          <a:xfrm rot="5400000">
            <a:off x="317296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0" name="Shape 8"/>
          <p:cNvSpPr/>
          <p:nvPr/>
        </p:nvSpPr>
        <p:spPr>
          <a:xfrm>
            <a:off x="338328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A9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352044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2</a:t>
            </a:r>
            <a:endParaRPr lang="es-PE" sz="2600" dirty="0">
              <a:latin typeface="+mj-lt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352044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Función de pérdida</a:t>
            </a:r>
            <a:endParaRPr lang="es-PE" sz="1450" dirty="0">
              <a:latin typeface="+mj-lt"/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352044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Mide qué tan equivocada estuvo la predicción.</a:t>
            </a:r>
            <a:endParaRPr lang="es-PE" sz="1150" dirty="0">
              <a:latin typeface="+mj-lt"/>
            </a:endParaRPr>
          </a:p>
        </p:txBody>
      </p:sp>
      <p:sp>
        <p:nvSpPr>
          <p:cNvPr id="14" name="Shape 12"/>
          <p:cNvSpPr/>
          <p:nvPr/>
        </p:nvSpPr>
        <p:spPr>
          <a:xfrm rot="5400000">
            <a:off x="600760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35508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1BA9C2"/>
                </a:solidFill>
                <a:latin typeface="+mj-lt"/>
                <a:ea typeface="Cambria" pitchFamily="34" charset="-122"/>
                <a:cs typeface="Cambria" pitchFamily="34" charset="-120"/>
              </a:rPr>
              <a:t>3</a:t>
            </a:r>
            <a:endParaRPr lang="es-PE" sz="2600" dirty="0">
              <a:latin typeface="+mj-lt"/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35508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 err="1">
                <a:solidFill>
                  <a:srgbClr val="FFFFFF"/>
                </a:solidFill>
                <a:latin typeface="+mj-lt"/>
                <a:ea typeface="Calibri" pitchFamily="34" charset="-122"/>
                <a:cs typeface="Calibri" pitchFamily="34" charset="-120"/>
              </a:rPr>
              <a:t>Backpropagation</a:t>
            </a:r>
            <a:endParaRPr lang="es-PE" sz="1450" dirty="0">
              <a:latin typeface="+mj-lt"/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635508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CADCFC"/>
                </a:solidFill>
                <a:latin typeface="+mj-lt"/>
                <a:ea typeface="Calibri" pitchFamily="34" charset="-122"/>
                <a:cs typeface="Calibri" pitchFamily="34" charset="-120"/>
              </a:rPr>
              <a:t>Calcula cuánto contribuyó cada peso al error.</a:t>
            </a:r>
            <a:endParaRPr lang="es-PE" sz="1150" dirty="0">
              <a:latin typeface="+mj-lt"/>
            </a:endParaRPr>
          </a:p>
        </p:txBody>
      </p:sp>
      <p:sp>
        <p:nvSpPr>
          <p:cNvPr id="19" name="Shape 17"/>
          <p:cNvSpPr/>
          <p:nvPr/>
        </p:nvSpPr>
        <p:spPr>
          <a:xfrm rot="5400000">
            <a:off x="8842248" y="2377440"/>
            <a:ext cx="201168" cy="274320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0" name="Shape 18"/>
          <p:cNvSpPr/>
          <p:nvPr/>
        </p:nvSpPr>
        <p:spPr>
          <a:xfrm>
            <a:off x="9052560" y="1417320"/>
            <a:ext cx="2606040" cy="2286000"/>
          </a:xfrm>
          <a:prstGeom prst="roundRect">
            <a:avLst>
              <a:gd name="adj" fmla="val 2800"/>
            </a:avLst>
          </a:prstGeom>
          <a:solidFill>
            <a:srgbClr val="1BA9C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89720" y="1554480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600" b="1" dirty="0">
                <a:solidFill>
                  <a:srgbClr val="0F1B33"/>
                </a:solidFill>
                <a:latin typeface="+mj-lt"/>
                <a:ea typeface="Cambria" pitchFamily="34" charset="-122"/>
                <a:cs typeface="Cambria" pitchFamily="34" charset="-120"/>
              </a:rPr>
              <a:t>4</a:t>
            </a:r>
            <a:endParaRPr lang="es-PE" sz="2600" dirty="0">
              <a:latin typeface="+mj-lt"/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189720" y="214884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50" b="1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Descenso de gradiente</a:t>
            </a:r>
            <a:endParaRPr lang="es-PE" sz="1450" dirty="0">
              <a:latin typeface="+mj-lt"/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189720" y="2697480"/>
            <a:ext cx="2331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50" dirty="0">
                <a:solidFill>
                  <a:srgbClr val="0F1B33"/>
                </a:solidFill>
                <a:latin typeface="+mj-lt"/>
                <a:ea typeface="Calibri" pitchFamily="34" charset="-122"/>
                <a:cs typeface="Calibri" pitchFamily="34" charset="-120"/>
              </a:rPr>
              <a:t>Ajusta cada peso en la dirección que reduce el error.</a:t>
            </a:r>
            <a:endParaRPr lang="es-PE" sz="1150" dirty="0">
              <a:latin typeface="+mj-lt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48640" y="3977640"/>
            <a:ext cx="6035040" cy="2194560"/>
          </a:xfrm>
          <a:prstGeom prst="roundRect">
            <a:avLst>
              <a:gd name="adj" fmla="val 2500"/>
            </a:avLst>
          </a:prstGeom>
          <a:solidFill>
            <a:srgbClr val="E8F7FA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777240" y="4114800"/>
            <a:ext cx="5577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Analogía: la montaña con niebla</a:t>
            </a:r>
            <a:endParaRPr lang="es-PE" sz="1300" dirty="0">
              <a:latin typeface="+mj-lt"/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777240" y="4480560"/>
            <a:ext cx="5577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Bajas el valle sin ver, solo sintiendo la inclinación bajo tus pies. El tamaño del paso es la tasa de aprendizaje: muy grande y rebotas sin converger; muy pequeña y tardas una eternidad.</a:t>
            </a:r>
            <a:endParaRPr lang="es-PE" sz="1250" dirty="0">
              <a:latin typeface="+mj-lt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12280" y="3977640"/>
            <a:ext cx="4846320" cy="219456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040880" y="4114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b="1" dirty="0">
                <a:solidFill>
                  <a:srgbClr val="1B2A4A"/>
                </a:solidFill>
                <a:latin typeface="+mj-lt"/>
                <a:ea typeface="Calibri" pitchFamily="34" charset="-122"/>
                <a:cs typeface="Calibri" pitchFamily="34" charset="-120"/>
              </a:rPr>
              <a:t>Cuidado</a:t>
            </a:r>
            <a:endParaRPr lang="es-PE" sz="1300" dirty="0">
              <a:latin typeface="+mj-lt"/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040880" y="4480560"/>
            <a:ext cx="4389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El gradiente no siempre halla el mínimo global — hay mínimos locales. No confundas "época" (todo el </a:t>
            </a:r>
            <a:r>
              <a:rPr lang="es-PE" sz="1250" i="1" dirty="0" err="1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dataset</a:t>
            </a: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) con "iteración" (un </a:t>
            </a:r>
            <a:r>
              <a:rPr lang="es-PE" sz="1250" i="1" dirty="0" err="1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batch</a:t>
            </a:r>
            <a:r>
              <a:rPr lang="es-PE" sz="1250" i="1" dirty="0">
                <a:solidFill>
                  <a:srgbClr val="333333"/>
                </a:solidFill>
                <a:latin typeface="+mj-lt"/>
                <a:ea typeface="Calibri" pitchFamily="34" charset="-122"/>
                <a:cs typeface="Calibri" pitchFamily="34" charset="-120"/>
              </a:rPr>
              <a:t>).</a:t>
            </a:r>
            <a:endParaRPr lang="es-PE" sz="1250" dirty="0">
              <a:latin typeface="+mj-lt"/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s-PE" sz="11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2DD57A4A-6FF2-1306-ECEA-690F2C8309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Ciclo de entrenamiento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710FB78E-63F4-C065-A4E0-AF36E38C39E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609" y="3669661"/>
            <a:ext cx="2541240" cy="1325033"/>
          </a:xfrm>
          <a:prstGeom prst="rect">
            <a:avLst/>
          </a:prstGeom>
        </p:spPr>
      </p:pic>
      <p:pic>
        <p:nvPicPr>
          <p:cNvPr id="3" name="Picture 3" descr="image.png">
            <a:extLst>
              <a:ext uri="{FF2B5EF4-FFF2-40B4-BE49-F238E27FC236}">
                <a16:creationId xmlns:a16="http://schemas.microsoft.com/office/drawing/2014/main" id="{76BB65DC-A50F-9414-05E3-006A9D8284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12528" y="2098036"/>
            <a:ext cx="2541240" cy="1095375"/>
          </a:xfrm>
          <a:prstGeom prst="rect">
            <a:avLst/>
          </a:prstGeom>
        </p:spPr>
      </p:pic>
      <p:pic>
        <p:nvPicPr>
          <p:cNvPr id="5" name="Picture 4" descr="image.png">
            <a:extLst>
              <a:ext uri="{FF2B5EF4-FFF2-40B4-BE49-F238E27FC236}">
                <a16:creationId xmlns:a16="http://schemas.microsoft.com/office/drawing/2014/main" id="{CDFD43C1-562C-6E2D-71F9-19F52F76893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48448" y="3669661"/>
            <a:ext cx="2541240" cy="1095375"/>
          </a:xfrm>
          <a:prstGeom prst="rect">
            <a:avLst/>
          </a:prstGeom>
        </p:spPr>
      </p:pic>
      <p:pic>
        <p:nvPicPr>
          <p:cNvPr id="6" name="Picture 5" descr="image.png">
            <a:extLst>
              <a:ext uri="{FF2B5EF4-FFF2-40B4-BE49-F238E27FC236}">
                <a16:creationId xmlns:a16="http://schemas.microsoft.com/office/drawing/2014/main" id="{1FFC080E-627A-F964-AA91-D7D9D6E0A2A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84368" y="1898011"/>
            <a:ext cx="2541240" cy="12954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77D07724-31DB-2FAE-1478-E6D25988250E}"/>
              </a:ext>
            </a:extLst>
          </p:cNvPr>
          <p:cNvSpPr/>
          <p:nvPr/>
        </p:nvSpPr>
        <p:spPr>
          <a:xfrm>
            <a:off x="476609" y="3412486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EF67B61-8036-D228-E5EA-C9F8387E400A}"/>
              </a:ext>
            </a:extLst>
          </p:cNvPr>
          <p:cNvSpPr txBox="1"/>
          <p:nvPr/>
        </p:nvSpPr>
        <p:spPr>
          <a:xfrm>
            <a:off x="623104" y="386968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2563EB"/>
                </a:solidFill>
                <a:latin typeface="+mj-lt"/>
              </a:rPr>
              <a:t>1. Forward Pass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4F2A2A4-FB3F-A7F4-E4A6-C0C9C546E018}"/>
              </a:ext>
            </a:extLst>
          </p:cNvPr>
          <p:cNvSpPr txBox="1"/>
          <p:nvPr/>
        </p:nvSpPr>
        <p:spPr>
          <a:xfrm>
            <a:off x="676634" y="4164961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Los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datos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atraviesan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la red para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generar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una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predicción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endParaRPr lang="es-ES" sz="1400" b="0" i="0" u="none" dirty="0">
              <a:solidFill>
                <a:srgbClr val="334155"/>
              </a:solidFill>
              <a:latin typeface="+mj-lt"/>
            </a:endParaRPr>
          </a:p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( ).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9FAF69C-85A9-D095-03BA-132FB940276E}"/>
              </a:ext>
            </a:extLst>
          </p:cNvPr>
          <p:cNvSpPr txBox="1"/>
          <p:nvPr/>
        </p:nvSpPr>
        <p:spPr>
          <a:xfrm>
            <a:off x="3459024" y="2236535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 dirty="0">
                <a:solidFill>
                  <a:srgbClr val="2563EB"/>
                </a:solidFill>
                <a:latin typeface="+mj-lt"/>
              </a:rPr>
              <a:t>2. Loss Function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8DBEE9B-A1FE-0289-D776-8DE62840D121}"/>
              </a:ext>
            </a:extLst>
          </p:cNvPr>
          <p:cNvSpPr txBox="1"/>
          <p:nvPr/>
        </p:nvSpPr>
        <p:spPr>
          <a:xfrm>
            <a:off x="3512553" y="2531810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 dirty="0">
                <a:solidFill>
                  <a:srgbClr val="334155"/>
                </a:solidFill>
                <a:latin typeface="+mj-lt"/>
              </a:rPr>
              <a:t>Se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calcula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error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comparando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predicción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con </a:t>
            </a:r>
            <a:r>
              <a:rPr sz="1400" b="0" i="0" u="none" dirty="0" err="1">
                <a:solidFill>
                  <a:srgbClr val="334155"/>
                </a:solidFill>
                <a:latin typeface="+mj-lt"/>
              </a:rPr>
              <a:t>el</a:t>
            </a:r>
            <a:r>
              <a:rPr sz="1400" b="0" i="0" u="none" dirty="0">
                <a:solidFill>
                  <a:srgbClr val="334155"/>
                </a:solidFill>
                <a:latin typeface="+mj-lt"/>
              </a:rPr>
              <a:t> valor real ( ).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A044C83-C349-090A-B532-12FC0D767FFE}"/>
              </a:ext>
            </a:extLst>
          </p:cNvPr>
          <p:cNvSpPr txBox="1"/>
          <p:nvPr/>
        </p:nvSpPr>
        <p:spPr>
          <a:xfrm>
            <a:off x="6294944" y="386968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2563EB"/>
                </a:solidFill>
                <a:latin typeface="+mj-lt"/>
              </a:rPr>
              <a:t>3. Backprop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65D78-DBFB-658A-5E4E-9AD00E632B08}"/>
              </a:ext>
            </a:extLst>
          </p:cNvPr>
          <p:cNvSpPr txBox="1"/>
          <p:nvPr/>
        </p:nvSpPr>
        <p:spPr>
          <a:xfrm>
            <a:off x="6348473" y="4164961"/>
            <a:ext cx="2141190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Se calculan los gradientes usando la regla de la cadena matemática.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363657B-6CC9-8C9F-F768-14417947676E}"/>
              </a:ext>
            </a:extLst>
          </p:cNvPr>
          <p:cNvSpPr txBox="1"/>
          <p:nvPr/>
        </p:nvSpPr>
        <p:spPr>
          <a:xfrm>
            <a:off x="9130864" y="2098036"/>
            <a:ext cx="2248249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b="1" i="0" u="none">
                <a:solidFill>
                  <a:srgbClr val="2563EB"/>
                </a:solidFill>
                <a:latin typeface="+mj-lt"/>
              </a:rPr>
              <a:t>4. Optimizador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51F67DD-6486-277E-F5C1-965C1F5A0D59}"/>
              </a:ext>
            </a:extLst>
          </p:cNvPr>
          <p:cNvSpPr txBox="1"/>
          <p:nvPr/>
        </p:nvSpPr>
        <p:spPr>
          <a:xfrm>
            <a:off x="9184393" y="2393311"/>
            <a:ext cx="2141190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400" b="0" i="0" u="none">
                <a:solidFill>
                  <a:srgbClr val="334155"/>
                </a:solidFill>
                <a:latin typeface="+mj-lt"/>
              </a:rPr>
              <a:t>Se actualizan los pesos ajustando los parámetros en dirección opuesta al gradiente.</a:t>
            </a:r>
          </a:p>
        </p:txBody>
      </p:sp>
      <p:pic>
        <p:nvPicPr>
          <p:cNvPr id="17" name="Picture 16" descr="image.png">
            <a:extLst>
              <a:ext uri="{FF2B5EF4-FFF2-40B4-BE49-F238E27FC236}">
                <a16:creationId xmlns:a16="http://schemas.microsoft.com/office/drawing/2014/main" id="{F6021EE9-720F-92FB-B573-FA839AC92B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05062" y="3027512"/>
            <a:ext cx="66675" cy="95250"/>
          </a:xfrm>
          <a:prstGeom prst="rect">
            <a:avLst/>
          </a:prstGeom>
        </p:spPr>
      </p:pic>
      <p:sp>
        <p:nvSpPr>
          <p:cNvPr id="18" name="Rounded Rectangle 18">
            <a:extLst>
              <a:ext uri="{FF2B5EF4-FFF2-40B4-BE49-F238E27FC236}">
                <a16:creationId xmlns:a16="http://schemas.microsoft.com/office/drawing/2014/main" id="{DA060938-947F-B564-1C98-50F8F2B0D601}"/>
              </a:ext>
            </a:extLst>
          </p:cNvPr>
          <p:cNvSpPr/>
          <p:nvPr/>
        </p:nvSpPr>
        <p:spPr>
          <a:xfrm>
            <a:off x="1651979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BEE84E4D-BCD8-0841-E771-ED2636AD10CC}"/>
              </a:ext>
            </a:extLst>
          </p:cNvPr>
          <p:cNvSpPr/>
          <p:nvPr/>
        </p:nvSpPr>
        <p:spPr>
          <a:xfrm>
            <a:off x="4487899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0" name="Rounded Rectangle 20">
            <a:extLst>
              <a:ext uri="{FF2B5EF4-FFF2-40B4-BE49-F238E27FC236}">
                <a16:creationId xmlns:a16="http://schemas.microsoft.com/office/drawing/2014/main" id="{759FEDAD-0CC0-B739-E8D1-22F273696C51}"/>
              </a:ext>
            </a:extLst>
          </p:cNvPr>
          <p:cNvSpPr/>
          <p:nvPr/>
        </p:nvSpPr>
        <p:spPr>
          <a:xfrm>
            <a:off x="7323818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sp>
        <p:nvSpPr>
          <p:cNvPr id="21" name="Rounded Rectangle 21">
            <a:extLst>
              <a:ext uri="{FF2B5EF4-FFF2-40B4-BE49-F238E27FC236}">
                <a16:creationId xmlns:a16="http://schemas.microsoft.com/office/drawing/2014/main" id="{28741FA1-E2D0-F63A-CF74-0CF9F1A80AD4}"/>
              </a:ext>
            </a:extLst>
          </p:cNvPr>
          <p:cNvSpPr/>
          <p:nvPr/>
        </p:nvSpPr>
        <p:spPr>
          <a:xfrm>
            <a:off x="10159738" y="3336286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>
              <a:latin typeface="+mj-lt"/>
            </a:endParaRPr>
          </a:p>
        </p:txBody>
      </p:sp>
      <p:pic>
        <p:nvPicPr>
          <p:cNvPr id="22" name="Picture 15" descr="image.png">
            <a:extLst>
              <a:ext uri="{FF2B5EF4-FFF2-40B4-BE49-F238E27FC236}">
                <a16:creationId xmlns:a16="http://schemas.microsoft.com/office/drawing/2014/main" id="{99B6286D-E919-E786-A481-4B3FA4878B1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80553" y="4611743"/>
            <a:ext cx="66675" cy="168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5416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ES" sz="2800" b="1" i="0" u="none" dirty="0">
                <a:solidFill>
                  <a:srgbClr val="0F172A"/>
                </a:solidFill>
                <a:latin typeface="Space Grotesk"/>
              </a:rPr>
              <a:t>Gestión de lotes y épocas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16" name="Picture 2" descr="image.png">
            <a:extLst>
              <a:ext uri="{FF2B5EF4-FFF2-40B4-BE49-F238E27FC236}">
                <a16:creationId xmlns:a16="http://schemas.microsoft.com/office/drawing/2014/main" id="{08374810-9600-EF7F-8948-0CAFC35167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63" y="2274767"/>
            <a:ext cx="3333750" cy="1943100"/>
          </a:xfrm>
          <a:prstGeom prst="rect">
            <a:avLst/>
          </a:prstGeom>
        </p:spPr>
      </p:pic>
      <p:sp>
        <p:nvSpPr>
          <p:cNvPr id="23" name="TextBox 3">
            <a:extLst>
              <a:ext uri="{FF2B5EF4-FFF2-40B4-BE49-F238E27FC236}">
                <a16:creationId xmlns:a16="http://schemas.microsoft.com/office/drawing/2014/main" id="{F3CE7192-5672-918D-F1C2-0960F6902967}"/>
              </a:ext>
            </a:extLst>
          </p:cNvPr>
          <p:cNvSpPr txBox="1"/>
          <p:nvPr/>
        </p:nvSpPr>
        <p:spPr>
          <a:xfrm>
            <a:off x="892188" y="2665292"/>
            <a:ext cx="2552700" cy="8692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6600"/>
              </a:lnSpc>
            </a:pPr>
            <a:r>
              <a:rPr sz="6600" b="1" i="0" u="none">
                <a:solidFill>
                  <a:srgbClr val="1D4ED8"/>
                </a:solidFill>
                <a:latin typeface="+mj-lt"/>
              </a:rPr>
              <a:t>100</a:t>
            </a:r>
          </a:p>
        </p:txBody>
      </p:sp>
      <p:sp>
        <p:nvSpPr>
          <p:cNvPr id="24" name="TextBox 4">
            <a:extLst>
              <a:ext uri="{FF2B5EF4-FFF2-40B4-BE49-F238E27FC236}">
                <a16:creationId xmlns:a16="http://schemas.microsoft.com/office/drawing/2014/main" id="{FE23F860-CF63-6284-CE67-0B05759A52F8}"/>
              </a:ext>
            </a:extLst>
          </p:cNvPr>
          <p:cNvSpPr txBox="1"/>
          <p:nvPr/>
        </p:nvSpPr>
        <p:spPr>
          <a:xfrm>
            <a:off x="892188" y="3598742"/>
            <a:ext cx="25527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1E3A8A"/>
                </a:solidFill>
                <a:latin typeface="+mj-lt"/>
              </a:rPr>
              <a:t>Iteraciones por Época</a:t>
            </a:r>
          </a:p>
        </p:txBody>
      </p:sp>
      <p:sp>
        <p:nvSpPr>
          <p:cNvPr id="25" name="TextBox 5">
            <a:extLst>
              <a:ext uri="{FF2B5EF4-FFF2-40B4-BE49-F238E27FC236}">
                <a16:creationId xmlns:a16="http://schemas.microsoft.com/office/drawing/2014/main" id="{7A073D61-2F0B-EC3E-8D74-05BECF621026}"/>
              </a:ext>
            </a:extLst>
          </p:cNvPr>
          <p:cNvSpPr txBox="1"/>
          <p:nvPr/>
        </p:nvSpPr>
        <p:spPr>
          <a:xfrm>
            <a:off x="4216413" y="2384305"/>
            <a:ext cx="770096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 i="0" u="none" dirty="0" err="1">
                <a:solidFill>
                  <a:srgbClr val="1E293B"/>
                </a:solidFill>
                <a:latin typeface="+mj-lt"/>
              </a:rPr>
              <a:t>Definición</a:t>
            </a:r>
            <a:endParaRPr sz="1800" b="1" i="0" u="none" dirty="0">
              <a:solidFill>
                <a:srgbClr val="1E293B"/>
              </a:solidFill>
              <a:latin typeface="+mj-lt"/>
            </a:endParaRPr>
          </a:p>
        </p:txBody>
      </p:sp>
      <p:sp>
        <p:nvSpPr>
          <p:cNvPr id="26" name="TextBox 6">
            <a:extLst>
              <a:ext uri="{FF2B5EF4-FFF2-40B4-BE49-F238E27FC236}">
                <a16:creationId xmlns:a16="http://schemas.microsoft.com/office/drawing/2014/main" id="{F2627508-2F7A-A7CC-B86D-869534117D6B}"/>
              </a:ext>
            </a:extLst>
          </p:cNvPr>
          <p:cNvSpPr txBox="1"/>
          <p:nvPr/>
        </p:nvSpPr>
        <p:spPr>
          <a:xfrm>
            <a:off x="4216413" y="2793880"/>
            <a:ext cx="7334250" cy="228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Epoch: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Una pasada completa de todo el conjunto de datos por la red neuronal.</a:t>
            </a:r>
          </a:p>
        </p:txBody>
      </p:sp>
      <p:sp>
        <p:nvSpPr>
          <p:cNvPr id="27" name="TextBox 7">
            <a:extLst>
              <a:ext uri="{FF2B5EF4-FFF2-40B4-BE49-F238E27FC236}">
                <a16:creationId xmlns:a16="http://schemas.microsoft.com/office/drawing/2014/main" id="{FB0D646A-D74F-7B78-2EA9-D436C0214080}"/>
              </a:ext>
            </a:extLst>
          </p:cNvPr>
          <p:cNvSpPr txBox="1"/>
          <p:nvPr/>
        </p:nvSpPr>
        <p:spPr>
          <a:xfrm>
            <a:off x="4216413" y="3151067"/>
            <a:ext cx="7334250" cy="22801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Batch Size: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Subconjunto de muestras procesadas antes de actualizar los pesos.</a:t>
            </a:r>
          </a:p>
        </p:txBody>
      </p:sp>
      <p:sp>
        <p:nvSpPr>
          <p:cNvPr id="28" name="TextBox 8">
            <a:extLst>
              <a:ext uri="{FF2B5EF4-FFF2-40B4-BE49-F238E27FC236}">
                <a16:creationId xmlns:a16="http://schemas.microsoft.com/office/drawing/2014/main" id="{1CAE37D2-E182-0EC2-A64D-D49D2F6C6C5D}"/>
              </a:ext>
            </a:extLst>
          </p:cNvPr>
          <p:cNvSpPr txBox="1"/>
          <p:nvPr/>
        </p:nvSpPr>
        <p:spPr>
          <a:xfrm>
            <a:off x="4216413" y="3508255"/>
            <a:ext cx="73342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334155"/>
                </a:solidFill>
                <a:latin typeface="+mj-lt"/>
              </a:rPr>
              <a:t>Ejemplo práctico:</a:t>
            </a:r>
            <a:r>
              <a:rPr sz="1275" b="0" i="0" u="none">
                <a:solidFill>
                  <a:srgbClr val="334155"/>
                </a:solidFill>
                <a:latin typeface="+mj-lt"/>
              </a:rPr>
              <a:t> Para un dataset de 10,000 imágenes con un batch_size = 100, se ejecutan exactamente 100 iteraciones por cada época de entrenamiento.</a:t>
            </a:r>
          </a:p>
        </p:txBody>
      </p:sp>
    </p:spTree>
    <p:extLst>
      <p:ext uri="{BB962C8B-B14F-4D97-AF65-F5344CB8AC3E}">
        <p14:creationId xmlns:p14="http://schemas.microsoft.com/office/powerpoint/2010/main" val="28401036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Desempeño y generalización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2" descr="image.png">
            <a:extLst>
              <a:ext uri="{FF2B5EF4-FFF2-40B4-BE49-F238E27FC236}">
                <a16:creationId xmlns:a16="http://schemas.microsoft.com/office/drawing/2014/main" id="{76A58938-D718-B053-70D1-E7CA3ACF99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3130" b="30660"/>
          <a:stretch/>
        </p:blipFill>
        <p:spPr>
          <a:xfrm>
            <a:off x="476609" y="2160917"/>
            <a:ext cx="11049000" cy="2363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61970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65959" y="4114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/>
            <a:r>
              <a:rPr lang="es-PE" sz="2800" b="1" i="0" u="none" dirty="0">
                <a:solidFill>
                  <a:srgbClr val="0F172A"/>
                </a:solidFill>
                <a:latin typeface="Space Grotesk"/>
              </a:rPr>
              <a:t>Arquitecturas principales</a:t>
            </a:r>
          </a:p>
        </p:txBody>
      </p:sp>
      <p:sp>
        <p:nvSpPr>
          <p:cNvPr id="32" name="Text 30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s-PE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s-PE" sz="11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BD34F15A-0668-EE87-3C3C-495905C512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11005B0-1145-B0A6-243A-76B9DE4D06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0482779"/>
              </p:ext>
            </p:extLst>
          </p:nvPr>
        </p:nvGraphicFramePr>
        <p:xfrm>
          <a:off x="493863" y="2028825"/>
          <a:ext cx="11048999" cy="28003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3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471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582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350" b="1" i="0" u="none">
                          <a:solidFill>
                            <a:srgbClr val="0F172A"/>
                          </a:solidFill>
                          <a:latin typeface="Space Grotesk"/>
                        </a:rPr>
                        <a:t>Arquitectura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Especialidad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Space Grotesk"/>
                        </a:rPr>
                        <a:t>Casos de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Uso</a:t>
                      </a:r>
                      <a:r>
                        <a:rPr sz="1350" b="1" i="0" u="none" dirty="0">
                          <a:solidFill>
                            <a:srgbClr val="0F172A"/>
                          </a:solidFill>
                          <a:latin typeface="Space Grotesk"/>
                        </a:rPr>
                        <a:t> </a:t>
                      </a:r>
                      <a:r>
                        <a:rPr sz="1350" b="1" i="0" u="none" dirty="0" err="1">
                          <a:solidFill>
                            <a:srgbClr val="0F172A"/>
                          </a:solidFill>
                          <a:latin typeface="Space Grotesk"/>
                        </a:rPr>
                        <a:t>Principales</a:t>
                      </a:r>
                      <a:endParaRPr sz="1350" b="1" i="0" u="none" dirty="0">
                        <a:solidFill>
                          <a:srgbClr val="0F172A"/>
                        </a:solidFill>
                        <a:latin typeface="Space Grotesk"/>
                      </a:endParaRP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MLP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(Perceptrón Multicapa)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Datos tabulares y densos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Clasificación estándar, regresión de datos.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CNN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(Redes Convolucionales)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Procesamiento espacial e imágenes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Visión por computadora, detección de objetos.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RNN / LSTM</a:t>
                      </a:r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 (Recurrentes)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Datos secuenciales y temporales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Series de tiempo, análisis de audio.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0070">
                <a:tc>
                  <a:txBody>
                    <a:bodyPr/>
                    <a:lstStyle/>
                    <a:p>
                      <a:pPr algn="l"/>
                      <a:r>
                        <a:rPr sz="1275" b="1" i="0" u="none">
                          <a:solidFill>
                            <a:srgbClr val="334155"/>
                          </a:solidFill>
                          <a:latin typeface="Inter"/>
                        </a:rPr>
                        <a:t>Transformers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>
                          <a:solidFill>
                            <a:srgbClr val="334155"/>
                          </a:solidFill>
                          <a:latin typeface="Inter"/>
                        </a:rPr>
                        <a:t>Mecanismos de atención paralela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Modelos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de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lenguaje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 (LLMs), </a:t>
                      </a:r>
                      <a:r>
                        <a:rPr sz="1275" b="0" i="0" u="none" dirty="0" err="1">
                          <a:solidFill>
                            <a:srgbClr val="334155"/>
                          </a:solidFill>
                          <a:latin typeface="Inter"/>
                        </a:rPr>
                        <a:t>traducción</a:t>
                      </a:r>
                      <a:r>
                        <a:rPr sz="1275" b="0" i="0" u="none" dirty="0">
                          <a:solidFill>
                            <a:srgbClr val="334155"/>
                          </a:solidFill>
                          <a:latin typeface="Inter"/>
                        </a:rPr>
                        <a:t>.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3">
            <a:extLst>
              <a:ext uri="{FF2B5EF4-FFF2-40B4-BE49-F238E27FC236}">
                <a16:creationId xmlns:a16="http://schemas.microsoft.com/office/drawing/2014/main" id="{DAEC9212-BE6E-3569-7349-4B25A3DC281B}"/>
              </a:ext>
            </a:extLst>
          </p:cNvPr>
          <p:cNvSpPr/>
          <p:nvPr/>
        </p:nvSpPr>
        <p:spPr>
          <a:xfrm>
            <a:off x="493863" y="2586038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8D255FE2-E8D5-FA69-9638-F0147AC7D1E5}"/>
              </a:ext>
            </a:extLst>
          </p:cNvPr>
          <p:cNvSpPr/>
          <p:nvPr/>
        </p:nvSpPr>
        <p:spPr>
          <a:xfrm>
            <a:off x="3537398" y="2586038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2DC9BFA4-BD40-0A58-1C9E-0EDFEB32C449}"/>
              </a:ext>
            </a:extLst>
          </p:cNvPr>
          <p:cNvSpPr/>
          <p:nvPr/>
        </p:nvSpPr>
        <p:spPr>
          <a:xfrm>
            <a:off x="7084567" y="2586038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9F394856-C77D-434E-A526-A8F9CA6051BE}"/>
              </a:ext>
            </a:extLst>
          </p:cNvPr>
          <p:cNvSpPr/>
          <p:nvPr/>
        </p:nvSpPr>
        <p:spPr>
          <a:xfrm>
            <a:off x="493863" y="3143250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45C672F7-EA92-240E-257B-94BB01274209}"/>
              </a:ext>
            </a:extLst>
          </p:cNvPr>
          <p:cNvSpPr/>
          <p:nvPr/>
        </p:nvSpPr>
        <p:spPr>
          <a:xfrm>
            <a:off x="3537398" y="3143250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6A5817F0-A1D4-C043-F0C5-1E05DB978F8A}"/>
              </a:ext>
            </a:extLst>
          </p:cNvPr>
          <p:cNvSpPr/>
          <p:nvPr/>
        </p:nvSpPr>
        <p:spPr>
          <a:xfrm>
            <a:off x="7084567" y="3143250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9">
            <a:extLst>
              <a:ext uri="{FF2B5EF4-FFF2-40B4-BE49-F238E27FC236}">
                <a16:creationId xmlns:a16="http://schemas.microsoft.com/office/drawing/2014/main" id="{E5DCB9A0-F3DE-C640-FB8B-398787ED04E5}"/>
              </a:ext>
            </a:extLst>
          </p:cNvPr>
          <p:cNvSpPr/>
          <p:nvPr/>
        </p:nvSpPr>
        <p:spPr>
          <a:xfrm>
            <a:off x="493863" y="3700463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0">
            <a:extLst>
              <a:ext uri="{FF2B5EF4-FFF2-40B4-BE49-F238E27FC236}">
                <a16:creationId xmlns:a16="http://schemas.microsoft.com/office/drawing/2014/main" id="{9934BC2E-CC15-2221-5394-567ED2855CD4}"/>
              </a:ext>
            </a:extLst>
          </p:cNvPr>
          <p:cNvSpPr/>
          <p:nvPr/>
        </p:nvSpPr>
        <p:spPr>
          <a:xfrm>
            <a:off x="3537398" y="3700463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F676924-DE2A-C188-2A01-E344B257E1DA}"/>
              </a:ext>
            </a:extLst>
          </p:cNvPr>
          <p:cNvSpPr/>
          <p:nvPr/>
        </p:nvSpPr>
        <p:spPr>
          <a:xfrm>
            <a:off x="7084567" y="3700463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2">
            <a:extLst>
              <a:ext uri="{FF2B5EF4-FFF2-40B4-BE49-F238E27FC236}">
                <a16:creationId xmlns:a16="http://schemas.microsoft.com/office/drawing/2014/main" id="{735918A1-1048-D0B9-3341-080CCEB03F44}"/>
              </a:ext>
            </a:extLst>
          </p:cNvPr>
          <p:cNvSpPr/>
          <p:nvPr/>
        </p:nvSpPr>
        <p:spPr>
          <a:xfrm>
            <a:off x="493863" y="4257675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EEB46F9F-979A-740B-8D94-503291C81CAE}"/>
              </a:ext>
            </a:extLst>
          </p:cNvPr>
          <p:cNvSpPr/>
          <p:nvPr/>
        </p:nvSpPr>
        <p:spPr>
          <a:xfrm>
            <a:off x="3537398" y="4257675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4">
            <a:extLst>
              <a:ext uri="{FF2B5EF4-FFF2-40B4-BE49-F238E27FC236}">
                <a16:creationId xmlns:a16="http://schemas.microsoft.com/office/drawing/2014/main" id="{26D97495-A8D1-E716-5C50-1964623CDF3E}"/>
              </a:ext>
            </a:extLst>
          </p:cNvPr>
          <p:cNvSpPr/>
          <p:nvPr/>
        </p:nvSpPr>
        <p:spPr>
          <a:xfrm>
            <a:off x="7084567" y="4257675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5">
            <a:extLst>
              <a:ext uri="{FF2B5EF4-FFF2-40B4-BE49-F238E27FC236}">
                <a16:creationId xmlns:a16="http://schemas.microsoft.com/office/drawing/2014/main" id="{C2C207F5-4114-B4F6-0599-42BC0B1FC697}"/>
              </a:ext>
            </a:extLst>
          </p:cNvPr>
          <p:cNvSpPr/>
          <p:nvPr/>
        </p:nvSpPr>
        <p:spPr>
          <a:xfrm>
            <a:off x="493863" y="4814888"/>
            <a:ext cx="30435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6">
            <a:extLst>
              <a:ext uri="{FF2B5EF4-FFF2-40B4-BE49-F238E27FC236}">
                <a16:creationId xmlns:a16="http://schemas.microsoft.com/office/drawing/2014/main" id="{58C0DE19-A89A-F7E4-99B3-5719C487840B}"/>
              </a:ext>
            </a:extLst>
          </p:cNvPr>
          <p:cNvSpPr/>
          <p:nvPr/>
        </p:nvSpPr>
        <p:spPr>
          <a:xfrm>
            <a:off x="3537398" y="4814888"/>
            <a:ext cx="354716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7">
            <a:extLst>
              <a:ext uri="{FF2B5EF4-FFF2-40B4-BE49-F238E27FC236}">
                <a16:creationId xmlns:a16="http://schemas.microsoft.com/office/drawing/2014/main" id="{699BA305-47A4-572A-6340-5E73331E3CD4}"/>
              </a:ext>
            </a:extLst>
          </p:cNvPr>
          <p:cNvSpPr/>
          <p:nvPr/>
        </p:nvSpPr>
        <p:spPr>
          <a:xfrm>
            <a:off x="7084567" y="4814888"/>
            <a:ext cx="445829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3197725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 txBox="1"/>
          <p:nvPr/>
        </p:nvSpPr>
        <p:spPr>
          <a:xfrm>
            <a:off x="571500" y="32004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500" b="1" dirty="0">
                <a:latin typeface="+mj-lt"/>
                <a:ea typeface="Cambria" pitchFamily="34" charset="-122"/>
                <a:cs typeface="Cambria" pitchFamily="34" charset="-120"/>
              </a:rPr>
              <a:t>Aplicaciones del Deep Learning</a:t>
            </a:r>
            <a:endParaRPr lang="es-PE" sz="2500" dirty="0">
              <a:latin typeface="+mj-lt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Visión</a:t>
            </a:r>
            <a:endParaRPr lang="es-PE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médico, autos autónomos, reconocimiento facial</a:t>
            </a:r>
            <a:endParaRPr lang="es-PE" sz="11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47472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s-PE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347472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Traducción, asistentes virtuales, modelos de lenguaje</a:t>
            </a:r>
            <a:endParaRPr lang="es-PE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Generativa</a:t>
            </a:r>
            <a:endParaRPr lang="es-PE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Imagen, texto, música y video generados</a:t>
            </a:r>
            <a:endParaRPr lang="es-PE" sz="1100" dirty="0"/>
          </a:p>
        </p:txBody>
      </p:sp>
      <p:sp>
        <p:nvSpPr>
          <p:cNvPr id="15" name="Shape 13"/>
          <p:cNvSpPr/>
          <p:nvPr/>
        </p:nvSpPr>
        <p:spPr>
          <a:xfrm>
            <a:off x="8915400" y="1280160"/>
            <a:ext cx="2606040" cy="1600200"/>
          </a:xfrm>
          <a:prstGeom prst="roundRect">
            <a:avLst>
              <a:gd name="adj" fmla="val 3429"/>
            </a:avLst>
          </a:prstGeom>
          <a:solidFill>
            <a:srgbClr val="22335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052560" y="141732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s-PE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9052560" y="1783080"/>
            <a:ext cx="2331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Streaming</a:t>
            </a: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e-</a:t>
            </a:r>
            <a:r>
              <a:rPr lang="es-PE" sz="1100" dirty="0" err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commerce</a:t>
            </a: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personalizados</a:t>
            </a:r>
            <a:endParaRPr lang="es-PE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3108960"/>
            <a:ext cx="11064240" cy="3108960"/>
          </a:xfrm>
          <a:prstGeom prst="roundRect">
            <a:avLst>
              <a:gd name="adj" fmla="val 2059"/>
            </a:avLst>
          </a:prstGeom>
          <a:solidFill>
            <a:srgbClr val="7030A0"/>
          </a:solidFill>
          <a:ln w="12700">
            <a:solidFill>
              <a:srgbClr val="1BA9C2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291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800" b="1" dirty="0">
                <a:solidFill>
                  <a:srgbClr val="1BA9C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Ética</a:t>
            </a:r>
            <a:endParaRPr lang="es-PE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370332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ingenieros, tomarán decisiones de diseño con consecuencias reales sobre personas reales.</a:t>
            </a:r>
            <a:endParaRPr lang="es-PE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Sesgo algorítmico</a:t>
            </a:r>
            <a:endParaRPr lang="es-PE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8686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históricos desiguales → decisiones amplificadas a escala.</a:t>
            </a:r>
            <a:endParaRPr lang="es-PE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36118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</a:t>
            </a:r>
            <a:endParaRPr lang="es-PE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36118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entrenados con datos sin consentimiento informado.</a:t>
            </a:r>
            <a:endParaRPr lang="es-PE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Explicabilidad</a:t>
            </a:r>
            <a:endParaRPr lang="es-PE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63550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Cajas negras difíciles de justificar en salud, justicia, crédito.</a:t>
            </a:r>
            <a:endParaRPr lang="es-PE" sz="1100" dirty="0"/>
          </a:p>
        </p:txBody>
      </p:sp>
      <p:sp>
        <p:nvSpPr>
          <p:cNvPr id="27" name="Text 25"/>
          <p:cNvSpPr txBox="1"/>
          <p:nvPr/>
        </p:nvSpPr>
        <p:spPr>
          <a:xfrm>
            <a:off x="9098280" y="42519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ambiental y laboral</a:t>
            </a:r>
            <a:endParaRPr lang="es-PE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9098280" y="4617720"/>
            <a:ext cx="2606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energético del entrenamiento y desplazamiento laboral.</a:t>
            </a:r>
            <a:endParaRPr lang="es-PE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pic>
        <p:nvPicPr>
          <p:cNvPr id="30" name="Imagen 29">
            <a:extLst>
              <a:ext uri="{FF2B5EF4-FFF2-40B4-BE49-F238E27FC236}">
                <a16:creationId xmlns:a16="http://schemas.microsoft.com/office/drawing/2014/main" id="{271C64F5-2C81-BCF2-F2BB-ECB02F74F1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0831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 de código abierto de Google </a:t>
            </a:r>
            <a:r>
              <a:rPr lang="es-PE" sz="14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Brain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(2015) para construir y entrenar modelos de ML/DL a gran escala.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69164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Tensores</a:t>
            </a:r>
            <a:endParaRPr lang="es-P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3291840" y="169164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datos fundamental: generalizan escalares, vectores y matrices a n dimensiones.</a:t>
            </a:r>
            <a:endParaRPr lang="es-PE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803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88036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Grafo de cómputo</a:t>
            </a:r>
            <a:endParaRPr lang="es-PE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3291840" y="288036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Operaciones como nodos y tensores como aristas. Desde TF 2.x, ejecución "</a:t>
            </a:r>
            <a:r>
              <a:rPr lang="es-PE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eager</a:t>
            </a: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 por defecto.</a:t>
            </a:r>
            <a:endParaRPr lang="es-PE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406908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22960" y="4069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Autograd</a:t>
            </a:r>
            <a:endParaRPr lang="es-PE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3291840" y="406908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Diferenciación automática: calcula todos los gradientes sin derivar fórmulas a mano.</a:t>
            </a:r>
            <a:endParaRPr lang="es-PE" sz="1300" dirty="0"/>
          </a:p>
        </p:txBody>
      </p:sp>
      <p:sp>
        <p:nvSpPr>
          <p:cNvPr id="15" name="Shape 13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22960" y="525780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Ecosistema</a:t>
            </a:r>
            <a:endParaRPr lang="es-PE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5257800"/>
            <a:ext cx="8138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 Lite (móvil), TF.js (navegador), TF </a:t>
            </a:r>
            <a:r>
              <a:rPr lang="es-PE" sz="1300" dirty="0" err="1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Serving</a:t>
            </a:r>
            <a:r>
              <a:rPr lang="es-PE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(producción) — de entrenamiento a despliegue.</a:t>
            </a:r>
            <a:endParaRPr lang="es-PE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1459510-8103-D192-9EA9-5E87C175A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408319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endParaRPr lang="es-PE" sz="2800" dirty="0"/>
          </a:p>
        </p:txBody>
      </p:sp>
      <p:sp>
        <p:nvSpPr>
          <p:cNvPr id="18" name="Text 16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11459510-8103-D192-9EA9-5E87C175A4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pic>
        <p:nvPicPr>
          <p:cNvPr id="2" name="Picture 3" descr="image.png">
            <a:extLst>
              <a:ext uri="{FF2B5EF4-FFF2-40B4-BE49-F238E27FC236}">
                <a16:creationId xmlns:a16="http://schemas.microsoft.com/office/drawing/2014/main" id="{446B40B4-D578-2B4F-D90D-48373120F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99539" y="804108"/>
            <a:ext cx="5014823" cy="5871012"/>
          </a:xfrm>
          <a:prstGeom prst="rect">
            <a:avLst/>
          </a:prstGeom>
        </p:spPr>
      </p:pic>
      <p:sp>
        <p:nvSpPr>
          <p:cNvPr id="3" name="TextBox 5">
            <a:extLst>
              <a:ext uri="{FF2B5EF4-FFF2-40B4-BE49-F238E27FC236}">
                <a16:creationId xmlns:a16="http://schemas.microsoft.com/office/drawing/2014/main" id="{81D1DABD-3550-A9FF-E178-6F8AB72AF666}"/>
              </a:ext>
            </a:extLst>
          </p:cNvPr>
          <p:cNvSpPr txBox="1"/>
          <p:nvPr/>
        </p:nvSpPr>
        <p:spPr>
          <a:xfrm>
            <a:off x="675017" y="2030083"/>
            <a:ext cx="5760289" cy="4873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>
                <a:solidFill>
                  <a:srgbClr val="334155"/>
                </a:solidFill>
                <a:latin typeface="+mj-lt"/>
              </a:rPr>
              <a:t>TensorFlow: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Plataforma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código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abierto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desarrollada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por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Google para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cómputo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numérico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alto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rendimiento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CPU y GPU.</a:t>
            </a:r>
          </a:p>
        </p:txBody>
      </p:sp>
      <p:sp>
        <p:nvSpPr>
          <p:cNvPr id="20" name="TextBox 6">
            <a:extLst>
              <a:ext uri="{FF2B5EF4-FFF2-40B4-BE49-F238E27FC236}">
                <a16:creationId xmlns:a16="http://schemas.microsoft.com/office/drawing/2014/main" id="{DB7524E4-F583-BBF8-4A04-12C3B573AC8E}"/>
              </a:ext>
            </a:extLst>
          </p:cNvPr>
          <p:cNvSpPr txBox="1"/>
          <p:nvPr/>
        </p:nvSpPr>
        <p:spPr>
          <a:xfrm>
            <a:off x="675017" y="3159279"/>
            <a:ext cx="5639519" cy="7309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>
              <a:lnSpc>
                <a:spcPts val="1912"/>
              </a:lnSpc>
            </a:pPr>
            <a:r>
              <a:rPr sz="1600" b="1" i="0" u="none" dirty="0" err="1">
                <a:solidFill>
                  <a:srgbClr val="334155"/>
                </a:solidFill>
                <a:latin typeface="+mj-lt"/>
              </a:rPr>
              <a:t>Keras</a:t>
            </a:r>
            <a:r>
              <a:rPr sz="1600" b="1" i="0" u="none" dirty="0">
                <a:solidFill>
                  <a:srgbClr val="334155"/>
                </a:solidFill>
                <a:latin typeface="+mj-lt"/>
              </a:rPr>
              <a:t>: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API de alto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nivel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integrada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TensorFlow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enfocada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la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facilidad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uso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,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modularidad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y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rápida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experimentación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para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prototipar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</a:t>
            </a:r>
            <a:r>
              <a:rPr sz="1600" b="0" i="0" u="none" dirty="0" err="1">
                <a:solidFill>
                  <a:srgbClr val="334155"/>
                </a:solidFill>
                <a:latin typeface="+mj-lt"/>
              </a:rPr>
              <a:t>modelos</a:t>
            </a:r>
            <a:r>
              <a:rPr sz="1600" b="0" i="0" u="none" dirty="0">
                <a:solidFill>
                  <a:srgbClr val="334155"/>
                </a:solidFill>
                <a:latin typeface="+mj-lt"/>
              </a:rPr>
              <a:t> deep learning.</a:t>
            </a:r>
          </a:p>
        </p:txBody>
      </p:sp>
    </p:spTree>
    <p:extLst>
      <p:ext uri="{BB962C8B-B14F-4D97-AF65-F5344CB8AC3E}">
        <p14:creationId xmlns:p14="http://schemas.microsoft.com/office/powerpoint/2010/main" val="36268029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64008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8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s-PE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0607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de alto nivel creada por François </a:t>
            </a:r>
            <a:r>
              <a:rPr lang="es-PE" sz="1400" i="1" dirty="0" err="1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Chollet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PE" sz="1400" b="1" i="1" dirty="0">
                <a:solidFill>
                  <a:srgbClr val="FF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diseñada para minimizar el tiempo entre idea y experimento</a:t>
            </a:r>
            <a:r>
              <a:rPr lang="es-PE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E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691640"/>
            <a:ext cx="5212080" cy="1828800"/>
          </a:xfrm>
          <a:prstGeom prst="roundRect">
            <a:avLst>
              <a:gd name="adj" fmla="val 3000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288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</a:t>
            </a:r>
            <a:endParaRPr lang="es-PE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402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Pila lineal de capas, una tras otra. La forma más rápida de expresar una red estándar la que  se usa.</a:t>
            </a:r>
            <a:endParaRPr lang="es-PE" sz="1250" dirty="0"/>
          </a:p>
        </p:txBody>
      </p:sp>
      <p:sp>
        <p:nvSpPr>
          <p:cNvPr id="9" name="Shape 7"/>
          <p:cNvSpPr/>
          <p:nvPr/>
        </p:nvSpPr>
        <p:spPr>
          <a:xfrm>
            <a:off x="5989320" y="1691640"/>
            <a:ext cx="5623560" cy="1828800"/>
          </a:xfrm>
          <a:prstGeom prst="roundRect">
            <a:avLst>
              <a:gd name="adj" fmla="val 3000"/>
            </a:avLst>
          </a:prstGeom>
          <a:solidFill>
            <a:srgbClr val="F2F4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Functional</a:t>
            </a:r>
            <a:endParaRPr lang="es-PE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6263640" y="22402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2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Múltiples entradas/salidas, ramas o conexiones no lineales, por ejemplo arquitecturas con conexiones residuales.</a:t>
            </a:r>
            <a:endParaRPr lang="es-PE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3794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de trabajo típico</a:t>
            </a:r>
            <a:endParaRPr lang="es-PE" sz="1500" dirty="0"/>
          </a:p>
        </p:txBody>
      </p:sp>
      <p:sp>
        <p:nvSpPr>
          <p:cNvPr id="13" name="Shape 11"/>
          <p:cNvSpPr/>
          <p:nvPr/>
        </p:nvSpPr>
        <p:spPr>
          <a:xfrm>
            <a:off x="5486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s-PE" sz="1300" dirty="0"/>
          </a:p>
        </p:txBody>
      </p:sp>
      <p:sp>
        <p:nvSpPr>
          <p:cNvPr id="15" name="Shape 13"/>
          <p:cNvSpPr/>
          <p:nvPr/>
        </p:nvSpPr>
        <p:spPr>
          <a:xfrm rot="5400000">
            <a:off x="30906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6" name="Shape 14"/>
          <p:cNvSpPr/>
          <p:nvPr/>
        </p:nvSpPr>
        <p:spPr>
          <a:xfrm>
            <a:off x="32918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33832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Compilar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(optimizador, pérdida)</a:t>
            </a:r>
            <a:endParaRPr lang="es-PE" sz="1300" dirty="0"/>
          </a:p>
        </p:txBody>
      </p:sp>
      <p:sp>
        <p:nvSpPr>
          <p:cNvPr id="18" name="Shape 16"/>
          <p:cNvSpPr/>
          <p:nvPr/>
        </p:nvSpPr>
        <p:spPr>
          <a:xfrm rot="5400000">
            <a:off x="58338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19" name="Shape 17"/>
          <p:cNvSpPr/>
          <p:nvPr/>
        </p:nvSpPr>
        <p:spPr>
          <a:xfrm>
            <a:off x="60350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1264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Entrenar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s-PE" sz="1300" b="1" dirty="0" err="1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</a:t>
            </a: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s-PE" sz="1300" dirty="0"/>
          </a:p>
        </p:txBody>
      </p:sp>
      <p:sp>
        <p:nvSpPr>
          <p:cNvPr id="21" name="Shape 19"/>
          <p:cNvSpPr/>
          <p:nvPr/>
        </p:nvSpPr>
        <p:spPr>
          <a:xfrm rot="5400000">
            <a:off x="8577072" y="4828032"/>
            <a:ext cx="201168" cy="219456"/>
          </a:xfrm>
          <a:prstGeom prst="triangle">
            <a:avLst/>
          </a:prstGeom>
          <a:solidFill>
            <a:srgbClr val="5A6472"/>
          </a:solidFill>
          <a:ln/>
        </p:spPr>
      </p:sp>
      <p:sp>
        <p:nvSpPr>
          <p:cNvPr id="22" name="Shape 20"/>
          <p:cNvSpPr/>
          <p:nvPr/>
        </p:nvSpPr>
        <p:spPr>
          <a:xfrm>
            <a:off x="8778240" y="4251960"/>
            <a:ext cx="2514600" cy="1371600"/>
          </a:xfrm>
          <a:prstGeom prst="roundRect">
            <a:avLst>
              <a:gd name="adj" fmla="val 4000"/>
            </a:avLst>
          </a:prstGeom>
          <a:solidFill>
            <a:srgbClr val="1BA9C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869680" y="4251960"/>
            <a:ext cx="2331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Evaluar y</a:t>
            </a:r>
            <a:endParaRPr lang="es-PE" sz="1300" dirty="0"/>
          </a:p>
          <a:p>
            <a:pPr marL="0" indent="0" algn="ctr">
              <a:buNone/>
            </a:pPr>
            <a:r>
              <a:rPr lang="es-PE" sz="13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predecir</a:t>
            </a:r>
            <a:endParaRPr lang="es-PE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pic>
        <p:nvPicPr>
          <p:cNvPr id="25" name="Imagen 24">
            <a:extLst>
              <a:ext uri="{FF2B5EF4-FFF2-40B4-BE49-F238E27FC236}">
                <a16:creationId xmlns:a16="http://schemas.microsoft.com/office/drawing/2014/main" id="{25A5E236-6F78-3B2D-2181-0910256EE4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2"/>
          <p:cNvSpPr txBox="1"/>
          <p:nvPr/>
        </p:nvSpPr>
        <p:spPr>
          <a:xfrm>
            <a:off x="548640" y="3886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27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TensorFlow</a:t>
            </a:r>
            <a:r>
              <a:rPr lang="es-PE" sz="2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vs </a:t>
            </a:r>
            <a:r>
              <a:rPr lang="es-PE" sz="2700" b="1" dirty="0" err="1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Keras</a:t>
            </a:r>
            <a:endParaRPr lang="es-PE" sz="270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11064240" cy="1051560"/>
          </a:xfrm>
          <a:prstGeom prst="roundRect">
            <a:avLst>
              <a:gd name="adj" fmla="val 5217"/>
            </a:avLst>
          </a:prstGeom>
          <a:solidFill>
            <a:srgbClr val="E8F7F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280160"/>
            <a:ext cx="10515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compiten. Desde TF 2.0, 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tf.keras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es la API oficial de alto nivel integrada en </a:t>
            </a:r>
            <a:r>
              <a:rPr lang="es-PE" sz="1500" b="1" i="1" dirty="0" err="1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s-PE" sz="1500" b="1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s-PE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606040"/>
            <a:ext cx="5349240" cy="2926080"/>
          </a:xfrm>
          <a:prstGeom prst="roundRect">
            <a:avLst>
              <a:gd name="adj" fmla="val 2188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74320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dirty="0" err="1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</a:t>
            </a:r>
            <a:r>
              <a:rPr lang="es-PE" sz="1600" b="1" dirty="0">
                <a:solidFill>
                  <a:srgbClr val="1BA9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el motor</a:t>
            </a:r>
            <a:endParaRPr lang="es-PE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3246120"/>
            <a:ext cx="4846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Maneja tensores, cómputo en GPU, diferenciación automática y despliegue en producción.</a:t>
            </a:r>
            <a:endParaRPr lang="es-PE" sz="1350" dirty="0"/>
          </a:p>
        </p:txBody>
      </p:sp>
      <p:sp>
        <p:nvSpPr>
          <p:cNvPr id="10" name="Shape 8"/>
          <p:cNvSpPr/>
          <p:nvPr/>
        </p:nvSpPr>
        <p:spPr>
          <a:xfrm>
            <a:off x="6080760" y="2606040"/>
            <a:ext cx="5532120" cy="2926080"/>
          </a:xfrm>
          <a:prstGeom prst="roundRect">
            <a:avLst>
              <a:gd name="adj" fmla="val 2188"/>
            </a:avLst>
          </a:prstGeom>
          <a:solidFill>
            <a:srgbClr val="1BA9C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355080" y="2743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600" b="1" dirty="0" err="1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Keras</a:t>
            </a:r>
            <a:r>
              <a:rPr lang="es-PE" sz="1600" b="1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la interfaz</a:t>
            </a:r>
            <a:endParaRPr lang="es-PE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355080" y="3246120"/>
            <a:ext cx="50292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s-PE" sz="1350" dirty="0">
                <a:solidFill>
                  <a:srgbClr val="0F1B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Hace ese motor accesible con pocas líneas de código legible. Bajamos a TF puro solo para arquitecturas muy no estándar o bucles de entrenamiento personalizados.</a:t>
            </a:r>
            <a:endParaRPr lang="es-PE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11368735" y="63550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pic>
        <p:nvPicPr>
          <p:cNvPr id="14" name="Imagen 13">
            <a:extLst>
              <a:ext uri="{FF2B5EF4-FFF2-40B4-BE49-F238E27FC236}">
                <a16:creationId xmlns:a16="http://schemas.microsoft.com/office/drawing/2014/main" id="{AFC5641D-4D7A-9D2A-2FB6-05B1C845A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3630B9-7CBD-E8FE-BA0B-D50000AA3A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D4A29750-C0B7-409F-F528-4B7DC6BF43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A7C8B5B-23A2-7FF7-096F-AFF86D75B4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12191998" cy="46177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8BF24CE-EFA2-67A6-A854-E2208C1785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1962"/>
            <a:ext cx="4076698" cy="464399"/>
          </a:xfrm>
          <a:prstGeom prst="rect">
            <a:avLst/>
          </a:prstGeom>
          <a:gradFill>
            <a:gsLst>
              <a:gs pos="0">
                <a:srgbClr val="000000">
                  <a:alpha val="46000"/>
                </a:srgbClr>
              </a:gs>
              <a:gs pos="99000">
                <a:schemeClr val="accent1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690007D0-417B-AAB1-37D1-52E1F684BA4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96005" y="365187"/>
            <a:ext cx="1246653" cy="342830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EFEAA1AE-2479-9632-60A0-42134C804850}"/>
              </a:ext>
            </a:extLst>
          </p:cNvPr>
          <p:cNvSpPr txBox="1"/>
          <p:nvPr/>
        </p:nvSpPr>
        <p:spPr>
          <a:xfrm>
            <a:off x="1658710" y="2805457"/>
            <a:ext cx="968027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3600" i="1" dirty="0"/>
              <a:t>“Los sistemas de información no solo mueven datos… mueven ideas, decisiones y el futuro de las organizaciones”</a:t>
            </a:r>
            <a:endParaRPr lang="es-PE" sz="3600" i="1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A02C7EB-1B9A-34C7-5D41-D76E56D33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496" y="1512261"/>
            <a:ext cx="1549853" cy="13618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95362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4F3930B-3C3C-42BC-98AD-151F80C68738}">
  <we:reference id="wa200006067" version="1.0.0.9" store="es-ES" storeType="OMEX"/>
  <we:alternateReferences>
    <we:reference id="wa200006067" version="1.0.0.9" store="wa200006067" storeType="OMEX"/>
  </we:alternateReferences>
  <we:properties/>
  <we:bindings/>
  <we:snapshot xmlns:r="http://schemas.openxmlformats.org/officeDocument/2006/relationships"/>
  <we:extLst>
    <a:ext xmlns:a="http://schemas.openxmlformats.org/drawingml/2006/main" uri="{0858819E-0033-43BF-8937-05EC82904868}">
      <we:backgroundApp state="1" runtimeId=""/>
    </a:ext>
  </we:extLst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4022</TotalTime>
  <Words>1470</Words>
  <Application>Microsoft Office PowerPoint</Application>
  <PresentationFormat>Panorámica</PresentationFormat>
  <Paragraphs>223</Paragraphs>
  <Slides>20</Slides>
  <Notes>18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Inter</vt:lpstr>
      <vt:lpstr>Space Grotesk</vt:lpstr>
      <vt:lpstr>Aptos</vt:lpstr>
      <vt:lpstr>Aptos Display</vt:lpstr>
      <vt:lpstr>Arial</vt:lpstr>
      <vt:lpstr>Calibri</vt:lpstr>
      <vt:lpstr>Cambria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Stefani  Rojas</dc:creator>
  <cp:lastModifiedBy>STEFANI ROJAS</cp:lastModifiedBy>
  <cp:revision>39</cp:revision>
  <dcterms:created xsi:type="dcterms:W3CDTF">2025-08-12T17:48:03Z</dcterms:created>
  <dcterms:modified xsi:type="dcterms:W3CDTF">2026-09-04T22:22:21Z</dcterms:modified>
</cp:coreProperties>
</file>