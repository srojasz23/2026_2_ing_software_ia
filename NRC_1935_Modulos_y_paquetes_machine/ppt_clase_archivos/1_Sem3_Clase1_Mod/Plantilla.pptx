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5" r:id="rId5"/>
    <p:sldId id="259" r:id="rId6"/>
    <p:sldId id="260" r:id="rId7"/>
    <p:sldId id="276" r:id="rId8"/>
    <p:sldId id="277" r:id="rId9"/>
    <p:sldId id="278" r:id="rId10"/>
    <p:sldId id="261" r:id="rId11"/>
    <p:sldId id="280" r:id="rId12"/>
    <p:sldId id="281" r:id="rId13"/>
    <p:sldId id="282" r:id="rId14"/>
    <p:sldId id="283" r:id="rId15"/>
    <p:sldId id="262" r:id="rId16"/>
    <p:sldId id="263" r:id="rId17"/>
    <p:sldId id="285" r:id="rId18"/>
    <p:sldId id="264" r:id="rId19"/>
    <p:sldId id="265" r:id="rId20"/>
    <p:sldId id="274" r:id="rId2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A39E4"/>
    <a:srgbClr val="F8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870" autoAdjust="0"/>
    <p:restoredTop sz="96247" autoAdjust="0"/>
  </p:normalViewPr>
  <p:slideViewPr>
    <p:cSldViewPr snapToGrid="0">
      <p:cViewPr varScale="1">
        <p:scale>
          <a:sx n="111" d="100"/>
          <a:sy n="111" d="100"/>
        </p:scale>
        <p:origin x="11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EB9F45-287E-4445-8641-491EBB1D32C8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4F3E7-703C-4AA9-A4C2-E24C1B2A5F6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53593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 err="1"/>
              <a:t>Credit</a:t>
            </a:r>
            <a:r>
              <a:rPr lang="es-PE" dirty="0"/>
              <a:t> </a:t>
            </a:r>
            <a:r>
              <a:rPr lang="es-PE" dirty="0" err="1"/>
              <a:t>Card</a:t>
            </a:r>
            <a:r>
              <a:rPr lang="es-PE" dirty="0"/>
              <a:t> </a:t>
            </a:r>
            <a:r>
              <a:rPr lang="es-PE" dirty="0" err="1"/>
              <a:t>Approval</a:t>
            </a:r>
            <a:r>
              <a:rPr lang="es-PE" dirty="0"/>
              <a:t>   </a:t>
            </a:r>
            <a:r>
              <a:rPr lang="es-PE" dirty="0" err="1"/>
              <a:t>Prediction</a:t>
            </a:r>
            <a:r>
              <a:rPr lang="es-PE" dirty="0"/>
              <a:t>   </a:t>
            </a:r>
          </a:p>
          <a:p>
            <a:endParaRPr lang="es-PE" dirty="0"/>
          </a:p>
          <a:p>
            <a:r>
              <a:rPr lang="es-PE" dirty="0"/>
              <a:t>https://www.kaggle.com/datasets/rikdifos/credit-card-approval-prediction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54F3E7-703C-4AA9-A4C2-E24C1B2A5F67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02392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876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640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34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653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019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45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405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161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405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183CB3-B8E8-1E97-82BE-544EBE167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8D0C40-1A72-FEF6-EEC9-D39F9391D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C0BDAF-07DA-3AEC-CACB-F10E06EA5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B977E9-1F9F-0BBF-CE09-20633B81B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4FB3BC-592B-54E5-BA46-7E2EC1CCB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98912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62649-F2C1-2ED6-152E-149418714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6A1CFA-2116-0130-2502-3A2064BCD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0261AB-A244-C14D-7D83-0FB94989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3718E5-E600-EDC1-BD09-D6C5FEE1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1747EA-DA01-30D2-0D27-D3868E875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11063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A2CD32-D06C-19F2-0F90-AE3B71270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408C08C-657B-7F2D-5146-DC6289805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C421B9-14EB-9357-8834-AFF1318E8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DFD8C5-D872-0721-6CD9-1508F8B95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53A9ED-EE91-E77B-61C6-704630296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11072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3CA717-0E2F-A24B-3C19-A6DDF9D50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8C82FA-18DC-7F8D-A962-C22245B30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24860A-8B37-8A27-6805-EFFF3A889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EB5591-5E79-B5DB-9B68-97AA6E695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B35BE8-222C-C32F-9463-90A990F51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45DB5AD-1694-1240-3B05-99AE196A5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6631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DC02D2-23B6-BAF5-9983-19C5DB79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D5F963-89C2-ECFB-2AF2-58F7FD2DE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0F79DE-91DC-DFD9-0EA4-6C93BB78F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193D3DB-B90B-3481-E0EC-59422B45B8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FD5829-5703-E187-5DEF-E57BF1CC7A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0395FA4-AD97-6D39-E8D9-6181D7093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B5CE1AB-1744-6B2E-D971-48216AC44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76A49E9-1743-6D7C-12F1-87795F79D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99523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30015-B525-CD47-8C62-466EDE213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BB4EA34-A889-9942-2913-699D328D7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7B77012-6D29-926E-7C8B-85D7C6809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CFDBBF3-AE07-2088-5552-8CD389700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59805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4A1CC4C-7298-A19C-535D-FB3CCA56D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81A8701-AE8D-ADBE-C3BA-02A5027E3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57420C-FAD0-9B89-8417-7ACC341FD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65291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A346A-9614-1969-B39D-B5FF5F7F8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1EF7-4557-2CC9-B783-16102C26C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BA30990-14B5-D24A-588C-73FE0C7B5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3130E9-048F-E6FB-9C35-ED6B7E0C8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77E19A-042E-7F03-8AC9-C8CA8DE4B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02F4B1-B9E4-503D-AA5A-533C53B13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08800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10FA3-F199-F16F-C907-46F87A146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0908693-1DD8-9ECF-3B27-5FD674004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88B102-3CA1-FC88-5C30-49158140D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4FA4AC-8FC9-60DF-7FDF-8D555E975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4E99D3-33F4-13E4-E6CC-289C10F93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48C699-A069-DDA0-1D17-A6650E917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93910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360C47-9D7C-62C5-EF3E-85753FB1B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301DC6-4C5D-E876-862D-D6665B2F2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78D696-78E1-E690-C962-4E6A4F9C1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1F6EBF-841E-2580-C24C-C97795A59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A219E1-ED72-25B2-FE89-75F7019E1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2723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6F944CD-F1EF-4D17-E691-12C39E89E6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754C6CE-A583-A578-7573-24C37A964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4C76BD-756A-6B40-1E06-6CBE4F1F7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CE7EC6-765A-02A4-56E1-E6C645082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59412A-0F83-2884-1BD8-DC8832AAE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15639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525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360ACB2-C08F-C72D-2641-A0A58597C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FF9BB0-62B1-089D-F2C5-24FC567F8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F3A575-6D1E-CB8E-CEB3-9D55BEFB2F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F3F686-A431-1454-2734-C4049C48BC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A9C852-AC1C-5F64-F204-27DC99DB8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03965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4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 descr="Imagen que contiene tabla, computadora, pequeño, computer&#10;&#10;El contenido generado por IA puede ser incorrecto.">
            <a:extLst>
              <a:ext uri="{FF2B5EF4-FFF2-40B4-BE49-F238E27FC236}">
                <a16:creationId xmlns:a16="http://schemas.microsoft.com/office/drawing/2014/main" id="{90DE2D2A-BA42-39CF-3354-1E42BBFFB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67"/>
          <a:stretch>
            <a:fillRect/>
          </a:stretch>
        </p:blipFill>
        <p:spPr>
          <a:xfrm>
            <a:off x="0" y="-1"/>
            <a:ext cx="12323411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72614C1-CFE1-A069-0188-752480D96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1646" y="6093340"/>
            <a:ext cx="1919698" cy="527917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BAA7A834-06D7-2DE0-9102-33A1523442BA}"/>
              </a:ext>
            </a:extLst>
          </p:cNvPr>
          <p:cNvSpPr/>
          <p:nvPr/>
        </p:nvSpPr>
        <p:spPr>
          <a:xfrm>
            <a:off x="-60230" y="2943269"/>
            <a:ext cx="54492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</a:rPr>
              <a:t>Carrera: Ingeniería de Software con IA</a:t>
            </a:r>
            <a:endParaRPr lang="es-PE" sz="2400" b="1" dirty="0">
              <a:solidFill>
                <a:schemeClr val="bg1"/>
              </a:solidFill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2A143E3-1A38-5E2B-837F-A608C4C21952}"/>
              </a:ext>
            </a:extLst>
          </p:cNvPr>
          <p:cNvSpPr txBox="1">
            <a:spLocks/>
          </p:cNvSpPr>
          <p:nvPr/>
        </p:nvSpPr>
        <p:spPr>
          <a:xfrm>
            <a:off x="1415279" y="3174101"/>
            <a:ext cx="9492852" cy="32249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s-ES" sz="4800" b="1" dirty="0">
                <a:solidFill>
                  <a:schemeClr val="bg1"/>
                </a:solidFill>
              </a:rPr>
              <a:t>MÓDULOS Y PAQUETES PARA </a:t>
            </a:r>
            <a:r>
              <a:rPr lang="es-ES" sz="4800" b="1" dirty="0"/>
              <a:t>MACHINE </a:t>
            </a:r>
            <a:r>
              <a:rPr lang="es-PE" sz="4800" b="1" dirty="0"/>
              <a:t>LEARNING CON PYTHON</a:t>
            </a:r>
            <a:endParaRPr lang="es-PE" sz="13800" b="1" dirty="0"/>
          </a:p>
        </p:txBody>
      </p:sp>
    </p:spTree>
    <p:extLst>
      <p:ext uri="{BB962C8B-B14F-4D97-AF65-F5344CB8AC3E}">
        <p14:creationId xmlns:p14="http://schemas.microsoft.com/office/powerpoint/2010/main" val="3800275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444D337-4D9F-40A8-BA84-C0BFA7A8A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0478D1D-B50E-41C8-8A55-36A53D449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4076698" cy="464399"/>
          </a:xfrm>
          <a:prstGeom prst="rect">
            <a:avLst/>
          </a:prstGeom>
          <a:gradFill>
            <a:gsLst>
              <a:gs pos="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C8A9758-C11D-6BD1-6242-5A9AC1D77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D92BAF3A-B193-6680-F4A4-06978EFC46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1517208"/>
              </p:ext>
            </p:extLst>
          </p:nvPr>
        </p:nvGraphicFramePr>
        <p:xfrm>
          <a:off x="3745208" y="1238008"/>
          <a:ext cx="7589406" cy="4248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89406">
                  <a:extLst>
                    <a:ext uri="{9D8B030D-6E8A-4147-A177-3AD203B41FA5}">
                      <a16:colId xmlns:a16="http://schemas.microsoft.com/office/drawing/2014/main" val="4147241662"/>
                    </a:ext>
                  </a:extLst>
                </a:gridCol>
              </a:tblGrid>
              <a:tr h="1752555">
                <a:tc>
                  <a:txBody>
                    <a:bodyPr/>
                    <a:lstStyle/>
                    <a:p>
                      <a:pPr algn="just"/>
                      <a:r>
                        <a:rPr lang="es-ES" sz="3300" b="1" dirty="0"/>
                        <a:t>RESULTADO DE APRENDIZAJE:</a:t>
                      </a:r>
                    </a:p>
                    <a:p>
                      <a:pPr algn="just"/>
                      <a:r>
                        <a:rPr lang="es-ES" sz="1800" dirty="0">
                          <a:latin typeface="+mj-lt"/>
                        </a:rPr>
                        <a:t>Estudiante entienda qué es el Deep </a:t>
                      </a:r>
                      <a:r>
                        <a:rPr lang="es-ES" sz="1800" dirty="0" err="1">
                          <a:latin typeface="+mj-lt"/>
                        </a:rPr>
                        <a:t>Learning</a:t>
                      </a:r>
                      <a:r>
                        <a:rPr lang="es-ES" sz="1800" dirty="0">
                          <a:latin typeface="+mj-lt"/>
                        </a:rPr>
                        <a:t>, cómo aprende una red neuronal a nivel conceptual, y sea capaz de reconocer sus aplicaciones, implicancias éticas y las herramientas (</a:t>
                      </a:r>
                      <a:r>
                        <a:rPr lang="es-ES" sz="1800" dirty="0" err="1">
                          <a:latin typeface="+mj-lt"/>
                        </a:rPr>
                        <a:t>TensorFlow</a:t>
                      </a:r>
                      <a:r>
                        <a:rPr lang="es-ES" sz="1800" dirty="0">
                          <a:latin typeface="+mj-lt"/>
                        </a:rPr>
                        <a:t>/</a:t>
                      </a:r>
                      <a:r>
                        <a:rPr lang="es-ES" sz="1800" dirty="0" err="1">
                          <a:latin typeface="+mj-lt"/>
                        </a:rPr>
                        <a:t>Keras</a:t>
                      </a:r>
                      <a:r>
                        <a:rPr lang="es-ES" sz="1800" dirty="0">
                          <a:latin typeface="+mj-lt"/>
                        </a:rPr>
                        <a:t>) para implementarlo </a:t>
                      </a:r>
                      <a:endParaRPr lang="es-ES" sz="1800" b="1" dirty="0">
                        <a:latin typeface="+mj-lt"/>
                      </a:endParaRP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21421266"/>
                  </a:ext>
                </a:extLst>
              </a:tr>
              <a:tr h="2495837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1" dirty="0"/>
                        <a:t>CONTENIDO: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>
                          <a:latin typeface="+mj-lt"/>
                        </a:rPr>
                        <a:t>Deep Learning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>
                          <a:latin typeface="+mj-lt"/>
                        </a:rPr>
                        <a:t>jerarquía conceptual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>
                          <a:latin typeface="+mj-lt"/>
                        </a:rPr>
                        <a:t>Redes neuronales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>
                          <a:latin typeface="+mj-lt"/>
                        </a:rPr>
                        <a:t>funciones de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>
                          <a:latin typeface="+mj-lt"/>
                        </a:rPr>
                        <a:t>forward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>
                          <a:latin typeface="+mj-lt"/>
                        </a:rPr>
                        <a:t>NLP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864267000"/>
                  </a:ext>
                </a:extLst>
              </a:tr>
            </a:tbl>
          </a:graphicData>
        </a:graphic>
      </p:graphicFrame>
      <p:pic>
        <p:nvPicPr>
          <p:cNvPr id="24" name="Imagen 23" descr="Logotipo&#10;&#10;El contenido generado por IA puede ser incorrecto.">
            <a:extLst>
              <a:ext uri="{FF2B5EF4-FFF2-40B4-BE49-F238E27FC236}">
                <a16:creationId xmlns:a16="http://schemas.microsoft.com/office/drawing/2014/main" id="{ECBE9950-37D9-B3B7-88E2-E5AF18C8C7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57" y="1791997"/>
            <a:ext cx="3103054" cy="310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261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>
            <a:extLst>
              <a:ext uri="{FF2B5EF4-FFF2-40B4-BE49-F238E27FC236}">
                <a16:creationId xmlns:a16="http://schemas.microsoft.com/office/drawing/2014/main" id="{B34C0DB6-D565-C3A1-DDB0-1B9422633FE5}"/>
              </a:ext>
            </a:extLst>
          </p:cNvPr>
          <p:cNvGrpSpPr/>
          <p:nvPr/>
        </p:nvGrpSpPr>
        <p:grpSpPr>
          <a:xfrm>
            <a:off x="548640" y="1371600"/>
            <a:ext cx="6675120" cy="4206240"/>
            <a:chOff x="548640" y="1371600"/>
            <a:chExt cx="6675120" cy="4206240"/>
          </a:xfrm>
        </p:grpSpPr>
        <p:sp>
          <p:nvSpPr>
            <p:cNvPr id="5" name="Shape 3"/>
            <p:cNvSpPr/>
            <p:nvPr/>
          </p:nvSpPr>
          <p:spPr>
            <a:xfrm>
              <a:off x="548640" y="1371600"/>
              <a:ext cx="6675120" cy="4206240"/>
            </a:xfrm>
            <a:prstGeom prst="roundRect">
              <a:avLst>
                <a:gd name="adj" fmla="val 1739"/>
              </a:avLst>
            </a:prstGeom>
            <a:solidFill>
              <a:srgbClr val="1B2A4A"/>
            </a:solidFill>
            <a:ln/>
          </p:spPr>
        </p:sp>
        <p:sp>
          <p:nvSpPr>
            <p:cNvPr id="6" name="Text 4"/>
            <p:cNvSpPr txBox="1"/>
            <p:nvPr/>
          </p:nvSpPr>
          <p:spPr>
            <a:xfrm>
              <a:off x="822960" y="1737360"/>
              <a:ext cx="612648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PE" sz="30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¿Cómo aprende</a:t>
              </a:r>
              <a:endParaRPr lang="es-PE" sz="3000" dirty="0"/>
            </a:p>
            <a:p>
              <a:pPr marL="0" indent="0" algn="ctr">
                <a:buNone/>
              </a:pPr>
              <a:r>
                <a:rPr lang="es-PE" sz="30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una computadora?</a:t>
              </a:r>
              <a:endParaRPr lang="es-PE" sz="3000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A6360A0D-3B44-752D-795D-7FBFE9D48BB2}"/>
              </a:ext>
            </a:extLst>
          </p:cNvPr>
          <p:cNvGrpSpPr/>
          <p:nvPr/>
        </p:nvGrpSpPr>
        <p:grpSpPr>
          <a:xfrm>
            <a:off x="960120" y="2984308"/>
            <a:ext cx="6126480" cy="2103120"/>
            <a:chOff x="5105095" y="4640580"/>
            <a:chExt cx="6126480" cy="2103120"/>
          </a:xfrm>
        </p:grpSpPr>
        <p:sp>
          <p:nvSpPr>
            <p:cNvPr id="7" name="Text 5"/>
            <p:cNvSpPr txBox="1"/>
            <p:nvPr/>
          </p:nvSpPr>
          <p:spPr>
            <a:xfrm>
              <a:off x="5105095" y="4640580"/>
              <a:ext cx="612648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PE" sz="1600" i="1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Programar = A través de reglas.</a:t>
              </a:r>
              <a:endParaRPr lang="es-PE" sz="1600" dirty="0"/>
            </a:p>
            <a:p>
              <a:pPr marL="0" indent="0">
                <a:buNone/>
              </a:pPr>
              <a:r>
                <a:rPr lang="es-PE" sz="1600" i="1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Entrenar = con ejemplos y dejar que el sistema encuentre el patrón.</a:t>
              </a:r>
              <a:endParaRPr lang="es-PE" sz="1600" dirty="0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5105095" y="5829300"/>
              <a:ext cx="612648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PE" sz="13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Reconocer un gato en una foto es casi imposible de programar con reglas explícitas  pero un humano lo hace sin esfuerzo. Ahí empieza todo.</a:t>
              </a:r>
              <a:endParaRPr lang="es-PE" sz="1300" dirty="0"/>
            </a:p>
          </p:txBody>
        </p:sp>
      </p:grpSp>
      <p:sp>
        <p:nvSpPr>
          <p:cNvPr id="9" name="Shape 7"/>
          <p:cNvSpPr/>
          <p:nvPr/>
        </p:nvSpPr>
        <p:spPr>
          <a:xfrm>
            <a:off x="7452360" y="1371600"/>
            <a:ext cx="4160520" cy="4206240"/>
          </a:xfrm>
          <a:prstGeom prst="roundRect">
            <a:avLst>
              <a:gd name="adj" fmla="val 1758"/>
            </a:avLst>
          </a:prstGeom>
          <a:solidFill>
            <a:srgbClr val="E8F7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2668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para plantear</a:t>
            </a:r>
            <a:endParaRPr lang="es-PE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26680" y="205740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s-PE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hay entre dar una regla y dar ejemplos?</a:t>
            </a:r>
            <a:endParaRPr lang="es-PE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s-PE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tarea sería casi imposible resolver con reglas explícitas, pero un humano hace sin esfuerzo?</a:t>
            </a:r>
            <a:endParaRPr lang="es-PE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486D477-160F-4ED6-20A1-707B895F7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486D477-160F-4ED6-20A1-707B895F7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2A792DC4-A54C-53FA-0830-983AA7294135}"/>
              </a:ext>
            </a:extLst>
          </p:cNvPr>
          <p:cNvSpPr txBox="1"/>
          <p:nvPr/>
        </p:nvSpPr>
        <p:spPr>
          <a:xfrm>
            <a:off x="571500" y="1334554"/>
            <a:ext cx="5524500" cy="977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b="0" i="0" u="none" dirty="0">
                <a:solidFill>
                  <a:srgbClr val="334155"/>
                </a:solidFill>
                <a:latin typeface="+mj-lt"/>
              </a:rPr>
              <a:t>En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el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enfoque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1" i="0" u="none" dirty="0" err="1">
                <a:solidFill>
                  <a:srgbClr val="334155"/>
                </a:solidFill>
                <a:latin typeface="+mj-lt"/>
              </a:rPr>
              <a:t>tradicional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,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ingresamos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datos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y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reglas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explícitas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para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obtener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un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resultado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. En </a:t>
            </a:r>
            <a:r>
              <a:rPr b="1" i="0" u="none" dirty="0">
                <a:solidFill>
                  <a:srgbClr val="334155"/>
                </a:solidFill>
                <a:latin typeface="+mj-lt"/>
              </a:rPr>
              <a:t>Machine Learning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, la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computadora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descubre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las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reglas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a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partir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de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datos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y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resultados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6BC25368-0B57-DD37-D454-EDF1E2637A86}"/>
              </a:ext>
            </a:extLst>
          </p:cNvPr>
          <p:cNvSpPr txBox="1"/>
          <p:nvPr/>
        </p:nvSpPr>
        <p:spPr>
          <a:xfrm>
            <a:off x="457677" y="2941687"/>
            <a:ext cx="5787847" cy="490327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i="0" u="none" dirty="0" err="1">
                <a:solidFill>
                  <a:srgbClr val="334155"/>
                </a:solidFill>
                <a:latin typeface="+mj-lt"/>
              </a:rPr>
              <a:t>Paradigma</a:t>
            </a:r>
            <a:r>
              <a:rPr b="1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1" i="0" u="none" dirty="0" err="1">
                <a:solidFill>
                  <a:srgbClr val="334155"/>
                </a:solidFill>
                <a:latin typeface="+mj-lt"/>
              </a:rPr>
              <a:t>Tradicional</a:t>
            </a:r>
            <a:r>
              <a:rPr b="1" i="0" u="none" dirty="0">
                <a:solidFill>
                  <a:srgbClr val="334155"/>
                </a:solidFill>
                <a:latin typeface="+mj-lt"/>
              </a:rPr>
              <a:t>: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Datos + Reglas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explicitas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lang="es-ES" b="0" i="0" u="none" dirty="0">
                <a:solidFill>
                  <a:srgbClr val="334155"/>
                </a:solidFill>
                <a:latin typeface="+mj-lt"/>
              </a:rPr>
              <a:t>=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Resultado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deseado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19E3D13D-7EA8-C740-2884-C4974C377D3A}"/>
              </a:ext>
            </a:extLst>
          </p:cNvPr>
          <p:cNvSpPr txBox="1"/>
          <p:nvPr/>
        </p:nvSpPr>
        <p:spPr>
          <a:xfrm>
            <a:off x="439826" y="3662554"/>
            <a:ext cx="5787847" cy="490327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i="0" u="none" dirty="0">
                <a:solidFill>
                  <a:srgbClr val="334155"/>
                </a:solidFill>
                <a:latin typeface="+mj-lt"/>
              </a:rPr>
              <a:t>Machine Learning: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Datos +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Respuestas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lang="es-ES" b="0" i="0" u="none" dirty="0">
                <a:solidFill>
                  <a:srgbClr val="334155"/>
                </a:solidFill>
                <a:latin typeface="+mj-lt"/>
              </a:rPr>
              <a:t>=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Algoritmo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aprende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Patrones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D77C9943-BA8F-5655-29A9-F6E4A0A31CFB}"/>
              </a:ext>
            </a:extLst>
          </p:cNvPr>
          <p:cNvSpPr txBox="1"/>
          <p:nvPr/>
        </p:nvSpPr>
        <p:spPr>
          <a:xfrm>
            <a:off x="457677" y="4512772"/>
            <a:ext cx="5787847" cy="490327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i="0" u="none" dirty="0">
                <a:solidFill>
                  <a:srgbClr val="334155"/>
                </a:solidFill>
                <a:latin typeface="+mj-lt"/>
              </a:rPr>
              <a:t>Caso </a:t>
            </a:r>
            <a:r>
              <a:rPr b="1" i="0" u="none" dirty="0" err="1">
                <a:solidFill>
                  <a:srgbClr val="334155"/>
                </a:solidFill>
                <a:latin typeface="+mj-lt"/>
              </a:rPr>
              <a:t>Práctico</a:t>
            </a:r>
            <a:r>
              <a:rPr b="1" i="0" u="none" dirty="0">
                <a:solidFill>
                  <a:srgbClr val="334155"/>
                </a:solidFill>
                <a:latin typeface="+mj-lt"/>
              </a:rPr>
              <a:t>: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Reconocimiento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de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dígitos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(MNIST)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mediante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miles de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ejemplos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en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lugar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de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reglas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manuales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pic>
        <p:nvPicPr>
          <p:cNvPr id="17" name="Picture 10" descr="image.png">
            <a:extLst>
              <a:ext uri="{FF2B5EF4-FFF2-40B4-BE49-F238E27FC236}">
                <a16:creationId xmlns:a16="http://schemas.microsoft.com/office/drawing/2014/main" id="{F9C626DE-CDC2-8F6B-47E4-DC13CEE585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946" t="-465" r="15814" b="-1422"/>
          <a:stretch/>
        </p:blipFill>
        <p:spPr>
          <a:xfrm>
            <a:off x="6372225" y="1084790"/>
            <a:ext cx="5362097" cy="5072332"/>
          </a:xfrm>
          <a:prstGeom prst="rect">
            <a:avLst/>
          </a:prstGeom>
        </p:spPr>
      </p:pic>
      <p:sp>
        <p:nvSpPr>
          <p:cNvPr id="18" name="TextBox 11">
            <a:extLst>
              <a:ext uri="{FF2B5EF4-FFF2-40B4-BE49-F238E27FC236}">
                <a16:creationId xmlns:a16="http://schemas.microsoft.com/office/drawing/2014/main" id="{0D370209-1976-32B0-B6BC-09628C543172}"/>
              </a:ext>
            </a:extLst>
          </p:cNvPr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 dirty="0" err="1">
                <a:solidFill>
                  <a:srgbClr val="0F172A"/>
                </a:solidFill>
                <a:latin typeface="Space Grotesk"/>
              </a:rPr>
              <a:t>Programación</a:t>
            </a:r>
            <a:r>
              <a:rPr sz="2850" b="1" i="0" u="none" dirty="0">
                <a:solidFill>
                  <a:srgbClr val="0F172A"/>
                </a:solidFill>
                <a:latin typeface="Space Grotesk"/>
              </a:rPr>
              <a:t> </a:t>
            </a:r>
            <a:r>
              <a:rPr sz="2850" b="1" i="0" u="none" dirty="0" err="1">
                <a:solidFill>
                  <a:srgbClr val="0F172A"/>
                </a:solidFill>
                <a:latin typeface="Space Grotesk"/>
              </a:rPr>
              <a:t>Tradicional</a:t>
            </a:r>
            <a:r>
              <a:rPr sz="2850" b="1" i="0" u="none" dirty="0">
                <a:solidFill>
                  <a:srgbClr val="0F172A"/>
                </a:solidFill>
                <a:latin typeface="Space Grotesk"/>
              </a:rPr>
              <a:t> vs ML</a:t>
            </a:r>
          </a:p>
        </p:txBody>
      </p:sp>
    </p:spTree>
    <p:extLst>
      <p:ext uri="{BB962C8B-B14F-4D97-AF65-F5344CB8AC3E}">
        <p14:creationId xmlns:p14="http://schemas.microsoft.com/office/powerpoint/2010/main" val="989799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IA, ML y Deep Learning</a:t>
            </a:r>
            <a:endParaRPr lang="es-PE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sinónimos: son círculos concéntricos, cada uno contenido en el anterior.</a:t>
            </a:r>
            <a:endParaRPr lang="es-PE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303520" cy="5303520"/>
          </a:xfrm>
          <a:prstGeom prst="ellipse">
            <a:avLst/>
          </a:prstGeom>
          <a:solidFill>
            <a:srgbClr val="0F1B33">
              <a:alpha val="95000"/>
            </a:srgbClr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194560"/>
            <a:ext cx="3657600" cy="3657600"/>
          </a:xfrm>
          <a:prstGeom prst="ellipse">
            <a:avLst/>
          </a:prstGeom>
          <a:solidFill>
            <a:srgbClr val="1B2A4A">
              <a:alpha val="95000"/>
            </a:srgbClr>
          </a:solidFill>
          <a:ln w="19050">
            <a:solidFill>
              <a:srgbClr val="1BA9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3017520"/>
            <a:ext cx="2011680" cy="2011680"/>
          </a:xfrm>
          <a:prstGeom prst="ellipse">
            <a:avLst/>
          </a:prstGeom>
          <a:solidFill>
            <a:srgbClr val="1BA9C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</a:t>
            </a:r>
            <a:endParaRPr lang="es-PE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331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</a:t>
            </a:r>
            <a:endParaRPr lang="es-PE" sz="1300" dirty="0"/>
          </a:p>
          <a:p>
            <a:pPr marL="0" indent="0" algn="ctr">
              <a:buNone/>
            </a:pPr>
            <a:r>
              <a:rPr lang="es-PE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s-PE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3703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3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</a:t>
            </a:r>
            <a:endParaRPr lang="es-PE" sz="1300" dirty="0"/>
          </a:p>
          <a:p>
            <a:pPr marL="0" indent="0" algn="ctr">
              <a:buNone/>
            </a:pPr>
            <a:r>
              <a:rPr lang="es-PE" sz="13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s-PE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55448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F2F4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95160" y="1645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s-PE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199339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técnica que imita comportamiento inteligente. Incluye sistemas basados en reglas, sin aprendizaje automático.</a:t>
            </a:r>
            <a:endParaRPr lang="es-PE" sz="1150" dirty="0"/>
          </a:p>
        </p:txBody>
      </p:sp>
      <p:sp>
        <p:nvSpPr>
          <p:cNvPr id="15" name="Shape 13"/>
          <p:cNvSpPr/>
          <p:nvPr/>
        </p:nvSpPr>
        <p:spPr>
          <a:xfrm>
            <a:off x="6766560" y="315468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F2F4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9516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s-PE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359359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infiere reglas a partir de datos. Requiere que un humano diseñe manualmente las características (</a:t>
            </a:r>
            <a:r>
              <a:rPr lang="es-PE" sz="11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r>
              <a:rPr lang="es-PE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PE" sz="1150" dirty="0"/>
          </a:p>
        </p:txBody>
      </p:sp>
      <p:sp>
        <p:nvSpPr>
          <p:cNvPr id="18" name="Shape 16"/>
          <p:cNvSpPr/>
          <p:nvPr/>
        </p:nvSpPr>
        <p:spPr>
          <a:xfrm>
            <a:off x="6766560" y="475488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E8F7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95160" y="4846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s-PE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519379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con múltiples capas que aprenden automáticamente qué características son relevantes, sin diseño manual.</a:t>
            </a:r>
            <a:endParaRPr lang="es-PE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s-PE" sz="11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DE293EDB-4E62-FD2B-B2DB-8BF0DAF710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65959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neuronales artificiales</a:t>
            </a:r>
            <a:endParaRPr lang="es-PE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5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x1</a:t>
            </a:r>
            <a:endParaRPr lang="es-PE" sz="150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828800" y="1993392"/>
            <a:ext cx="1737360" cy="0"/>
          </a:xfrm>
          <a:prstGeom prst="line">
            <a:avLst/>
          </a:prstGeom>
          <a:noFill/>
          <a:ln w="15240">
            <a:solidFill>
              <a:srgbClr val="5A647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691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i="1" dirty="0">
                <a:solidFill>
                  <a:srgbClr val="5A6472"/>
                </a:solidFill>
                <a:latin typeface="+mj-lt"/>
                <a:ea typeface="Calibri" pitchFamily="34" charset="-122"/>
                <a:cs typeface="Calibri" pitchFamily="34" charset="-120"/>
              </a:rPr>
              <a:t>w1</a:t>
            </a:r>
            <a:endParaRPr lang="es-PE" sz="1100" dirty="0">
              <a:latin typeface="+mj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468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5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x2</a:t>
            </a:r>
            <a:endParaRPr lang="es-PE" sz="1500" dirty="0">
              <a:latin typeface="+mj-l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828800" y="2724912"/>
            <a:ext cx="1737360" cy="0"/>
          </a:xfrm>
          <a:prstGeom prst="line">
            <a:avLst/>
          </a:prstGeom>
          <a:noFill/>
          <a:ln w="15240">
            <a:solidFill>
              <a:srgbClr val="5A647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i="1" dirty="0">
                <a:solidFill>
                  <a:srgbClr val="5A6472"/>
                </a:solidFill>
                <a:latin typeface="+mj-lt"/>
                <a:ea typeface="Calibri" pitchFamily="34" charset="-122"/>
                <a:cs typeface="Calibri" pitchFamily="34" charset="-120"/>
              </a:rPr>
              <a:t>w2</a:t>
            </a:r>
            <a:endParaRPr lang="es-PE" sz="1100" dirty="0">
              <a:latin typeface="+mj-lt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200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5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x3</a:t>
            </a:r>
            <a:endParaRPr lang="es-PE" sz="1500" dirty="0">
              <a:latin typeface="+mj-lt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828800" y="3456432"/>
            <a:ext cx="1737360" cy="0"/>
          </a:xfrm>
          <a:prstGeom prst="line">
            <a:avLst/>
          </a:prstGeom>
          <a:noFill/>
          <a:ln w="15240">
            <a:solidFill>
              <a:srgbClr val="5A647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3154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i="1" dirty="0">
                <a:solidFill>
                  <a:srgbClr val="5A6472"/>
                </a:solidFill>
                <a:latin typeface="+mj-lt"/>
                <a:ea typeface="Calibri" pitchFamily="34" charset="-122"/>
                <a:cs typeface="Calibri" pitchFamily="34" charset="-120"/>
              </a:rPr>
              <a:t>w3</a:t>
            </a:r>
            <a:endParaRPr lang="es-PE" sz="1100" dirty="0">
              <a:latin typeface="+mj-lt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566160" y="2103120"/>
            <a:ext cx="1371600" cy="1371600"/>
          </a:xfrm>
          <a:prstGeom prst="ellipse">
            <a:avLst/>
          </a:prstGeom>
          <a:solidFill>
            <a:srgbClr val="1BA9C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66160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600" b="1" dirty="0">
                <a:solidFill>
                  <a:srgbClr val="0F1B33"/>
                </a:solidFill>
                <a:latin typeface="+mj-lt"/>
                <a:ea typeface="Cambria" pitchFamily="34" charset="-122"/>
                <a:cs typeface="Cambria" pitchFamily="34" charset="-120"/>
              </a:rPr>
              <a:t>Σ + b</a:t>
            </a:r>
            <a:endParaRPr lang="es-PE" sz="1600" dirty="0">
              <a:latin typeface="+mj-lt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937760" y="2788920"/>
            <a:ext cx="822960" cy="0"/>
          </a:xfrm>
          <a:prstGeom prst="line">
            <a:avLst/>
          </a:prstGeom>
          <a:noFill/>
          <a:ln w="15240">
            <a:solidFill>
              <a:srgbClr val="5A647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2331720"/>
            <a:ext cx="914400" cy="9144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6072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2000" b="1" i="1" dirty="0">
                <a:solidFill>
                  <a:srgbClr val="FFFFFF"/>
                </a:solidFill>
                <a:latin typeface="+mj-lt"/>
                <a:ea typeface="Cambria" pitchFamily="34" charset="-122"/>
                <a:cs typeface="Cambria" pitchFamily="34" charset="-120"/>
              </a:rPr>
              <a:t>f</a:t>
            </a:r>
            <a:endParaRPr lang="es-PE" sz="2000" dirty="0">
              <a:latin typeface="+mj-lt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675120" y="2788920"/>
            <a:ext cx="731520" cy="0"/>
          </a:xfrm>
          <a:prstGeom prst="line">
            <a:avLst/>
          </a:prstGeom>
          <a:noFill/>
          <a:ln w="15240">
            <a:solidFill>
              <a:srgbClr val="5A64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25146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BA9C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06640" y="2514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200" b="1" dirty="0">
                <a:solidFill>
                  <a:srgbClr val="0F1B33"/>
                </a:solidFill>
                <a:latin typeface="+mj-lt"/>
                <a:ea typeface="Calibri" pitchFamily="34" charset="-122"/>
                <a:cs typeface="Calibri" pitchFamily="34" charset="-120"/>
              </a:rPr>
              <a:t>salida</a:t>
            </a:r>
            <a:endParaRPr lang="es-PE" sz="1200" dirty="0">
              <a:latin typeface="+mj-lt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54864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= f( </a:t>
            </a:r>
            <a:r>
              <a:rPr lang="es-PE" sz="1500" i="1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w₁x</a:t>
            </a:r>
            <a:r>
              <a:rPr lang="es-PE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₁ + </a:t>
            </a:r>
            <a:r>
              <a:rPr lang="es-PE" sz="1500" i="1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w₂x</a:t>
            </a:r>
            <a:r>
              <a:rPr lang="es-PE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₂ + </a:t>
            </a:r>
            <a:r>
              <a:rPr lang="es-PE" sz="1500" i="1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w₃x</a:t>
            </a:r>
            <a:r>
              <a:rPr lang="es-PE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₃ + b )</a:t>
            </a:r>
            <a:endParaRPr lang="es-PE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434840"/>
            <a:ext cx="8138160" cy="1737360"/>
          </a:xfrm>
          <a:prstGeom prst="roundRect">
            <a:avLst>
              <a:gd name="adj" fmla="val 3158"/>
            </a:avLst>
          </a:prstGeom>
          <a:solidFill>
            <a:srgbClr val="E8F7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b="1" dirty="0">
                <a:solidFill>
                  <a:srgbClr val="1B2A4A"/>
                </a:solidFill>
                <a:latin typeface="+mj-lt"/>
                <a:ea typeface="Calibri" pitchFamily="34" charset="-122"/>
                <a:cs typeface="Calibri" pitchFamily="34" charset="-120"/>
              </a:rPr>
              <a:t>Cuidado con la analogía biológica</a:t>
            </a:r>
            <a:endParaRPr lang="es-PE" sz="1300" dirty="0">
              <a:latin typeface="+mj-lt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777240" y="48920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i="1" dirty="0">
                <a:solidFill>
                  <a:srgbClr val="333333"/>
                </a:solidFill>
                <a:latin typeface="+mj-lt"/>
                <a:ea typeface="Calibri" pitchFamily="34" charset="-122"/>
                <a:cs typeface="Calibri" pitchFamily="34" charset="-120"/>
              </a:rPr>
              <a:t>La neurona artificial no “dispara” como una biológica ni tiene plasticidad sináptica real. Es una inspiración histórica del nombre, no una equivalencia funcional.</a:t>
            </a:r>
            <a:endParaRPr lang="es-PE" sz="1250" dirty="0">
              <a:latin typeface="+mj-lt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915400" y="1737360"/>
            <a:ext cx="2743200" cy="4434840"/>
          </a:xfrm>
          <a:prstGeom prst="roundRect">
            <a:avLst>
              <a:gd name="adj" fmla="val 2000"/>
            </a:avLst>
          </a:prstGeom>
          <a:solidFill>
            <a:srgbClr val="F2F4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09828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b="1" dirty="0">
                <a:solidFill>
                  <a:srgbClr val="1B2A4A"/>
                </a:solidFill>
                <a:latin typeface="+mj-lt"/>
                <a:ea typeface="Calibri" pitchFamily="34" charset="-122"/>
                <a:cs typeface="Calibri" pitchFamily="34" charset="-120"/>
              </a:rPr>
              <a:t>Funciones de activación</a:t>
            </a:r>
            <a:endParaRPr lang="es-PE" sz="1300" dirty="0">
              <a:latin typeface="+mj-lt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9098280" y="22860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PE" sz="1150" dirty="0" err="1">
                <a:solidFill>
                  <a:srgbClr val="222222"/>
                </a:solidFill>
                <a:latin typeface="+mj-lt"/>
                <a:ea typeface="Calibri" pitchFamily="34" charset="-122"/>
                <a:cs typeface="Calibri" pitchFamily="34" charset="-120"/>
              </a:rPr>
              <a:t>ReLU</a:t>
            </a:r>
            <a:r>
              <a:rPr lang="es-PE" sz="1150" dirty="0">
                <a:solidFill>
                  <a:srgbClr val="222222"/>
                </a:solidFill>
                <a:latin typeface="+mj-lt"/>
                <a:ea typeface="Calibri" pitchFamily="34" charset="-122"/>
                <a:cs typeface="Calibri" pitchFamily="34" charset="-120"/>
              </a:rPr>
              <a:t> — la más usada en capas ocultas</a:t>
            </a:r>
            <a:endParaRPr lang="es-PE" sz="1150" dirty="0">
              <a:latin typeface="+mj-lt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PE" sz="1150" dirty="0">
                <a:solidFill>
                  <a:srgbClr val="222222"/>
                </a:solidFill>
                <a:latin typeface="+mj-lt"/>
                <a:ea typeface="Calibri" pitchFamily="34" charset="-122"/>
                <a:cs typeface="Calibri" pitchFamily="34" charset="-120"/>
              </a:rPr>
              <a:t>Sigmoide — comprime entre 0 y 1</a:t>
            </a:r>
            <a:endParaRPr lang="es-PE" sz="1150" dirty="0">
              <a:latin typeface="+mj-lt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PE" sz="1150" dirty="0" err="1">
                <a:solidFill>
                  <a:srgbClr val="222222"/>
                </a:solidFill>
                <a:latin typeface="+mj-lt"/>
                <a:ea typeface="Calibri" pitchFamily="34" charset="-122"/>
                <a:cs typeface="Calibri" pitchFamily="34" charset="-120"/>
              </a:rPr>
              <a:t>Softmax</a:t>
            </a:r>
            <a:r>
              <a:rPr lang="es-PE" sz="1150" dirty="0">
                <a:solidFill>
                  <a:srgbClr val="222222"/>
                </a:solidFill>
                <a:latin typeface="+mj-lt"/>
                <a:ea typeface="Calibri" pitchFamily="34" charset="-122"/>
                <a:cs typeface="Calibri" pitchFamily="34" charset="-120"/>
              </a:rPr>
              <a:t> — probabilidades en la capa de salida (clasificación)</a:t>
            </a:r>
            <a:endParaRPr lang="es-PE" sz="1150" dirty="0">
              <a:latin typeface="+mj-lt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PE" sz="11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BD34F15A-0668-EE87-3C3C-495905C51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65959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PE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neuronales artificiales: </a:t>
            </a:r>
            <a:r>
              <a:rPr lang="es-E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</a:rPr>
              <a:t>el Perceptrón y los Pesos</a:t>
            </a:r>
          </a:p>
        </p:txBody>
      </p:sp>
      <p:sp>
        <p:nvSpPr>
          <p:cNvPr id="32" name="Text 3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PE" sz="11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BD34F15A-0668-EE87-3C3C-495905C51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A902D29B-203D-01DC-1059-44874BCF9349}"/>
              </a:ext>
            </a:extLst>
          </p:cNvPr>
          <p:cNvSpPr txBox="1"/>
          <p:nvPr/>
        </p:nvSpPr>
        <p:spPr>
          <a:xfrm>
            <a:off x="583633" y="1457058"/>
            <a:ext cx="56007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PE" sz="2400" b="1" i="0" u="none" dirty="0">
                <a:solidFill>
                  <a:srgbClr val="1E293B"/>
                </a:solidFill>
                <a:latin typeface="+mj-lt"/>
              </a:rPr>
              <a:t>La neurona artificial</a:t>
            </a:r>
          </a:p>
        </p:txBody>
      </p:sp>
      <p:sp>
        <p:nvSpPr>
          <p:cNvPr id="34" name="TextBox 5">
            <a:extLst>
              <a:ext uri="{FF2B5EF4-FFF2-40B4-BE49-F238E27FC236}">
                <a16:creationId xmlns:a16="http://schemas.microsoft.com/office/drawing/2014/main" id="{A479D56D-91BA-B18C-C6DB-DDF6B2B7D5AC}"/>
              </a:ext>
            </a:extLst>
          </p:cNvPr>
          <p:cNvSpPr txBox="1"/>
          <p:nvPr/>
        </p:nvSpPr>
        <p:spPr>
          <a:xfrm>
            <a:off x="619125" y="2112140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PE" sz="1600" b="0" i="0" u="none" dirty="0">
                <a:solidFill>
                  <a:srgbClr val="334155"/>
                </a:solidFill>
                <a:latin typeface="+mj-lt"/>
              </a:rPr>
              <a:t>La unidad básica procesa entradas ( ) multiplicadas por pesos ( ) y añade un sesgo ( ).</a:t>
            </a:r>
          </a:p>
        </p:txBody>
      </p:sp>
      <p:sp>
        <p:nvSpPr>
          <p:cNvPr id="35" name="TextBox 6">
            <a:extLst>
              <a:ext uri="{FF2B5EF4-FFF2-40B4-BE49-F238E27FC236}">
                <a16:creationId xmlns:a16="http://schemas.microsoft.com/office/drawing/2014/main" id="{1147AFA7-7962-5699-5114-223878ACEAD3}"/>
              </a:ext>
            </a:extLst>
          </p:cNvPr>
          <p:cNvSpPr txBox="1"/>
          <p:nvPr/>
        </p:nvSpPr>
        <p:spPr>
          <a:xfrm>
            <a:off x="603520" y="3797527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PE" sz="1600" b="1" i="0" u="none" dirty="0">
                <a:solidFill>
                  <a:srgbClr val="334155"/>
                </a:solidFill>
                <a:latin typeface="+mj-lt"/>
              </a:rPr>
              <a:t>Pesos (w):</a:t>
            </a:r>
            <a:r>
              <a:rPr lang="es-PE" sz="1600" b="0" i="0" u="none" dirty="0">
                <a:solidFill>
                  <a:srgbClr val="334155"/>
                </a:solidFill>
                <a:latin typeface="+mj-lt"/>
              </a:rPr>
              <a:t> Regulan la importancia de cada entrada.</a:t>
            </a:r>
            <a:r>
              <a:rPr lang="es-PE" sz="2400" dirty="0">
                <a:latin typeface="+mj-lt"/>
              </a:rPr>
              <a:t>
</a:t>
            </a:r>
            <a:r>
              <a:rPr lang="es-PE" sz="1600" b="1" i="0" u="none" dirty="0">
                <a:solidFill>
                  <a:srgbClr val="334155"/>
                </a:solidFill>
                <a:latin typeface="+mj-lt"/>
              </a:rPr>
              <a:t>Sesgo (b):</a:t>
            </a:r>
            <a:r>
              <a:rPr lang="es-PE" sz="1600" b="0" i="0" u="none" dirty="0">
                <a:solidFill>
                  <a:srgbClr val="334155"/>
                </a:solidFill>
                <a:latin typeface="+mj-lt"/>
              </a:rPr>
              <a:t> Permite desplazar la función de activación.</a:t>
            </a:r>
          </a:p>
        </p:txBody>
      </p:sp>
      <p:pic>
        <p:nvPicPr>
          <p:cNvPr id="36" name="Picture 7" descr="image.png">
            <a:extLst>
              <a:ext uri="{FF2B5EF4-FFF2-40B4-BE49-F238E27FC236}">
                <a16:creationId xmlns:a16="http://schemas.microsoft.com/office/drawing/2014/main" id="{CA4CC7CA-971D-4A1E-10DE-29691F4FD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475" y="3078658"/>
            <a:ext cx="141535" cy="113258"/>
          </a:xfrm>
          <a:prstGeom prst="rect">
            <a:avLst/>
          </a:prstGeom>
        </p:spPr>
      </p:pic>
      <p:pic>
        <p:nvPicPr>
          <p:cNvPr id="37" name="Picture 8" descr="image.png">
            <a:extLst>
              <a:ext uri="{FF2B5EF4-FFF2-40B4-BE49-F238E27FC236}">
                <a16:creationId xmlns:a16="http://schemas.microsoft.com/office/drawing/2014/main" id="{FDF63C13-F7FD-7880-17D4-099449E96D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7935" y="3078658"/>
            <a:ext cx="177551" cy="113258"/>
          </a:xfrm>
          <a:prstGeom prst="rect">
            <a:avLst/>
          </a:prstGeom>
        </p:spPr>
      </p:pic>
      <p:pic>
        <p:nvPicPr>
          <p:cNvPr id="38" name="Picture 9" descr="image.png">
            <a:extLst>
              <a:ext uri="{FF2B5EF4-FFF2-40B4-BE49-F238E27FC236}">
                <a16:creationId xmlns:a16="http://schemas.microsoft.com/office/drawing/2014/main" id="{F8E96EC4-289C-6E25-F0A5-3813D36A7C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5975" y="3283446"/>
            <a:ext cx="80962" cy="114300"/>
          </a:xfrm>
          <a:prstGeom prst="rect">
            <a:avLst/>
          </a:prstGeom>
        </p:spPr>
      </p:pic>
      <p:pic>
        <p:nvPicPr>
          <p:cNvPr id="39" name="Picture 10" descr="image.png">
            <a:extLst>
              <a:ext uri="{FF2B5EF4-FFF2-40B4-BE49-F238E27FC236}">
                <a16:creationId xmlns:a16="http://schemas.microsoft.com/office/drawing/2014/main" id="{7EC47ED3-73D6-2229-7A1A-F3DE94F2BF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2883665"/>
            <a:ext cx="3009304" cy="433982"/>
          </a:xfrm>
          <a:prstGeom prst="rect">
            <a:avLst/>
          </a:prstGeom>
        </p:spPr>
      </p:pic>
      <p:pic>
        <p:nvPicPr>
          <p:cNvPr id="40" name="Picture 11" descr="image.png">
            <a:extLst>
              <a:ext uri="{FF2B5EF4-FFF2-40B4-BE49-F238E27FC236}">
                <a16:creationId xmlns:a16="http://schemas.microsoft.com/office/drawing/2014/main" id="{D2FBC8EB-BA57-D4C9-E08F-88D6E318C4A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296" t="19730" b="11591"/>
          <a:stretch/>
        </p:blipFill>
        <p:spPr>
          <a:xfrm>
            <a:off x="6254481" y="2523439"/>
            <a:ext cx="5681764" cy="256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986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65959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s-PE" sz="2800" b="1" i="0" u="none" dirty="0">
                <a:solidFill>
                  <a:srgbClr val="0F172A"/>
                </a:solidFill>
                <a:latin typeface="Space Grotesk"/>
              </a:rPr>
              <a:t>Parámetros vs </a:t>
            </a:r>
            <a:r>
              <a:rPr lang="es-PE" sz="2800" b="1" i="0" u="none" dirty="0" err="1">
                <a:solidFill>
                  <a:srgbClr val="0F172A"/>
                </a:solidFill>
                <a:latin typeface="Space Grotesk"/>
              </a:rPr>
              <a:t>Hiperparámetros</a:t>
            </a:r>
            <a:endParaRPr lang="es-PE" sz="2800" b="1" i="0" u="none" dirty="0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PE" sz="11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BD34F15A-0668-EE87-3C3C-495905C51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  <p:pic>
        <p:nvPicPr>
          <p:cNvPr id="20" name="Picture 2" descr="image.png">
            <a:extLst>
              <a:ext uri="{FF2B5EF4-FFF2-40B4-BE49-F238E27FC236}">
                <a16:creationId xmlns:a16="http://schemas.microsoft.com/office/drawing/2014/main" id="{904C9E62-4B47-09ED-F0D9-2E50F1A46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77" y="1831270"/>
            <a:ext cx="5334000" cy="2795587"/>
          </a:xfrm>
          <a:prstGeom prst="rect">
            <a:avLst/>
          </a:prstGeom>
        </p:spPr>
      </p:pic>
      <p:pic>
        <p:nvPicPr>
          <p:cNvPr id="21" name="Picture 3" descr="image.png">
            <a:extLst>
              <a:ext uri="{FF2B5EF4-FFF2-40B4-BE49-F238E27FC236}">
                <a16:creationId xmlns:a16="http://schemas.microsoft.com/office/drawing/2014/main" id="{B9452172-2FC4-6F3E-BEB8-8207DB1245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8477" y="1831270"/>
            <a:ext cx="5334000" cy="3077160"/>
          </a:xfrm>
          <a:prstGeom prst="rect">
            <a:avLst/>
          </a:prstGeom>
        </p:spPr>
      </p:pic>
      <p:sp>
        <p:nvSpPr>
          <p:cNvPr id="22" name="TextBox 4">
            <a:extLst>
              <a:ext uri="{FF2B5EF4-FFF2-40B4-BE49-F238E27FC236}">
                <a16:creationId xmlns:a16="http://schemas.microsoft.com/office/drawing/2014/main" id="{DC5227EC-6308-F886-8539-FA29955968CC}"/>
              </a:ext>
            </a:extLst>
          </p:cNvPr>
          <p:cNvSpPr txBox="1"/>
          <p:nvPr/>
        </p:nvSpPr>
        <p:spPr>
          <a:xfrm>
            <a:off x="776377" y="2174170"/>
            <a:ext cx="488061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2563EB"/>
                </a:solidFill>
                <a:latin typeface="+mj-lt"/>
              </a:rPr>
              <a:t>Parámetros</a:t>
            </a:r>
            <a:r>
              <a:rPr sz="2400" b="1" i="0" u="none" dirty="0">
                <a:solidFill>
                  <a:srgbClr val="2563EB"/>
                </a:solidFill>
                <a:latin typeface="+mj-lt"/>
              </a:rPr>
              <a:t> del </a:t>
            </a:r>
            <a:r>
              <a:rPr lang="es-ES" sz="2400" b="1" i="0" u="none" dirty="0">
                <a:solidFill>
                  <a:srgbClr val="2563EB"/>
                </a:solidFill>
                <a:latin typeface="+mj-lt"/>
              </a:rPr>
              <a:t>m</a:t>
            </a:r>
            <a:r>
              <a:rPr sz="2400" b="1" i="0" u="none" dirty="0" err="1">
                <a:solidFill>
                  <a:srgbClr val="2563EB"/>
                </a:solidFill>
                <a:latin typeface="+mj-lt"/>
              </a:rPr>
              <a:t>odelo</a:t>
            </a:r>
            <a:endParaRPr sz="2400" b="1" i="0" u="none" dirty="0">
              <a:solidFill>
                <a:srgbClr val="2563EB"/>
              </a:solidFill>
              <a:latin typeface="+mj-lt"/>
            </a:endParaRPr>
          </a:p>
        </p:txBody>
      </p:sp>
      <p:sp>
        <p:nvSpPr>
          <p:cNvPr id="23" name="TextBox 5">
            <a:extLst>
              <a:ext uri="{FF2B5EF4-FFF2-40B4-BE49-F238E27FC236}">
                <a16:creationId xmlns:a16="http://schemas.microsoft.com/office/drawing/2014/main" id="{244E9D0C-C787-0375-E42D-7B29583DB7C3}"/>
              </a:ext>
            </a:extLst>
          </p:cNvPr>
          <p:cNvSpPr txBox="1"/>
          <p:nvPr/>
        </p:nvSpPr>
        <p:spPr>
          <a:xfrm>
            <a:off x="776377" y="2583745"/>
            <a:ext cx="4648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600" b="0" i="0" u="none" dirty="0">
                <a:solidFill>
                  <a:srgbClr val="334155"/>
                </a:solidFill>
                <a:latin typeface="+mj-lt"/>
              </a:rPr>
              <a:t>Son las variables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internas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que la red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ajusta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y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aprende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automáticamente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durante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el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proceso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entrenamiento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898A14B9-E318-2EBE-B1FB-6002EE2281F7}"/>
              </a:ext>
            </a:extLst>
          </p:cNvPr>
          <p:cNvSpPr txBox="1"/>
          <p:nvPr/>
        </p:nvSpPr>
        <p:spPr>
          <a:xfrm>
            <a:off x="6491377" y="2174170"/>
            <a:ext cx="488061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563EB"/>
                </a:solidFill>
                <a:latin typeface="+mj-lt"/>
              </a:rPr>
              <a:t>Hiperparámetros</a:t>
            </a: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3FA46B90-CBC8-779C-DE53-1518500D2C41}"/>
              </a:ext>
            </a:extLst>
          </p:cNvPr>
          <p:cNvSpPr txBox="1"/>
          <p:nvPr/>
        </p:nvSpPr>
        <p:spPr>
          <a:xfrm>
            <a:off x="6491377" y="2583745"/>
            <a:ext cx="464820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Configuraciones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definidas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externamente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por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el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desarrollador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antes de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iniciar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el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entrenamiento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del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modelo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D48786D1-43AA-E849-3FC1-9409D0281285}"/>
              </a:ext>
            </a:extLst>
          </p:cNvPr>
          <p:cNvSpPr txBox="1"/>
          <p:nvPr/>
        </p:nvSpPr>
        <p:spPr>
          <a:xfrm>
            <a:off x="871627" y="3210014"/>
            <a:ext cx="952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334155"/>
                </a:solidFill>
                <a:latin typeface="+mj-lt"/>
              </a:rPr>
              <a:t>•</a:t>
            </a:r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D51A5003-40FD-A63A-B48E-A99E2901827A}"/>
              </a:ext>
            </a:extLst>
          </p:cNvPr>
          <p:cNvSpPr txBox="1"/>
          <p:nvPr/>
        </p:nvSpPr>
        <p:spPr>
          <a:xfrm>
            <a:off x="966877" y="3212395"/>
            <a:ext cx="4457700" cy="243656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600" b="1" i="0" u="none" dirty="0">
                <a:solidFill>
                  <a:srgbClr val="334155"/>
                </a:solidFill>
                <a:latin typeface="+mj-lt"/>
              </a:rPr>
              <a:t>Pesos (w):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Determinan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la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fuerza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de las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conexiones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EF4DAAD4-D510-9C2B-7700-4CC7694C080F}"/>
              </a:ext>
            </a:extLst>
          </p:cNvPr>
          <p:cNvSpPr txBox="1"/>
          <p:nvPr/>
        </p:nvSpPr>
        <p:spPr>
          <a:xfrm>
            <a:off x="871627" y="3567202"/>
            <a:ext cx="952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334155"/>
                </a:solidFill>
                <a:latin typeface="+mj-lt"/>
              </a:rPr>
              <a:t>•</a:t>
            </a:r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24E36662-46D4-C53B-D51A-457A7264F7FD}"/>
              </a:ext>
            </a:extLst>
          </p:cNvPr>
          <p:cNvSpPr txBox="1"/>
          <p:nvPr/>
        </p:nvSpPr>
        <p:spPr>
          <a:xfrm>
            <a:off x="966877" y="3569583"/>
            <a:ext cx="4457700" cy="243656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Sesgos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 (b):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Ajustes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desplazamiento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por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neurona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30" name="TextBox 12">
            <a:extLst>
              <a:ext uri="{FF2B5EF4-FFF2-40B4-BE49-F238E27FC236}">
                <a16:creationId xmlns:a16="http://schemas.microsoft.com/office/drawing/2014/main" id="{651C467A-1A46-2CA3-3379-DC0778717A8C}"/>
              </a:ext>
            </a:extLst>
          </p:cNvPr>
          <p:cNvSpPr txBox="1"/>
          <p:nvPr/>
        </p:nvSpPr>
        <p:spPr>
          <a:xfrm>
            <a:off x="871627" y="3924389"/>
            <a:ext cx="952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334155"/>
                </a:solidFill>
                <a:latin typeface="+mj-lt"/>
              </a:rPr>
              <a:t>•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913FD6E2-BF6E-62FD-1965-7DECB58FD936}"/>
              </a:ext>
            </a:extLst>
          </p:cNvPr>
          <p:cNvSpPr txBox="1"/>
          <p:nvPr/>
        </p:nvSpPr>
        <p:spPr>
          <a:xfrm>
            <a:off x="966877" y="3926770"/>
            <a:ext cx="4457700" cy="243656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Modificados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mediante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optimización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e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iteraciones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41" name="TextBox 14">
            <a:extLst>
              <a:ext uri="{FF2B5EF4-FFF2-40B4-BE49-F238E27FC236}">
                <a16:creationId xmlns:a16="http://schemas.microsoft.com/office/drawing/2014/main" id="{243E1714-EF94-6D7C-47F3-15B3B396F93E}"/>
              </a:ext>
            </a:extLst>
          </p:cNvPr>
          <p:cNvSpPr txBox="1"/>
          <p:nvPr/>
        </p:nvSpPr>
        <p:spPr>
          <a:xfrm>
            <a:off x="6586627" y="3389705"/>
            <a:ext cx="952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334155"/>
                </a:solidFill>
                <a:latin typeface="+mj-lt"/>
              </a:rPr>
              <a:t>•</a:t>
            </a:r>
          </a:p>
        </p:txBody>
      </p:sp>
      <p:sp>
        <p:nvSpPr>
          <p:cNvPr id="42" name="TextBox 15">
            <a:extLst>
              <a:ext uri="{FF2B5EF4-FFF2-40B4-BE49-F238E27FC236}">
                <a16:creationId xmlns:a16="http://schemas.microsoft.com/office/drawing/2014/main" id="{78381C72-F8EF-02AF-9903-7126DF6D6AB8}"/>
              </a:ext>
            </a:extLst>
          </p:cNvPr>
          <p:cNvSpPr txBox="1"/>
          <p:nvPr/>
        </p:nvSpPr>
        <p:spPr>
          <a:xfrm>
            <a:off x="6681877" y="3392086"/>
            <a:ext cx="4457700" cy="243656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600" b="1" i="0" u="none" dirty="0">
                <a:solidFill>
                  <a:srgbClr val="334155"/>
                </a:solidFill>
                <a:latin typeface="+mj-lt"/>
              </a:rPr>
              <a:t>Tasa de </a:t>
            </a: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aprendizaje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 (η):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Tamaño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del paso.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588A98E5-A764-9AFC-10BC-A8139A68348D}"/>
              </a:ext>
            </a:extLst>
          </p:cNvPr>
          <p:cNvSpPr txBox="1"/>
          <p:nvPr/>
        </p:nvSpPr>
        <p:spPr>
          <a:xfrm>
            <a:off x="6586627" y="3790719"/>
            <a:ext cx="952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334155"/>
                </a:solidFill>
                <a:latin typeface="+mj-lt"/>
              </a:rPr>
              <a:t>•</a:t>
            </a:r>
          </a:p>
        </p:txBody>
      </p:sp>
      <p:sp>
        <p:nvSpPr>
          <p:cNvPr id="44" name="TextBox 17">
            <a:extLst>
              <a:ext uri="{FF2B5EF4-FFF2-40B4-BE49-F238E27FC236}">
                <a16:creationId xmlns:a16="http://schemas.microsoft.com/office/drawing/2014/main" id="{19ED8BC7-6501-B2A5-BD70-925610E41BC6}"/>
              </a:ext>
            </a:extLst>
          </p:cNvPr>
          <p:cNvSpPr txBox="1"/>
          <p:nvPr/>
        </p:nvSpPr>
        <p:spPr>
          <a:xfrm>
            <a:off x="6681877" y="3793100"/>
            <a:ext cx="4457700" cy="243656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600" b="1" i="0" u="none" dirty="0">
                <a:solidFill>
                  <a:srgbClr val="334155"/>
                </a:solidFill>
                <a:latin typeface="+mj-lt"/>
              </a:rPr>
              <a:t>Batch Size &amp; Epochs: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Tamaño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lote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y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épocas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45" name="TextBox 18">
            <a:extLst>
              <a:ext uri="{FF2B5EF4-FFF2-40B4-BE49-F238E27FC236}">
                <a16:creationId xmlns:a16="http://schemas.microsoft.com/office/drawing/2014/main" id="{9210CA5D-030D-9F12-2412-53A4A737FE88}"/>
              </a:ext>
            </a:extLst>
          </p:cNvPr>
          <p:cNvSpPr txBox="1"/>
          <p:nvPr/>
        </p:nvSpPr>
        <p:spPr>
          <a:xfrm>
            <a:off x="6586627" y="4202992"/>
            <a:ext cx="952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334155"/>
                </a:solidFill>
                <a:latin typeface="+mj-lt"/>
              </a:rPr>
              <a:t>•</a:t>
            </a:r>
          </a:p>
        </p:txBody>
      </p:sp>
      <p:sp>
        <p:nvSpPr>
          <p:cNvPr id="46" name="TextBox 19">
            <a:extLst>
              <a:ext uri="{FF2B5EF4-FFF2-40B4-BE49-F238E27FC236}">
                <a16:creationId xmlns:a16="http://schemas.microsoft.com/office/drawing/2014/main" id="{C50260B7-A102-BC4F-4DC7-6840FCE819C6}"/>
              </a:ext>
            </a:extLst>
          </p:cNvPr>
          <p:cNvSpPr txBox="1"/>
          <p:nvPr/>
        </p:nvSpPr>
        <p:spPr>
          <a:xfrm>
            <a:off x="6681877" y="4205373"/>
            <a:ext cx="4457700" cy="243656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Arquitectura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Número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capas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y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neuronas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8120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65959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s-PE" sz="2800" b="1" i="0" u="none" dirty="0">
                <a:solidFill>
                  <a:srgbClr val="0F172A"/>
                </a:solidFill>
                <a:latin typeface="Space Grotesk"/>
              </a:rPr>
              <a:t>Funciones de activación</a:t>
            </a:r>
          </a:p>
        </p:txBody>
      </p:sp>
      <p:sp>
        <p:nvSpPr>
          <p:cNvPr id="32" name="Text 3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PE" sz="11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BD34F15A-0668-EE87-3C3C-495905C51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  <p:grpSp>
        <p:nvGrpSpPr>
          <p:cNvPr id="13" name="Grupo 12">
            <a:extLst>
              <a:ext uri="{FF2B5EF4-FFF2-40B4-BE49-F238E27FC236}">
                <a16:creationId xmlns:a16="http://schemas.microsoft.com/office/drawing/2014/main" id="{1E958C98-4ABC-3EF6-50B8-2ACB8D97BD5C}"/>
              </a:ext>
            </a:extLst>
          </p:cNvPr>
          <p:cNvGrpSpPr/>
          <p:nvPr/>
        </p:nvGrpSpPr>
        <p:grpSpPr>
          <a:xfrm>
            <a:off x="381000" y="1506189"/>
            <a:ext cx="11229975" cy="3368391"/>
            <a:chOff x="381000" y="1506189"/>
            <a:chExt cx="11229975" cy="3368391"/>
          </a:xfrm>
        </p:grpSpPr>
        <p:sp>
          <p:nvSpPr>
            <p:cNvPr id="2" name="TextBox 2">
              <a:extLst>
                <a:ext uri="{FF2B5EF4-FFF2-40B4-BE49-F238E27FC236}">
                  <a16:creationId xmlns:a16="http://schemas.microsoft.com/office/drawing/2014/main" id="{CEF6B1EA-E29A-E049-22AE-D4E7DD783A07}"/>
                </a:ext>
              </a:extLst>
            </p:cNvPr>
            <p:cNvSpPr txBox="1"/>
            <p:nvPr/>
          </p:nvSpPr>
          <p:spPr>
            <a:xfrm>
              <a:off x="922488" y="1506189"/>
              <a:ext cx="10620375" cy="4857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sz="1600" b="0" i="0" u="none">
                  <a:solidFill>
                    <a:srgbClr val="0F172A"/>
                  </a:solidFill>
                  <a:latin typeface="+mj-lt"/>
                </a:rPr>
                <a:t>No-linealidad Esencial:</a:t>
              </a:r>
              <a:r>
                <a:rPr sz="1600" b="0" i="0" u="none">
                  <a:solidFill>
                    <a:srgbClr val="334155"/>
                  </a:solidFill>
                  <a:latin typeface="+mj-lt"/>
                </a:rPr>
                <a:t> Sin funciones de activación, una red multicapa se comportaría matemáticamente como una simple transformación lineal, limitando su capacidad expresiva.</a:t>
              </a:r>
            </a:p>
          </p:txBody>
        </p:sp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A77E0109-7274-5475-F466-94689B9D84C8}"/>
                </a:ext>
              </a:extLst>
            </p:cNvPr>
            <p:cNvSpPr txBox="1"/>
            <p:nvPr/>
          </p:nvSpPr>
          <p:spPr>
            <a:xfrm>
              <a:off x="809625" y="2482461"/>
              <a:ext cx="10620375" cy="4873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sz="1600" b="0" i="0" u="none" dirty="0" err="1">
                  <a:solidFill>
                    <a:srgbClr val="0F172A"/>
                  </a:solidFill>
                  <a:latin typeface="+mj-lt"/>
                </a:rPr>
                <a:t>ReLU</a:t>
              </a:r>
              <a:r>
                <a:rPr sz="1600" b="0" i="0" u="none" dirty="0">
                  <a:solidFill>
                    <a:srgbClr val="0F172A"/>
                  </a:solidFill>
                  <a:latin typeface="+mj-lt"/>
                </a:rPr>
                <a:t> (Rectified Linear Unit):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Definida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como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lang="es-ES" sz="1600" b="0" i="0" u="none" dirty="0">
                  <a:solidFill>
                    <a:srgbClr val="334155"/>
                  </a:solidFill>
                  <a:latin typeface="+mj-lt"/>
                </a:rPr>
                <a:t>                                         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. Es la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función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más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utilizada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en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las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capas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ocultas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por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su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eficiencia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computacional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.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35E6DF5-077C-BD7A-A57E-19D538E2F015}"/>
                </a:ext>
              </a:extLst>
            </p:cNvPr>
            <p:cNvSpPr txBox="1"/>
            <p:nvPr/>
          </p:nvSpPr>
          <p:spPr>
            <a:xfrm>
              <a:off x="990600" y="3584793"/>
              <a:ext cx="10620375" cy="2436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sz="1600" b="0" i="0" u="none" dirty="0">
                  <a:solidFill>
                    <a:srgbClr val="0F172A"/>
                  </a:solidFill>
                  <a:latin typeface="+mj-lt"/>
                </a:rPr>
                <a:t>Sigmoid: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Transforma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la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salida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al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rango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entre 0 y 1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mediante</a:t>
              </a:r>
              <a:r>
                <a:rPr lang="es-ES" sz="1600" b="0" i="0" u="none" dirty="0">
                  <a:solidFill>
                    <a:srgbClr val="334155"/>
                  </a:solidFill>
                  <a:latin typeface="+mj-lt"/>
                </a:rPr>
                <a:t>                                         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, ideal para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clasificación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binaria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FD13FA0-0D96-175F-BF1F-01DF05935FBA}"/>
                </a:ext>
              </a:extLst>
            </p:cNvPr>
            <p:cNvSpPr txBox="1"/>
            <p:nvPr/>
          </p:nvSpPr>
          <p:spPr>
            <a:xfrm>
              <a:off x="990600" y="4630924"/>
              <a:ext cx="10620375" cy="2436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sz="1600" b="0" i="0" u="none" dirty="0" err="1">
                  <a:solidFill>
                    <a:srgbClr val="0F172A"/>
                  </a:solidFill>
                  <a:latin typeface="+mj-lt"/>
                </a:rPr>
                <a:t>Softmax</a:t>
              </a:r>
              <a:r>
                <a:rPr sz="1600" b="0" i="0" u="none" dirty="0">
                  <a:solidFill>
                    <a:srgbClr val="0F172A"/>
                  </a:solidFill>
                  <a:latin typeface="+mj-lt"/>
                </a:rPr>
                <a:t>: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Genera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una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distribución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de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probabilidad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multiclase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en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la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capa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de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salida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,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donde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todas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las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probabilidades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suman 1.</a:t>
              </a:r>
            </a:p>
          </p:txBody>
        </p:sp>
        <p:pic>
          <p:nvPicPr>
            <p:cNvPr id="7" name="Picture 6" descr="image.png">
              <a:extLst>
                <a:ext uri="{FF2B5EF4-FFF2-40B4-BE49-F238E27FC236}">
                  <a16:creationId xmlns:a16="http://schemas.microsoft.com/office/drawing/2014/main" id="{64CC164B-8967-C26F-2A9F-E23E1F7D9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55500" y="2530085"/>
              <a:ext cx="1553021" cy="152400"/>
            </a:xfrm>
            <a:prstGeom prst="rect">
              <a:avLst/>
            </a:prstGeom>
          </p:spPr>
        </p:pic>
        <p:pic>
          <p:nvPicPr>
            <p:cNvPr id="8" name="Picture 7" descr="image.png">
              <a:extLst>
                <a:ext uri="{FF2B5EF4-FFF2-40B4-BE49-F238E27FC236}">
                  <a16:creationId xmlns:a16="http://schemas.microsoft.com/office/drawing/2014/main" id="{137346C2-5CC7-94D4-902D-E5D15D045B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08521" y="3636331"/>
              <a:ext cx="1013370" cy="190500"/>
            </a:xfrm>
            <a:prstGeom prst="rect">
              <a:avLst/>
            </a:prstGeom>
          </p:spPr>
        </p:pic>
        <p:pic>
          <p:nvPicPr>
            <p:cNvPr id="9" name="Picture 8" descr="image.png">
              <a:extLst>
                <a:ext uri="{FF2B5EF4-FFF2-40B4-BE49-F238E27FC236}">
                  <a16:creationId xmlns:a16="http://schemas.microsoft.com/office/drawing/2014/main" id="{42FA5C03-709B-1CB6-5001-D6B6E3D30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3863" y="1520476"/>
              <a:ext cx="266700" cy="219075"/>
            </a:xfrm>
            <a:prstGeom prst="rect">
              <a:avLst/>
            </a:prstGeom>
          </p:spPr>
        </p:pic>
        <p:pic>
          <p:nvPicPr>
            <p:cNvPr id="10" name="Picture 9" descr="image.png">
              <a:extLst>
                <a:ext uri="{FF2B5EF4-FFF2-40B4-BE49-F238E27FC236}">
                  <a16:creationId xmlns:a16="http://schemas.microsoft.com/office/drawing/2014/main" id="{D077E758-A38B-0003-9E92-000E5B539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1000" y="2496748"/>
              <a:ext cx="180975" cy="219075"/>
            </a:xfrm>
            <a:prstGeom prst="rect">
              <a:avLst/>
            </a:prstGeom>
          </p:spPr>
        </p:pic>
        <p:pic>
          <p:nvPicPr>
            <p:cNvPr id="11" name="Picture 10" descr="image.png">
              <a:extLst>
                <a:ext uri="{FF2B5EF4-FFF2-40B4-BE49-F238E27FC236}">
                  <a16:creationId xmlns:a16="http://schemas.microsoft.com/office/drawing/2014/main" id="{CA0AAE77-A86B-D41E-E7B8-670AC4A17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1975" y="3599080"/>
              <a:ext cx="209550" cy="219075"/>
            </a:xfrm>
            <a:prstGeom prst="rect">
              <a:avLst/>
            </a:prstGeom>
          </p:spPr>
        </p:pic>
        <p:pic>
          <p:nvPicPr>
            <p:cNvPr id="12" name="Picture 11" descr="image.png">
              <a:extLst>
                <a:ext uri="{FF2B5EF4-FFF2-40B4-BE49-F238E27FC236}">
                  <a16:creationId xmlns:a16="http://schemas.microsoft.com/office/drawing/2014/main" id="{AD91CE6C-9D4D-D84F-789B-8C56545E7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1975" y="4645212"/>
              <a:ext cx="238125" cy="219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4461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85800" y="3246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aprende una red?</a:t>
            </a:r>
            <a:endParaRPr lang="es-PE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600" b="1" dirty="0">
                <a:solidFill>
                  <a:srgbClr val="1BA9C2"/>
                </a:solidFill>
                <a:latin typeface="+mj-lt"/>
                <a:ea typeface="Cambria" pitchFamily="34" charset="-122"/>
                <a:cs typeface="Cambria" pitchFamily="34" charset="-120"/>
              </a:rPr>
              <a:t>1</a:t>
            </a:r>
            <a:endParaRPr lang="es-PE" sz="2600" dirty="0">
              <a:latin typeface="+mj-lt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8580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5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Forward </a:t>
            </a:r>
            <a:r>
              <a:rPr lang="es-PE" sz="1450" b="1" dirty="0" err="1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pass</a:t>
            </a:r>
            <a:endParaRPr lang="es-PE" sz="1450" dirty="0">
              <a:latin typeface="+mj-lt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85800" y="2697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50" dirty="0">
                <a:solidFill>
                  <a:srgbClr val="CADCFC"/>
                </a:solidFill>
                <a:latin typeface="+mj-lt"/>
                <a:ea typeface="Calibri" pitchFamily="34" charset="-122"/>
                <a:cs typeface="Calibri" pitchFamily="34" charset="-120"/>
              </a:rPr>
              <a:t>Los datos atraviesan la red y producen una predicción.</a:t>
            </a:r>
            <a:endParaRPr lang="es-PE" sz="1150" dirty="0">
              <a:latin typeface="+mj-lt"/>
            </a:endParaRPr>
          </a:p>
        </p:txBody>
      </p:sp>
      <p:sp>
        <p:nvSpPr>
          <p:cNvPr id="9" name="Shape 7"/>
          <p:cNvSpPr/>
          <p:nvPr/>
        </p:nvSpPr>
        <p:spPr>
          <a:xfrm rot="5400000">
            <a:off x="3172968" y="2377440"/>
            <a:ext cx="201168" cy="274320"/>
          </a:xfrm>
          <a:prstGeom prst="triangle">
            <a:avLst/>
          </a:prstGeom>
          <a:solidFill>
            <a:srgbClr val="5A6472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41732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1BA9C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0440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600" b="1" dirty="0">
                <a:solidFill>
                  <a:srgbClr val="0F1B33"/>
                </a:solidFill>
                <a:latin typeface="+mj-lt"/>
                <a:ea typeface="Cambria" pitchFamily="34" charset="-122"/>
                <a:cs typeface="Cambria" pitchFamily="34" charset="-120"/>
              </a:rPr>
              <a:t>2</a:t>
            </a:r>
            <a:endParaRPr lang="es-PE" sz="2600" dirty="0">
              <a:latin typeface="+mj-lt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52044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50" b="1" dirty="0">
                <a:solidFill>
                  <a:srgbClr val="0F1B33"/>
                </a:solidFill>
                <a:latin typeface="+mj-lt"/>
                <a:ea typeface="Calibri" pitchFamily="34" charset="-122"/>
                <a:cs typeface="Calibri" pitchFamily="34" charset="-120"/>
              </a:rPr>
              <a:t>Función de pérdida</a:t>
            </a:r>
            <a:endParaRPr lang="es-PE" sz="1450" dirty="0">
              <a:latin typeface="+mj-lt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520440" y="2697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50" dirty="0">
                <a:solidFill>
                  <a:srgbClr val="0F1B33"/>
                </a:solidFill>
                <a:latin typeface="+mj-lt"/>
                <a:ea typeface="Calibri" pitchFamily="34" charset="-122"/>
                <a:cs typeface="Calibri" pitchFamily="34" charset="-120"/>
              </a:rPr>
              <a:t>Mide qué tan equivocada estuvo la predicción.</a:t>
            </a:r>
            <a:endParaRPr lang="es-PE" sz="1150" dirty="0">
              <a:latin typeface="+mj-lt"/>
            </a:endParaRPr>
          </a:p>
        </p:txBody>
      </p:sp>
      <p:sp>
        <p:nvSpPr>
          <p:cNvPr id="14" name="Shape 12"/>
          <p:cNvSpPr/>
          <p:nvPr/>
        </p:nvSpPr>
        <p:spPr>
          <a:xfrm rot="5400000">
            <a:off x="6007608" y="2377440"/>
            <a:ext cx="201168" cy="274320"/>
          </a:xfrm>
          <a:prstGeom prst="triangle">
            <a:avLst/>
          </a:prstGeom>
          <a:solidFill>
            <a:srgbClr val="5A6472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41732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5080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600" b="1" dirty="0">
                <a:solidFill>
                  <a:srgbClr val="1BA9C2"/>
                </a:solidFill>
                <a:latin typeface="+mj-lt"/>
                <a:ea typeface="Cambria" pitchFamily="34" charset="-122"/>
                <a:cs typeface="Cambria" pitchFamily="34" charset="-120"/>
              </a:rPr>
              <a:t>3</a:t>
            </a:r>
            <a:endParaRPr lang="es-PE" sz="2600" dirty="0">
              <a:latin typeface="+mj-lt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35508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50" b="1" dirty="0" err="1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Backpropagation</a:t>
            </a:r>
            <a:endParaRPr lang="es-PE" sz="1450" dirty="0">
              <a:latin typeface="+mj-lt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355080" y="2697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50" dirty="0">
                <a:solidFill>
                  <a:srgbClr val="CADCFC"/>
                </a:solidFill>
                <a:latin typeface="+mj-lt"/>
                <a:ea typeface="Calibri" pitchFamily="34" charset="-122"/>
                <a:cs typeface="Calibri" pitchFamily="34" charset="-120"/>
              </a:rPr>
              <a:t>Calcula cuánto contribuyó cada peso al error.</a:t>
            </a:r>
            <a:endParaRPr lang="es-PE" sz="1150" dirty="0">
              <a:latin typeface="+mj-lt"/>
            </a:endParaRPr>
          </a:p>
        </p:txBody>
      </p:sp>
      <p:sp>
        <p:nvSpPr>
          <p:cNvPr id="19" name="Shape 17"/>
          <p:cNvSpPr/>
          <p:nvPr/>
        </p:nvSpPr>
        <p:spPr>
          <a:xfrm rot="5400000">
            <a:off x="8842248" y="2377440"/>
            <a:ext cx="201168" cy="274320"/>
          </a:xfrm>
          <a:prstGeom prst="triangle">
            <a:avLst/>
          </a:prstGeom>
          <a:solidFill>
            <a:srgbClr val="5A6472"/>
          </a:solidFill>
          <a:ln/>
        </p:spPr>
      </p:sp>
      <p:sp>
        <p:nvSpPr>
          <p:cNvPr id="20" name="Shape 18"/>
          <p:cNvSpPr/>
          <p:nvPr/>
        </p:nvSpPr>
        <p:spPr>
          <a:xfrm>
            <a:off x="9052560" y="141732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1BA9C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89720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600" b="1" dirty="0">
                <a:solidFill>
                  <a:srgbClr val="0F1B33"/>
                </a:solidFill>
                <a:latin typeface="+mj-lt"/>
                <a:ea typeface="Cambria" pitchFamily="34" charset="-122"/>
                <a:cs typeface="Cambria" pitchFamily="34" charset="-120"/>
              </a:rPr>
              <a:t>4</a:t>
            </a:r>
            <a:endParaRPr lang="es-PE" sz="2600" dirty="0">
              <a:latin typeface="+mj-lt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18972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50" b="1" dirty="0">
                <a:solidFill>
                  <a:srgbClr val="0F1B33"/>
                </a:solidFill>
                <a:latin typeface="+mj-lt"/>
                <a:ea typeface="Calibri" pitchFamily="34" charset="-122"/>
                <a:cs typeface="Calibri" pitchFamily="34" charset="-120"/>
              </a:rPr>
              <a:t>Descenso de gradiente</a:t>
            </a:r>
            <a:endParaRPr lang="es-PE" sz="1450" dirty="0">
              <a:latin typeface="+mj-lt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9189720" y="2697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50" dirty="0">
                <a:solidFill>
                  <a:srgbClr val="0F1B33"/>
                </a:solidFill>
                <a:latin typeface="+mj-lt"/>
                <a:ea typeface="Calibri" pitchFamily="34" charset="-122"/>
                <a:cs typeface="Calibri" pitchFamily="34" charset="-120"/>
              </a:rPr>
              <a:t>Ajusta cada peso en la dirección que reduce el error.</a:t>
            </a:r>
            <a:endParaRPr lang="es-PE" sz="1150" dirty="0">
              <a:latin typeface="+mj-lt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6035040" cy="2194560"/>
          </a:xfrm>
          <a:prstGeom prst="roundRect">
            <a:avLst>
              <a:gd name="adj" fmla="val 2500"/>
            </a:avLst>
          </a:prstGeom>
          <a:solidFill>
            <a:srgbClr val="E8F7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1148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b="1" dirty="0">
                <a:solidFill>
                  <a:srgbClr val="1B2A4A"/>
                </a:solidFill>
                <a:latin typeface="+mj-lt"/>
                <a:ea typeface="Calibri" pitchFamily="34" charset="-122"/>
                <a:cs typeface="Calibri" pitchFamily="34" charset="-120"/>
              </a:rPr>
              <a:t>Analogía: la montaña con niebla</a:t>
            </a:r>
            <a:endParaRPr lang="es-PE" sz="1300" dirty="0">
              <a:latin typeface="+mj-lt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777240" y="448056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i="1" dirty="0">
                <a:solidFill>
                  <a:srgbClr val="333333"/>
                </a:solidFill>
                <a:latin typeface="+mj-lt"/>
                <a:ea typeface="Calibri" pitchFamily="34" charset="-122"/>
                <a:cs typeface="Calibri" pitchFamily="34" charset="-120"/>
              </a:rPr>
              <a:t>Bajas el valle sin ver, solo sintiendo la inclinación bajo tus pies. El tamaño del paso es la tasa de aprendizaje: muy grande y rebotas sin converger; muy pequeña y tardas una eternidad.</a:t>
            </a:r>
            <a:endParaRPr lang="es-PE" sz="1250" dirty="0">
              <a:latin typeface="+mj-lt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812280" y="3977640"/>
            <a:ext cx="4846320" cy="2194560"/>
          </a:xfrm>
          <a:prstGeom prst="roundRect">
            <a:avLst>
              <a:gd name="adj" fmla="val 2500"/>
            </a:avLst>
          </a:prstGeom>
          <a:solidFill>
            <a:srgbClr val="F2F4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040880" y="4114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b="1" dirty="0">
                <a:solidFill>
                  <a:srgbClr val="1B2A4A"/>
                </a:solidFill>
                <a:latin typeface="+mj-lt"/>
                <a:ea typeface="Calibri" pitchFamily="34" charset="-122"/>
                <a:cs typeface="Calibri" pitchFamily="34" charset="-120"/>
              </a:rPr>
              <a:t>Cuidado</a:t>
            </a:r>
            <a:endParaRPr lang="es-PE" sz="1300" dirty="0">
              <a:latin typeface="+mj-lt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7040880" y="448056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i="1" dirty="0">
                <a:solidFill>
                  <a:srgbClr val="333333"/>
                </a:solidFill>
                <a:latin typeface="+mj-lt"/>
                <a:ea typeface="Calibri" pitchFamily="34" charset="-122"/>
                <a:cs typeface="Calibri" pitchFamily="34" charset="-120"/>
              </a:rPr>
              <a:t>El gradiente no siempre halla el mínimo global — hay mínimos locales. No confundas "época" (todo el </a:t>
            </a:r>
            <a:r>
              <a:rPr lang="es-PE" sz="1250" i="1" dirty="0" err="1">
                <a:solidFill>
                  <a:srgbClr val="333333"/>
                </a:solidFill>
                <a:latin typeface="+mj-lt"/>
                <a:ea typeface="Calibri" pitchFamily="34" charset="-122"/>
                <a:cs typeface="Calibri" pitchFamily="34" charset="-120"/>
              </a:rPr>
              <a:t>dataset</a:t>
            </a:r>
            <a:r>
              <a:rPr lang="es-PE" sz="1250" i="1" dirty="0">
                <a:solidFill>
                  <a:srgbClr val="333333"/>
                </a:solidFill>
                <a:latin typeface="+mj-lt"/>
                <a:ea typeface="Calibri" pitchFamily="34" charset="-122"/>
                <a:cs typeface="Calibri" pitchFamily="34" charset="-120"/>
              </a:rPr>
              <a:t>) con "iteración" (un </a:t>
            </a:r>
            <a:r>
              <a:rPr lang="es-PE" sz="1250" i="1" dirty="0" err="1">
                <a:solidFill>
                  <a:srgbClr val="333333"/>
                </a:solidFill>
                <a:latin typeface="+mj-lt"/>
                <a:ea typeface="Calibri" pitchFamily="34" charset="-122"/>
                <a:cs typeface="Calibri" pitchFamily="34" charset="-120"/>
              </a:rPr>
              <a:t>batch</a:t>
            </a:r>
            <a:r>
              <a:rPr lang="es-PE" sz="1250" i="1" dirty="0">
                <a:solidFill>
                  <a:srgbClr val="333333"/>
                </a:solidFill>
                <a:latin typeface="+mj-lt"/>
                <a:ea typeface="Calibri" pitchFamily="34" charset="-122"/>
                <a:cs typeface="Calibri" pitchFamily="34" charset="-120"/>
              </a:rPr>
              <a:t>).</a:t>
            </a:r>
            <a:endParaRPr lang="es-PE" sz="1250" dirty="0">
              <a:latin typeface="+mj-lt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s-PE" sz="1100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2DD57A4A-6FF2-1306-ECEA-690F2C8309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65959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s-PE" sz="2800" b="1" i="0" u="none" dirty="0">
                <a:solidFill>
                  <a:srgbClr val="0F172A"/>
                </a:solidFill>
                <a:latin typeface="Space Grotesk"/>
              </a:rPr>
              <a:t>Ciclo de entrenamiento</a:t>
            </a:r>
          </a:p>
        </p:txBody>
      </p:sp>
      <p:sp>
        <p:nvSpPr>
          <p:cNvPr id="32" name="Text 3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PE" sz="11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BD34F15A-0668-EE87-3C3C-495905C51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  <p:pic>
        <p:nvPicPr>
          <p:cNvPr id="2" name="Picture 2" descr="image.png">
            <a:extLst>
              <a:ext uri="{FF2B5EF4-FFF2-40B4-BE49-F238E27FC236}">
                <a16:creationId xmlns:a16="http://schemas.microsoft.com/office/drawing/2014/main" id="{710FB78E-63F4-C065-A4E0-AF36E38C3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09" y="3669661"/>
            <a:ext cx="2541240" cy="1325033"/>
          </a:xfrm>
          <a:prstGeom prst="rect">
            <a:avLst/>
          </a:prstGeom>
        </p:spPr>
      </p:pic>
      <p:pic>
        <p:nvPicPr>
          <p:cNvPr id="3" name="Picture 3" descr="image.png">
            <a:extLst>
              <a:ext uri="{FF2B5EF4-FFF2-40B4-BE49-F238E27FC236}">
                <a16:creationId xmlns:a16="http://schemas.microsoft.com/office/drawing/2014/main" id="{76BB65DC-A50F-9414-05E3-006A9D8284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2528" y="2098036"/>
            <a:ext cx="2541240" cy="1095375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CDFD43C1-562C-6E2D-71F9-19F52F768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8448" y="3669661"/>
            <a:ext cx="2541240" cy="1095375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1FFC080E-627A-F964-AA91-D7D9D6E0A2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4368" y="1898011"/>
            <a:ext cx="2541240" cy="1295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7D07724-31DB-2FAE-1478-E6D25988250E}"/>
              </a:ext>
            </a:extLst>
          </p:cNvPr>
          <p:cNvSpPr/>
          <p:nvPr/>
        </p:nvSpPr>
        <p:spPr>
          <a:xfrm>
            <a:off x="476609" y="3412486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F67B61-8036-D228-E5EA-C9F8387E400A}"/>
              </a:ext>
            </a:extLst>
          </p:cNvPr>
          <p:cNvSpPr txBox="1"/>
          <p:nvPr/>
        </p:nvSpPr>
        <p:spPr>
          <a:xfrm>
            <a:off x="623104" y="3869686"/>
            <a:ext cx="224824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2563EB"/>
                </a:solidFill>
                <a:latin typeface="+mj-lt"/>
              </a:rPr>
              <a:t>1. Forward Pass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F2A2A4-FB3F-A7F4-E4A6-C0C9C546E018}"/>
              </a:ext>
            </a:extLst>
          </p:cNvPr>
          <p:cNvSpPr txBox="1"/>
          <p:nvPr/>
        </p:nvSpPr>
        <p:spPr>
          <a:xfrm>
            <a:off x="676634" y="4164961"/>
            <a:ext cx="214119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400" b="0" i="0" u="none" dirty="0">
                <a:solidFill>
                  <a:srgbClr val="334155"/>
                </a:solidFill>
                <a:latin typeface="+mj-lt"/>
              </a:rPr>
              <a:t>Los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datos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atraviesan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la red para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generar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una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predicción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endParaRPr lang="es-ES" sz="1400" b="0" i="0" u="none" dirty="0">
              <a:solidFill>
                <a:srgbClr val="334155"/>
              </a:solidFill>
              <a:latin typeface="+mj-lt"/>
            </a:endParaRPr>
          </a:p>
          <a:p>
            <a:pPr algn="ctr">
              <a:lnSpc>
                <a:spcPts val="1575"/>
              </a:lnSpc>
            </a:pPr>
            <a:r>
              <a:rPr sz="1400" b="0" i="0" u="none" dirty="0">
                <a:solidFill>
                  <a:srgbClr val="334155"/>
                </a:solidFill>
                <a:latin typeface="+mj-lt"/>
              </a:rPr>
              <a:t>( 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FAF69C-85A9-D095-03BA-132FB940276E}"/>
              </a:ext>
            </a:extLst>
          </p:cNvPr>
          <p:cNvSpPr txBox="1"/>
          <p:nvPr/>
        </p:nvSpPr>
        <p:spPr>
          <a:xfrm>
            <a:off x="3459024" y="2236535"/>
            <a:ext cx="224824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2563EB"/>
                </a:solidFill>
                <a:latin typeface="+mj-lt"/>
              </a:rPr>
              <a:t>2. Loss Function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DBEE9B-A1FE-0289-D776-8DE62840D121}"/>
              </a:ext>
            </a:extLst>
          </p:cNvPr>
          <p:cNvSpPr txBox="1"/>
          <p:nvPr/>
        </p:nvSpPr>
        <p:spPr>
          <a:xfrm>
            <a:off x="3512553" y="2531810"/>
            <a:ext cx="214119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400" b="0" i="0" u="none" dirty="0">
                <a:solidFill>
                  <a:srgbClr val="334155"/>
                </a:solidFill>
                <a:latin typeface="+mj-lt"/>
              </a:rPr>
              <a:t>Se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calcula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el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error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comparando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la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predicción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con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el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valor real ( 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044C83-C349-090A-B532-12FC0D767FFE}"/>
              </a:ext>
            </a:extLst>
          </p:cNvPr>
          <p:cNvSpPr txBox="1"/>
          <p:nvPr/>
        </p:nvSpPr>
        <p:spPr>
          <a:xfrm>
            <a:off x="6294944" y="3869686"/>
            <a:ext cx="224824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2563EB"/>
                </a:solidFill>
                <a:latin typeface="+mj-lt"/>
              </a:rPr>
              <a:t>3. Backprop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765D78-DBFB-658A-5E4E-9AD00E632B08}"/>
              </a:ext>
            </a:extLst>
          </p:cNvPr>
          <p:cNvSpPr txBox="1"/>
          <p:nvPr/>
        </p:nvSpPr>
        <p:spPr>
          <a:xfrm>
            <a:off x="6348473" y="4164961"/>
            <a:ext cx="214119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400" b="0" i="0" u="none">
                <a:solidFill>
                  <a:srgbClr val="334155"/>
                </a:solidFill>
                <a:latin typeface="+mj-lt"/>
              </a:rPr>
              <a:t>Se calculan los gradientes usando la regla de la cadena matemática.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63657B-6CC9-8C9F-F768-14417947676E}"/>
              </a:ext>
            </a:extLst>
          </p:cNvPr>
          <p:cNvSpPr txBox="1"/>
          <p:nvPr/>
        </p:nvSpPr>
        <p:spPr>
          <a:xfrm>
            <a:off x="9130864" y="2098036"/>
            <a:ext cx="224824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2563EB"/>
                </a:solidFill>
                <a:latin typeface="+mj-lt"/>
              </a:rPr>
              <a:t>4. Optimizador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1F67DD-6486-277E-F5C1-965C1F5A0D59}"/>
              </a:ext>
            </a:extLst>
          </p:cNvPr>
          <p:cNvSpPr txBox="1"/>
          <p:nvPr/>
        </p:nvSpPr>
        <p:spPr>
          <a:xfrm>
            <a:off x="9184393" y="2393311"/>
            <a:ext cx="2141190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400" b="0" i="0" u="none">
                <a:solidFill>
                  <a:srgbClr val="334155"/>
                </a:solidFill>
                <a:latin typeface="+mj-lt"/>
              </a:rPr>
              <a:t>Se actualizan los pesos ajustando los parámetros en dirección opuesta al gradiente.</a:t>
            </a:r>
          </a:p>
        </p:txBody>
      </p:sp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F6021EE9-720F-92FB-B573-FA839AC92B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5062" y="3027512"/>
            <a:ext cx="66675" cy="95250"/>
          </a:xfrm>
          <a:prstGeom prst="rect">
            <a:avLst/>
          </a:prstGeom>
        </p:spPr>
      </p:pic>
      <p:sp>
        <p:nvSpPr>
          <p:cNvPr id="18" name="Rounded Rectangle 18">
            <a:extLst>
              <a:ext uri="{FF2B5EF4-FFF2-40B4-BE49-F238E27FC236}">
                <a16:creationId xmlns:a16="http://schemas.microsoft.com/office/drawing/2014/main" id="{DA060938-947F-B564-1C98-50F8F2B0D601}"/>
              </a:ext>
            </a:extLst>
          </p:cNvPr>
          <p:cNvSpPr/>
          <p:nvPr/>
        </p:nvSpPr>
        <p:spPr>
          <a:xfrm>
            <a:off x="1651979" y="333628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sp>
        <p:nvSpPr>
          <p:cNvPr id="19" name="Rounded Rectangle 19">
            <a:extLst>
              <a:ext uri="{FF2B5EF4-FFF2-40B4-BE49-F238E27FC236}">
                <a16:creationId xmlns:a16="http://schemas.microsoft.com/office/drawing/2014/main" id="{BEE84E4D-BCD8-0841-E771-ED2636AD10CC}"/>
              </a:ext>
            </a:extLst>
          </p:cNvPr>
          <p:cNvSpPr/>
          <p:nvPr/>
        </p:nvSpPr>
        <p:spPr>
          <a:xfrm>
            <a:off x="4487899" y="333628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sp>
        <p:nvSpPr>
          <p:cNvPr id="20" name="Rounded Rectangle 20">
            <a:extLst>
              <a:ext uri="{FF2B5EF4-FFF2-40B4-BE49-F238E27FC236}">
                <a16:creationId xmlns:a16="http://schemas.microsoft.com/office/drawing/2014/main" id="{759FEDAD-0CC0-B739-E8D1-22F273696C51}"/>
              </a:ext>
            </a:extLst>
          </p:cNvPr>
          <p:cNvSpPr/>
          <p:nvPr/>
        </p:nvSpPr>
        <p:spPr>
          <a:xfrm>
            <a:off x="7323818" y="333628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sp>
        <p:nvSpPr>
          <p:cNvPr id="21" name="Rounded Rectangle 21">
            <a:extLst>
              <a:ext uri="{FF2B5EF4-FFF2-40B4-BE49-F238E27FC236}">
                <a16:creationId xmlns:a16="http://schemas.microsoft.com/office/drawing/2014/main" id="{28741FA1-E2D0-F63A-CF74-0CF9F1A80AD4}"/>
              </a:ext>
            </a:extLst>
          </p:cNvPr>
          <p:cNvSpPr/>
          <p:nvPr/>
        </p:nvSpPr>
        <p:spPr>
          <a:xfrm>
            <a:off x="10159738" y="333628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pic>
        <p:nvPicPr>
          <p:cNvPr id="22" name="Picture 15" descr="image.png">
            <a:extLst>
              <a:ext uri="{FF2B5EF4-FFF2-40B4-BE49-F238E27FC236}">
                <a16:creationId xmlns:a16="http://schemas.microsoft.com/office/drawing/2014/main" id="{99B6286D-E919-E786-A481-4B3FA4878B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0553" y="4611743"/>
            <a:ext cx="66675" cy="16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541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65959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s-ES" sz="2800" b="1" i="0" u="none" dirty="0">
                <a:solidFill>
                  <a:srgbClr val="0F172A"/>
                </a:solidFill>
                <a:latin typeface="Space Grotesk"/>
              </a:rPr>
              <a:t>Gestión de lotes y épocas</a:t>
            </a:r>
          </a:p>
        </p:txBody>
      </p:sp>
      <p:sp>
        <p:nvSpPr>
          <p:cNvPr id="32" name="Text 3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PE" sz="11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BD34F15A-0668-EE87-3C3C-495905C51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  <p:pic>
        <p:nvPicPr>
          <p:cNvPr id="16" name="Picture 2" descr="image.png">
            <a:extLst>
              <a:ext uri="{FF2B5EF4-FFF2-40B4-BE49-F238E27FC236}">
                <a16:creationId xmlns:a16="http://schemas.microsoft.com/office/drawing/2014/main" id="{08374810-9600-EF7F-8948-0CAFC3516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63" y="2274767"/>
            <a:ext cx="3333750" cy="1943100"/>
          </a:xfrm>
          <a:prstGeom prst="rect">
            <a:avLst/>
          </a:prstGeom>
        </p:spPr>
      </p:pic>
      <p:sp>
        <p:nvSpPr>
          <p:cNvPr id="23" name="TextBox 3">
            <a:extLst>
              <a:ext uri="{FF2B5EF4-FFF2-40B4-BE49-F238E27FC236}">
                <a16:creationId xmlns:a16="http://schemas.microsoft.com/office/drawing/2014/main" id="{F3CE7192-5672-918D-F1C2-0960F6902967}"/>
              </a:ext>
            </a:extLst>
          </p:cNvPr>
          <p:cNvSpPr txBox="1"/>
          <p:nvPr/>
        </p:nvSpPr>
        <p:spPr>
          <a:xfrm>
            <a:off x="892188" y="2665292"/>
            <a:ext cx="2552700" cy="869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sz="6600" b="1" i="0" u="none">
                <a:solidFill>
                  <a:srgbClr val="1D4ED8"/>
                </a:solidFill>
                <a:latin typeface="+mj-lt"/>
              </a:rPr>
              <a:t>100</a:t>
            </a:r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FE23F860-CF63-6284-CE67-0B05759A52F8}"/>
              </a:ext>
            </a:extLst>
          </p:cNvPr>
          <p:cNvSpPr txBox="1"/>
          <p:nvPr/>
        </p:nvSpPr>
        <p:spPr>
          <a:xfrm>
            <a:off x="892188" y="3598742"/>
            <a:ext cx="25527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1E3A8A"/>
                </a:solidFill>
                <a:latin typeface="+mj-lt"/>
              </a:rPr>
              <a:t>Iteraciones por Época</a:t>
            </a: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7A073D61-2F0B-EC3E-8D74-05BECF621026}"/>
              </a:ext>
            </a:extLst>
          </p:cNvPr>
          <p:cNvSpPr txBox="1"/>
          <p:nvPr/>
        </p:nvSpPr>
        <p:spPr>
          <a:xfrm>
            <a:off x="4216413" y="2384305"/>
            <a:ext cx="770096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 err="1">
                <a:solidFill>
                  <a:srgbClr val="1E293B"/>
                </a:solidFill>
                <a:latin typeface="+mj-lt"/>
              </a:rPr>
              <a:t>Definición</a:t>
            </a:r>
            <a:endParaRPr sz="1800" b="1" i="0" u="none" dirty="0">
              <a:solidFill>
                <a:srgbClr val="1E293B"/>
              </a:solidFill>
              <a:latin typeface="+mj-lt"/>
            </a:endParaRPr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F2627508-2F7A-A7CC-B86D-869534117D6B}"/>
              </a:ext>
            </a:extLst>
          </p:cNvPr>
          <p:cNvSpPr txBox="1"/>
          <p:nvPr/>
        </p:nvSpPr>
        <p:spPr>
          <a:xfrm>
            <a:off x="4216413" y="2793880"/>
            <a:ext cx="7334250" cy="228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+mj-lt"/>
              </a:rPr>
              <a:t>Epoch:</a:t>
            </a:r>
            <a:r>
              <a:rPr sz="1275" b="0" i="0" u="none">
                <a:solidFill>
                  <a:srgbClr val="334155"/>
                </a:solidFill>
                <a:latin typeface="+mj-lt"/>
              </a:rPr>
              <a:t> Una pasada completa de todo el conjunto de datos por la red neuronal.</a:t>
            </a:r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FB0D646A-D74F-7B78-2EA9-D436C0214080}"/>
              </a:ext>
            </a:extLst>
          </p:cNvPr>
          <p:cNvSpPr txBox="1"/>
          <p:nvPr/>
        </p:nvSpPr>
        <p:spPr>
          <a:xfrm>
            <a:off x="4216413" y="3151067"/>
            <a:ext cx="7334250" cy="228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+mj-lt"/>
              </a:rPr>
              <a:t>Batch Size:</a:t>
            </a:r>
            <a:r>
              <a:rPr sz="1275" b="0" i="0" u="none">
                <a:solidFill>
                  <a:srgbClr val="334155"/>
                </a:solidFill>
                <a:latin typeface="+mj-lt"/>
              </a:rPr>
              <a:t> Subconjunto de muestras procesadas antes de actualizar los pesos.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1CAE37D2-E182-0EC2-A64D-D49D2F6C6C5D}"/>
              </a:ext>
            </a:extLst>
          </p:cNvPr>
          <p:cNvSpPr txBox="1"/>
          <p:nvPr/>
        </p:nvSpPr>
        <p:spPr>
          <a:xfrm>
            <a:off x="4216413" y="3508255"/>
            <a:ext cx="73342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+mj-lt"/>
              </a:rPr>
              <a:t>Ejemplo práctico:</a:t>
            </a:r>
            <a:r>
              <a:rPr sz="1275" b="0" i="0" u="none">
                <a:solidFill>
                  <a:srgbClr val="334155"/>
                </a:solidFill>
                <a:latin typeface="+mj-lt"/>
              </a:rPr>
              <a:t> Para un dataset de 10,000 imágenes con un batch_size = 100, se ejecutan exactamente 100 iteraciones por cada época de entrenamiento.</a:t>
            </a:r>
          </a:p>
        </p:txBody>
      </p:sp>
    </p:spTree>
    <p:extLst>
      <p:ext uri="{BB962C8B-B14F-4D97-AF65-F5344CB8AC3E}">
        <p14:creationId xmlns:p14="http://schemas.microsoft.com/office/powerpoint/2010/main" val="2840103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65959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s-PE" sz="2800" b="1" i="0" u="none" dirty="0">
                <a:solidFill>
                  <a:srgbClr val="0F172A"/>
                </a:solidFill>
                <a:latin typeface="Space Grotesk"/>
              </a:rPr>
              <a:t>Desempeño y generalización</a:t>
            </a:r>
          </a:p>
        </p:txBody>
      </p:sp>
      <p:sp>
        <p:nvSpPr>
          <p:cNvPr id="32" name="Text 3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PE" sz="11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BD34F15A-0668-EE87-3C3C-495905C51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  <p:pic>
        <p:nvPicPr>
          <p:cNvPr id="2" name="Picture 2" descr="image.png">
            <a:extLst>
              <a:ext uri="{FF2B5EF4-FFF2-40B4-BE49-F238E27FC236}">
                <a16:creationId xmlns:a16="http://schemas.microsoft.com/office/drawing/2014/main" id="{76A58938-D718-B053-70D1-E7CA3ACF99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130" b="30660"/>
          <a:stretch/>
        </p:blipFill>
        <p:spPr>
          <a:xfrm>
            <a:off x="476609" y="2160917"/>
            <a:ext cx="11049000" cy="236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619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65959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s-PE" sz="2800" b="1" i="0" u="none" dirty="0">
                <a:solidFill>
                  <a:srgbClr val="0F172A"/>
                </a:solidFill>
                <a:latin typeface="Space Grotesk"/>
              </a:rPr>
              <a:t>Arquitecturas principales</a:t>
            </a:r>
          </a:p>
        </p:txBody>
      </p:sp>
      <p:sp>
        <p:nvSpPr>
          <p:cNvPr id="32" name="Text 3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PE" sz="11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BD34F15A-0668-EE87-3C3C-495905C51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1005B0-1145-B0A6-243A-76B9DE4D0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482779"/>
              </p:ext>
            </p:extLst>
          </p:nvPr>
        </p:nvGraphicFramePr>
        <p:xfrm>
          <a:off x="493863" y="2028825"/>
          <a:ext cx="11048999" cy="280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3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7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8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Arquitectura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 dirty="0" err="1">
                          <a:solidFill>
                            <a:srgbClr val="0F172A"/>
                          </a:solidFill>
                          <a:latin typeface="Space Grotesk"/>
                        </a:rPr>
                        <a:t>Especialidad</a:t>
                      </a:r>
                      <a:endParaRPr sz="1350" b="1" i="0" u="none" dirty="0">
                        <a:solidFill>
                          <a:srgbClr val="0F172A"/>
                        </a:solidFill>
                        <a:latin typeface="Space Grotesk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 dirty="0">
                          <a:solidFill>
                            <a:srgbClr val="0F172A"/>
                          </a:solidFill>
                          <a:latin typeface="Space Grotesk"/>
                        </a:rPr>
                        <a:t>Casos de </a:t>
                      </a:r>
                      <a:r>
                        <a:rPr sz="1350" b="1" i="0" u="none" dirty="0" err="1">
                          <a:solidFill>
                            <a:srgbClr val="0F172A"/>
                          </a:solidFill>
                          <a:latin typeface="Space Grotesk"/>
                        </a:rPr>
                        <a:t>Uso</a:t>
                      </a:r>
                      <a:r>
                        <a:rPr sz="1350" b="1" i="0" u="none" dirty="0">
                          <a:solidFill>
                            <a:srgbClr val="0F172A"/>
                          </a:solidFill>
                          <a:latin typeface="Space Grotesk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0F172A"/>
                          </a:solidFill>
                          <a:latin typeface="Space Grotesk"/>
                        </a:rPr>
                        <a:t>Principales</a:t>
                      </a:r>
                      <a:endParaRPr sz="1350" b="1" i="0" u="none" dirty="0">
                        <a:solidFill>
                          <a:srgbClr val="0F172A"/>
                        </a:solidFill>
                        <a:latin typeface="Space Grotesk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MLP</a:t>
                      </a:r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 (Perceptrón Multicapa)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Datos tabulares y densos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Clasificación estándar, regresión de datos.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CNN</a:t>
                      </a:r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 (Redes Convolucionales)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Procesamiento espacial e imágenes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Visión por computadora, detección de objetos.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RNN / LSTM</a:t>
                      </a:r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 (Recurrentes)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Datos secuenciales y temporales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Series de tiempo, análisis de audio.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Transformers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Mecanismos de atención paralela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Modelos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de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lenguaje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(LLMs),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traducción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DAEC9212-BE6E-3569-7349-4B25A3DC281B}"/>
              </a:ext>
            </a:extLst>
          </p:cNvPr>
          <p:cNvSpPr/>
          <p:nvPr/>
        </p:nvSpPr>
        <p:spPr>
          <a:xfrm>
            <a:off x="493863" y="2586038"/>
            <a:ext cx="30435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D255FE2-E8D5-FA69-9638-F0147AC7D1E5}"/>
              </a:ext>
            </a:extLst>
          </p:cNvPr>
          <p:cNvSpPr/>
          <p:nvPr/>
        </p:nvSpPr>
        <p:spPr>
          <a:xfrm>
            <a:off x="3537398" y="2586038"/>
            <a:ext cx="35471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DC9BFA4-BD40-0A58-1C9E-0EDFEB32C449}"/>
              </a:ext>
            </a:extLst>
          </p:cNvPr>
          <p:cNvSpPr/>
          <p:nvPr/>
        </p:nvSpPr>
        <p:spPr>
          <a:xfrm>
            <a:off x="7084567" y="2586038"/>
            <a:ext cx="44582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F394856-C77D-434E-A526-A8F9CA6051BE}"/>
              </a:ext>
            </a:extLst>
          </p:cNvPr>
          <p:cNvSpPr/>
          <p:nvPr/>
        </p:nvSpPr>
        <p:spPr>
          <a:xfrm>
            <a:off x="493863" y="3143250"/>
            <a:ext cx="30435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5C672F7-EA92-240E-257B-94BB01274209}"/>
              </a:ext>
            </a:extLst>
          </p:cNvPr>
          <p:cNvSpPr/>
          <p:nvPr/>
        </p:nvSpPr>
        <p:spPr>
          <a:xfrm>
            <a:off x="3537398" y="3143250"/>
            <a:ext cx="35471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6A5817F0-A1D4-C043-F0C5-1E05DB978F8A}"/>
              </a:ext>
            </a:extLst>
          </p:cNvPr>
          <p:cNvSpPr/>
          <p:nvPr/>
        </p:nvSpPr>
        <p:spPr>
          <a:xfrm>
            <a:off x="7084567" y="3143250"/>
            <a:ext cx="44582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E5DCB9A0-F3DE-C640-FB8B-398787ED04E5}"/>
              </a:ext>
            </a:extLst>
          </p:cNvPr>
          <p:cNvSpPr/>
          <p:nvPr/>
        </p:nvSpPr>
        <p:spPr>
          <a:xfrm>
            <a:off x="493863" y="3700463"/>
            <a:ext cx="30435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9934BC2E-CC15-2221-5394-567ED2855CD4}"/>
              </a:ext>
            </a:extLst>
          </p:cNvPr>
          <p:cNvSpPr/>
          <p:nvPr/>
        </p:nvSpPr>
        <p:spPr>
          <a:xfrm>
            <a:off x="3537398" y="3700463"/>
            <a:ext cx="35471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F676924-DE2A-C188-2A01-E344B257E1DA}"/>
              </a:ext>
            </a:extLst>
          </p:cNvPr>
          <p:cNvSpPr/>
          <p:nvPr/>
        </p:nvSpPr>
        <p:spPr>
          <a:xfrm>
            <a:off x="7084567" y="3700463"/>
            <a:ext cx="44582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735918A1-1048-D0B9-3341-080CCEB03F44}"/>
              </a:ext>
            </a:extLst>
          </p:cNvPr>
          <p:cNvSpPr/>
          <p:nvPr/>
        </p:nvSpPr>
        <p:spPr>
          <a:xfrm>
            <a:off x="493863" y="4257675"/>
            <a:ext cx="30435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EEB46F9F-979A-740B-8D94-503291C81CAE}"/>
              </a:ext>
            </a:extLst>
          </p:cNvPr>
          <p:cNvSpPr/>
          <p:nvPr/>
        </p:nvSpPr>
        <p:spPr>
          <a:xfrm>
            <a:off x="3537398" y="4257675"/>
            <a:ext cx="35471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26D97495-A8D1-E716-5C50-1964623CDF3E}"/>
              </a:ext>
            </a:extLst>
          </p:cNvPr>
          <p:cNvSpPr/>
          <p:nvPr/>
        </p:nvSpPr>
        <p:spPr>
          <a:xfrm>
            <a:off x="7084567" y="4257675"/>
            <a:ext cx="44582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C2C207F5-4114-B4F6-0599-42BC0B1FC697}"/>
              </a:ext>
            </a:extLst>
          </p:cNvPr>
          <p:cNvSpPr/>
          <p:nvPr/>
        </p:nvSpPr>
        <p:spPr>
          <a:xfrm>
            <a:off x="493863" y="4814888"/>
            <a:ext cx="30435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58C0DE19-A89A-F7E4-99B3-5719C487840B}"/>
              </a:ext>
            </a:extLst>
          </p:cNvPr>
          <p:cNvSpPr/>
          <p:nvPr/>
        </p:nvSpPr>
        <p:spPr>
          <a:xfrm>
            <a:off x="3537398" y="4814888"/>
            <a:ext cx="35471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699BA305-47A4-572A-6340-5E73331E3CD4}"/>
              </a:ext>
            </a:extLst>
          </p:cNvPr>
          <p:cNvSpPr/>
          <p:nvPr/>
        </p:nvSpPr>
        <p:spPr>
          <a:xfrm>
            <a:off x="7084567" y="4814888"/>
            <a:ext cx="44582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19772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571500" y="320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500" b="1" dirty="0">
                <a:latin typeface="+mj-lt"/>
                <a:ea typeface="Cambria" pitchFamily="34" charset="-122"/>
                <a:cs typeface="Cambria" pitchFamily="34" charset="-120"/>
              </a:rPr>
              <a:t>Aplicaciones del Deep Learning</a:t>
            </a:r>
            <a:endParaRPr lang="es-PE" sz="2500" dirty="0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2233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dirty="0">
                <a:solidFill>
                  <a:srgbClr val="1B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s-PE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médico, autos autónomos, reconocimiento facial</a:t>
            </a:r>
            <a:endParaRPr lang="es-PE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2233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417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dirty="0">
                <a:solidFill>
                  <a:srgbClr val="1B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s-PE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783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Traducción, asistentes virtuales, modelos de lenguaje</a:t>
            </a:r>
            <a:endParaRPr lang="es-PE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2233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1417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dirty="0">
                <a:solidFill>
                  <a:srgbClr val="1B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Generativa</a:t>
            </a:r>
            <a:endParaRPr lang="es-PE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783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Imagen, texto, música y video generados</a:t>
            </a:r>
            <a:endParaRPr lang="es-PE" sz="1100" dirty="0"/>
          </a:p>
        </p:txBody>
      </p:sp>
      <p:sp>
        <p:nvSpPr>
          <p:cNvPr id="15" name="Shape 13"/>
          <p:cNvSpPr/>
          <p:nvPr/>
        </p:nvSpPr>
        <p:spPr>
          <a:xfrm>
            <a:off x="8915400" y="128016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22335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052560" y="1417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dirty="0">
                <a:solidFill>
                  <a:srgbClr val="1B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</a:t>
            </a:r>
            <a:endParaRPr lang="es-PE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1783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r>
              <a:rPr lang="es-PE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e-</a:t>
            </a:r>
            <a:r>
              <a:rPr lang="es-PE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</a:t>
            </a:r>
            <a:r>
              <a:rPr lang="es-PE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personalizados</a:t>
            </a:r>
            <a:endParaRPr lang="es-PE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11064240" cy="3108960"/>
          </a:xfrm>
          <a:prstGeom prst="roundRect">
            <a:avLst>
              <a:gd name="adj" fmla="val 2059"/>
            </a:avLst>
          </a:prstGeom>
          <a:solidFill>
            <a:srgbClr val="7030A0"/>
          </a:solidFill>
          <a:ln w="12700">
            <a:solidFill>
              <a:srgbClr val="1BA9C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800" b="1" dirty="0">
                <a:solidFill>
                  <a:srgbClr val="1BA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Ética</a:t>
            </a:r>
            <a:endParaRPr lang="es-PE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3703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ingenieros, tomarán decisiones de diseño con consecuencias reales sobre personas reales.</a:t>
            </a:r>
            <a:endParaRPr lang="es-PE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algorítmico</a:t>
            </a:r>
            <a:endParaRPr lang="es-PE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6177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históricos desiguales → decisiones amplificadas a escala.</a:t>
            </a:r>
            <a:endParaRPr lang="es-PE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61188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</a:t>
            </a:r>
            <a:endParaRPr lang="es-PE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611880" y="46177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entrenados con datos sin consentimiento informado.</a:t>
            </a:r>
            <a:endParaRPr lang="es-PE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</a:t>
            </a:r>
            <a:endParaRPr lang="es-PE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46177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negras difíciles de justificar en salud, justicia, crédito.</a:t>
            </a:r>
            <a:endParaRPr lang="es-PE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09828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ambiental y laboral</a:t>
            </a:r>
            <a:endParaRPr lang="es-PE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46177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energético del entrenamiento y desplazamiento laboral.</a:t>
            </a:r>
            <a:endParaRPr lang="es-PE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271C64F5-2C81-BCF2-F2BB-ECB02F74F1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408319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8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</a:t>
            </a:r>
            <a:endParaRPr lang="es-PE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código abierto de Google </a:t>
            </a:r>
            <a:r>
              <a:rPr lang="es-PE" sz="1400" i="1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r>
              <a:rPr lang="es-PE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(2015) para construir y entrenar modelos de ML/DL a gran escala.</a:t>
            </a:r>
            <a:endParaRPr lang="es-PE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8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Tensores</a:t>
            </a:r>
            <a:endParaRPr lang="es-PE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69164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datos fundamental: generalizan escalares, vectores y matrices a n dimensiones.</a:t>
            </a:r>
            <a:endParaRPr lang="es-PE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8803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de cómputo</a:t>
            </a:r>
            <a:endParaRPr lang="es-PE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88036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como nodos y tensores como aristas. Desde TF 2.x, ejecución "</a:t>
            </a:r>
            <a:r>
              <a:rPr lang="es-PE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</a:t>
            </a:r>
            <a:r>
              <a:rPr lang="es-PE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por defecto.</a:t>
            </a:r>
            <a:endParaRPr lang="es-PE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8F7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</a:t>
            </a:r>
            <a:endParaRPr lang="es-PE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406908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Diferenciación automática: calcula todos los gradientes sin derivar fórmulas a mano.</a:t>
            </a:r>
            <a:endParaRPr lang="es-PE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2578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</a:t>
            </a:r>
            <a:endParaRPr lang="es-PE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525780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Lite (móvil), TF.js (navegador), TF </a:t>
            </a:r>
            <a:r>
              <a:rPr lang="es-PE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r>
              <a:rPr lang="es-PE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(producción) — de entrenamiento a despliegue.</a:t>
            </a:r>
            <a:endParaRPr lang="es-PE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1459510-8103-D192-9EA9-5E87C175A4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408319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8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</a:t>
            </a:r>
            <a:endParaRPr lang="es-PE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1459510-8103-D192-9EA9-5E87C175A4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  <p:pic>
        <p:nvPicPr>
          <p:cNvPr id="2" name="Picture 3" descr="image.png">
            <a:extLst>
              <a:ext uri="{FF2B5EF4-FFF2-40B4-BE49-F238E27FC236}">
                <a16:creationId xmlns:a16="http://schemas.microsoft.com/office/drawing/2014/main" id="{446B40B4-D578-2B4F-D90D-48373120F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539" y="804108"/>
            <a:ext cx="5014823" cy="5871012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1D1DABD-3550-A9FF-E178-6F8AB72AF666}"/>
              </a:ext>
            </a:extLst>
          </p:cNvPr>
          <p:cNvSpPr txBox="1"/>
          <p:nvPr/>
        </p:nvSpPr>
        <p:spPr>
          <a:xfrm>
            <a:off x="675017" y="2030083"/>
            <a:ext cx="5760289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600" b="1" i="0" u="none" dirty="0">
                <a:solidFill>
                  <a:srgbClr val="334155"/>
                </a:solidFill>
                <a:latin typeface="+mj-lt"/>
              </a:rPr>
              <a:t>TensorFlow: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Plataforma de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código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abierto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desarrollada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por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Google para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cómputo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numérico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de alto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rendimiento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en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CPU y GPU.</a:t>
            </a: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DB7524E4-F583-BBF8-4A04-12C3B573AC8E}"/>
              </a:ext>
            </a:extLst>
          </p:cNvPr>
          <p:cNvSpPr txBox="1"/>
          <p:nvPr/>
        </p:nvSpPr>
        <p:spPr>
          <a:xfrm>
            <a:off x="675017" y="3159279"/>
            <a:ext cx="5639519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Keras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API de alto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nivel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integrada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en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TensorFlow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enfocada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en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la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facilidad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uso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,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modularidad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y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rápida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experimentación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para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prototipar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modelos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deep learning.</a:t>
            </a:r>
          </a:p>
        </p:txBody>
      </p:sp>
    </p:spTree>
    <p:extLst>
      <p:ext uri="{BB962C8B-B14F-4D97-AF65-F5344CB8AC3E}">
        <p14:creationId xmlns:p14="http://schemas.microsoft.com/office/powerpoint/2010/main" val="3626802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8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Keras</a:t>
            </a:r>
            <a:endParaRPr lang="es-PE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alto nivel creada por François </a:t>
            </a:r>
            <a:r>
              <a:rPr lang="es-PE" sz="1400" i="1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Chollet</a:t>
            </a:r>
            <a:r>
              <a:rPr lang="es-PE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PE" sz="14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diseñada para minimizar el tiempo entre idea y experimento</a:t>
            </a:r>
            <a:r>
              <a:rPr lang="es-PE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PE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b="1" dirty="0" err="1">
                <a:solidFill>
                  <a:srgbClr val="1B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s-PE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402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 lineal de capas, una tras otra. La forma más rápida de expresar una red estándar la que  se usa.</a:t>
            </a:r>
            <a:endParaRPr lang="es-PE" sz="1250" dirty="0"/>
          </a:p>
        </p:txBody>
      </p:sp>
      <p:sp>
        <p:nvSpPr>
          <p:cNvPr id="9" name="Shape 7"/>
          <p:cNvSpPr/>
          <p:nvPr/>
        </p:nvSpPr>
        <p:spPr>
          <a:xfrm>
            <a:off x="5989320" y="1691640"/>
            <a:ext cx="5623560" cy="1828800"/>
          </a:xfrm>
          <a:prstGeom prst="roundRect">
            <a:avLst>
              <a:gd name="adj" fmla="val 3000"/>
            </a:avLst>
          </a:prstGeom>
          <a:solidFill>
            <a:srgbClr val="F2F4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s-PE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2402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entradas/salidas, ramas o conexiones no lineales, por ejemplo arquitecturas con conexiones residuales.</a:t>
            </a:r>
            <a:endParaRPr lang="es-PE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trabajo típico</a:t>
            </a:r>
            <a:endParaRPr lang="es-PE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BA9C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2519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</a:t>
            </a:r>
            <a:endParaRPr lang="es-PE" sz="1300" dirty="0"/>
          </a:p>
          <a:p>
            <a:pPr marL="0" indent="0" algn="ctr">
              <a:buNone/>
            </a:pPr>
            <a:r>
              <a:rPr lang="es-PE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s-PE" sz="1300" dirty="0"/>
          </a:p>
        </p:txBody>
      </p:sp>
      <p:sp>
        <p:nvSpPr>
          <p:cNvPr id="15" name="Shape 13"/>
          <p:cNvSpPr/>
          <p:nvPr/>
        </p:nvSpPr>
        <p:spPr>
          <a:xfrm rot="5400000">
            <a:off x="3090672" y="4828032"/>
            <a:ext cx="201168" cy="219456"/>
          </a:xfrm>
          <a:prstGeom prst="triangle">
            <a:avLst/>
          </a:prstGeom>
          <a:solidFill>
            <a:srgbClr val="5A6472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425196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BA9C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383280" y="42519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</a:t>
            </a:r>
            <a:endParaRPr lang="es-PE" sz="1300" dirty="0"/>
          </a:p>
          <a:p>
            <a:pPr marL="0" indent="0" algn="ctr">
              <a:buNone/>
            </a:pPr>
            <a:r>
              <a:rPr lang="es-PE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(optimizador, pérdida)</a:t>
            </a:r>
            <a:endParaRPr lang="es-PE" sz="1300" dirty="0"/>
          </a:p>
        </p:txBody>
      </p:sp>
      <p:sp>
        <p:nvSpPr>
          <p:cNvPr id="18" name="Shape 16"/>
          <p:cNvSpPr/>
          <p:nvPr/>
        </p:nvSpPr>
        <p:spPr>
          <a:xfrm rot="5400000">
            <a:off x="5833872" y="4828032"/>
            <a:ext cx="201168" cy="219456"/>
          </a:xfrm>
          <a:prstGeom prst="triangle">
            <a:avLst/>
          </a:prstGeom>
          <a:solidFill>
            <a:srgbClr val="5A6472"/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425196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BA9C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26480" y="42519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</a:t>
            </a:r>
            <a:endParaRPr lang="es-PE" sz="1300" dirty="0"/>
          </a:p>
          <a:p>
            <a:pPr marL="0" indent="0" algn="ctr">
              <a:buNone/>
            </a:pPr>
            <a:r>
              <a:rPr lang="es-PE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s-PE" sz="1300" b="1" dirty="0" err="1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r>
              <a:rPr lang="es-PE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PE" sz="1300" dirty="0"/>
          </a:p>
        </p:txBody>
      </p:sp>
      <p:sp>
        <p:nvSpPr>
          <p:cNvPr id="21" name="Shape 19"/>
          <p:cNvSpPr/>
          <p:nvPr/>
        </p:nvSpPr>
        <p:spPr>
          <a:xfrm rot="5400000">
            <a:off x="8577072" y="4828032"/>
            <a:ext cx="201168" cy="219456"/>
          </a:xfrm>
          <a:prstGeom prst="triangle">
            <a:avLst/>
          </a:prstGeom>
          <a:solidFill>
            <a:srgbClr val="5A6472"/>
          </a:solidFill>
          <a:ln/>
        </p:spPr>
      </p:sp>
      <p:sp>
        <p:nvSpPr>
          <p:cNvPr id="22" name="Shape 20"/>
          <p:cNvSpPr/>
          <p:nvPr/>
        </p:nvSpPr>
        <p:spPr>
          <a:xfrm>
            <a:off x="8778240" y="425196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BA9C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869680" y="42519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y</a:t>
            </a:r>
            <a:endParaRPr lang="es-PE" sz="1300" dirty="0"/>
          </a:p>
          <a:p>
            <a:pPr marL="0" indent="0" algn="ctr">
              <a:buNone/>
            </a:pPr>
            <a:r>
              <a:rPr lang="es-PE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</a:t>
            </a:r>
            <a:endParaRPr lang="es-PE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25A5E236-6F78-3B2D-2181-0910256EE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3886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7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</a:t>
            </a:r>
            <a:r>
              <a:rPr lang="es-PE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vs </a:t>
            </a:r>
            <a:r>
              <a:rPr lang="es-PE" sz="27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Keras</a:t>
            </a:r>
            <a:endParaRPr lang="es-PE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8F7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2801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compiten. Desde TF 2.0, </a:t>
            </a:r>
            <a:r>
              <a:rPr lang="es-PE" sz="1500" b="1" i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r>
              <a:rPr lang="es-PE" sz="15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PE" sz="1500" b="1" i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tf.keras</a:t>
            </a:r>
            <a:r>
              <a:rPr lang="es-PE" sz="15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es la API oficial de alto nivel integrada en </a:t>
            </a:r>
            <a:r>
              <a:rPr lang="es-PE" sz="1500" b="1" i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r>
              <a:rPr lang="es-PE" sz="15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PE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349240" cy="2926080"/>
          </a:xfrm>
          <a:prstGeom prst="roundRect">
            <a:avLst>
              <a:gd name="adj" fmla="val 2188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743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600" b="1" dirty="0" err="1">
                <a:solidFill>
                  <a:srgbClr val="1B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r>
              <a:rPr lang="es-PE" sz="1600" b="1" dirty="0">
                <a:solidFill>
                  <a:srgbClr val="1B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el motor</a:t>
            </a:r>
            <a:endParaRPr lang="es-PE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4612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tensores, cómputo en GPU, diferenciación automática y despliegue en producción.</a:t>
            </a:r>
            <a:endParaRPr lang="es-PE" sz="1350" dirty="0"/>
          </a:p>
        </p:txBody>
      </p:sp>
      <p:sp>
        <p:nvSpPr>
          <p:cNvPr id="10" name="Shape 8"/>
          <p:cNvSpPr/>
          <p:nvPr/>
        </p:nvSpPr>
        <p:spPr>
          <a:xfrm>
            <a:off x="6080760" y="2606040"/>
            <a:ext cx="5532120" cy="2926080"/>
          </a:xfrm>
          <a:prstGeom prst="roundRect">
            <a:avLst>
              <a:gd name="adj" fmla="val 2188"/>
            </a:avLst>
          </a:prstGeom>
          <a:solidFill>
            <a:srgbClr val="1BA9C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600" b="1" dirty="0" err="1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r>
              <a:rPr lang="es-PE" sz="16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la interfaz</a:t>
            </a:r>
            <a:endParaRPr lang="es-PE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24612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ese motor accesible con pocas líneas de código legible. Bajamos a TF puro solo para arquitecturas muy no estándar o bucles de entrenamiento personalizados.</a:t>
            </a:r>
            <a:endParaRPr lang="es-PE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FC5641D-4D7A-9D2A-2FB6-05B1C845A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3630B9-7CBD-E8FE-BA0B-D50000AA3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4A29750-C0B7-409F-F528-4B7DC6BF4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A7C8B5B-23A2-7FF7-096F-AFF86D75B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8BF24CE-EFA2-67A6-A854-E2208C178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4076698" cy="464399"/>
          </a:xfrm>
          <a:prstGeom prst="rect">
            <a:avLst/>
          </a:prstGeom>
          <a:gradFill>
            <a:gsLst>
              <a:gs pos="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90007D0-417B-AAB1-37D1-52E1F684B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FEAA1AE-2479-9632-60A0-42134C804850}"/>
              </a:ext>
            </a:extLst>
          </p:cNvPr>
          <p:cNvSpPr txBox="1"/>
          <p:nvPr/>
        </p:nvSpPr>
        <p:spPr>
          <a:xfrm>
            <a:off x="1658710" y="2805457"/>
            <a:ext cx="96802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i="1" dirty="0"/>
              <a:t>“Los sistemas de información no solo mueven datos… mueven ideas, decisiones y el futuro de las organizaciones”</a:t>
            </a:r>
            <a:endParaRPr lang="es-PE" sz="3600" i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A02C7EB-1B9A-34C7-5D41-D76E56D33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96" y="1512261"/>
            <a:ext cx="1549853" cy="136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953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4F3930B-3C3C-42BC-98AD-151F80C68738}">
  <we:reference id="wa200006067" version="1.0.0.9" store="es-ES" storeType="OMEX"/>
  <we:alternateReferences>
    <we:reference id="wa200006067" version="1.0.0.9" store="wa200006067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4022</TotalTime>
  <Words>1470</Words>
  <Application>Microsoft Office PowerPoint</Application>
  <PresentationFormat>Panorámica</PresentationFormat>
  <Paragraphs>223</Paragraphs>
  <Slides>20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8" baseType="lpstr">
      <vt:lpstr>Inter</vt:lpstr>
      <vt:lpstr>Space Grotesk</vt:lpstr>
      <vt:lpstr>Aptos</vt:lpstr>
      <vt:lpstr>Aptos Display</vt:lpstr>
      <vt:lpstr>Arial</vt:lpstr>
      <vt:lpstr>Calibri</vt:lpstr>
      <vt:lpstr>Cambria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Stefani  Rojas</dc:creator>
  <cp:lastModifiedBy>STEFANI ROJAS</cp:lastModifiedBy>
  <cp:revision>39</cp:revision>
  <dcterms:created xsi:type="dcterms:W3CDTF">2025-08-12T17:48:03Z</dcterms:created>
  <dcterms:modified xsi:type="dcterms:W3CDTF">2026-09-04T22:22:07Z</dcterms:modified>
</cp:coreProperties>
</file>